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7.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393" r:id="rId3"/>
    <p:sldId id="386" r:id="rId4"/>
    <p:sldId id="387" r:id="rId5"/>
    <p:sldId id="388" r:id="rId6"/>
    <p:sldId id="395" r:id="rId7"/>
    <p:sldId id="389" r:id="rId8"/>
    <p:sldId id="390" r:id="rId9"/>
    <p:sldId id="391" r:id="rId10"/>
    <p:sldId id="392" r:id="rId11"/>
    <p:sldId id="322" r:id="rId12"/>
    <p:sldId id="394" r:id="rId13"/>
    <p:sldId id="324" r:id="rId14"/>
    <p:sldId id="273" r:id="rId15"/>
    <p:sldId id="294" r:id="rId16"/>
    <p:sldId id="295" r:id="rId17"/>
    <p:sldId id="274" r:id="rId18"/>
    <p:sldId id="380" r:id="rId19"/>
    <p:sldId id="293" r:id="rId20"/>
    <p:sldId id="381" r:id="rId21"/>
    <p:sldId id="298" r:id="rId22"/>
    <p:sldId id="379" r:id="rId23"/>
    <p:sldId id="277" r:id="rId24"/>
    <p:sldId id="276" r:id="rId25"/>
    <p:sldId id="370" r:id="rId26"/>
    <p:sldId id="372" r:id="rId27"/>
    <p:sldId id="373" r:id="rId28"/>
    <p:sldId id="312" r:id="rId29"/>
    <p:sldId id="279" r:id="rId30"/>
    <p:sldId id="281" r:id="rId31"/>
    <p:sldId id="282" r:id="rId32"/>
    <p:sldId id="283" r:id="rId33"/>
    <p:sldId id="366" r:id="rId34"/>
    <p:sldId id="325" r:id="rId35"/>
    <p:sldId id="326" r:id="rId36"/>
    <p:sldId id="267" r:id="rId37"/>
    <p:sldId id="327" r:id="rId38"/>
    <p:sldId id="328" r:id="rId39"/>
    <p:sldId id="329" r:id="rId40"/>
    <p:sldId id="330" r:id="rId41"/>
    <p:sldId id="268" r:id="rId42"/>
    <p:sldId id="331" r:id="rId43"/>
    <p:sldId id="333" r:id="rId44"/>
    <p:sldId id="334" r:id="rId45"/>
    <p:sldId id="336" r:id="rId46"/>
    <p:sldId id="337" r:id="rId47"/>
    <p:sldId id="365" r:id="rId48"/>
    <p:sldId id="367" r:id="rId49"/>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58" userDrawn="1">
          <p15:clr>
            <a:srgbClr val="A4A3A4"/>
          </p15:clr>
        </p15:guide>
        <p15:guide id="3" orient="horz" pos="3067"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6" autoAdjust="0"/>
    <p:restoredTop sz="80444" autoAdjust="0"/>
  </p:normalViewPr>
  <p:slideViewPr>
    <p:cSldViewPr snapToObjects="1" showGuides="1">
      <p:cViewPr varScale="1">
        <p:scale>
          <a:sx n="135" d="100"/>
          <a:sy n="135" d="100"/>
        </p:scale>
        <p:origin x="2526" y="132"/>
      </p:cViewPr>
      <p:guideLst>
        <p:guide pos="158"/>
        <p:guide orient="horz" pos="3067"/>
      </p:guideLst>
    </p:cSldViewPr>
  </p:slideViewPr>
  <p:notesTextViewPr>
    <p:cViewPr>
      <p:scale>
        <a:sx n="125" d="100"/>
        <a:sy n="125" d="100"/>
      </p:scale>
      <p:origin x="0" y="0"/>
    </p:cViewPr>
  </p:notesTextViewPr>
  <p:sorterViewPr>
    <p:cViewPr>
      <p:scale>
        <a:sx n="100" d="100"/>
        <a:sy n="100" d="100"/>
      </p:scale>
      <p:origin x="0" y="-14448"/>
    </p:cViewPr>
  </p:sorterViewPr>
  <p:notesViewPr>
    <p:cSldViewPr snapToObjects="1" showGuides="1">
      <p:cViewPr varScale="1">
        <p:scale>
          <a:sx n="38" d="100"/>
          <a:sy n="38" d="100"/>
        </p:scale>
        <p:origin x="2294" y="53"/>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enhaut, Kris" userId="a22e555c-48ee-43aa-bf73-e7359f22c417" providerId="ADAL" clId="{2CCB59FF-F945-4EB6-9E50-2D603B63DD22}"/>
    <pc:docChg chg="custSel modSld">
      <pc:chgData name="Steenhaut, Kris" userId="a22e555c-48ee-43aa-bf73-e7359f22c417" providerId="ADAL" clId="{2CCB59FF-F945-4EB6-9E50-2D603B63DD22}" dt="2023-03-01T14:52:09.820" v="149" actId="20577"/>
      <pc:docMkLst>
        <pc:docMk/>
      </pc:docMkLst>
      <pc:sldChg chg="modSp mod">
        <pc:chgData name="Steenhaut, Kris" userId="a22e555c-48ee-43aa-bf73-e7359f22c417" providerId="ADAL" clId="{2CCB59FF-F945-4EB6-9E50-2D603B63DD22}" dt="2023-02-28T11:20:17.774" v="29" actId="20577"/>
        <pc:sldMkLst>
          <pc:docMk/>
          <pc:sldMk cId="944678171" sldId="276"/>
        </pc:sldMkLst>
        <pc:spChg chg="mod">
          <ac:chgData name="Steenhaut, Kris" userId="a22e555c-48ee-43aa-bf73-e7359f22c417" providerId="ADAL" clId="{2CCB59FF-F945-4EB6-9E50-2D603B63DD22}" dt="2023-02-28T11:20:17.774" v="29" actId="20577"/>
          <ac:spMkLst>
            <pc:docMk/>
            <pc:sldMk cId="944678171" sldId="276"/>
            <ac:spMk id="2" creationId="{00000000-0000-0000-0000-000000000000}"/>
          </ac:spMkLst>
        </pc:spChg>
      </pc:sldChg>
      <pc:sldChg chg="modSp mod">
        <pc:chgData name="Steenhaut, Kris" userId="a22e555c-48ee-43aa-bf73-e7359f22c417" providerId="ADAL" clId="{2CCB59FF-F945-4EB6-9E50-2D603B63DD22}" dt="2023-02-28T11:20:04.862" v="23" actId="20577"/>
        <pc:sldMkLst>
          <pc:docMk/>
          <pc:sldMk cId="831705892" sldId="277"/>
        </pc:sldMkLst>
        <pc:spChg chg="mod">
          <ac:chgData name="Steenhaut, Kris" userId="a22e555c-48ee-43aa-bf73-e7359f22c417" providerId="ADAL" clId="{2CCB59FF-F945-4EB6-9E50-2D603B63DD22}" dt="2023-02-28T11:20:04.862" v="23" actId="20577"/>
          <ac:spMkLst>
            <pc:docMk/>
            <pc:sldMk cId="831705892" sldId="277"/>
            <ac:spMk id="6" creationId="{00000000-0000-0000-0000-000000000000}"/>
          </ac:spMkLst>
        </pc:spChg>
      </pc:sldChg>
      <pc:sldChg chg="modSp mod">
        <pc:chgData name="Steenhaut, Kris" userId="a22e555c-48ee-43aa-bf73-e7359f22c417" providerId="ADAL" clId="{2CCB59FF-F945-4EB6-9E50-2D603B63DD22}" dt="2023-02-28T11:21:07.837" v="41" actId="20577"/>
        <pc:sldMkLst>
          <pc:docMk/>
          <pc:sldMk cId="499544224" sldId="279"/>
        </pc:sldMkLst>
        <pc:spChg chg="mod">
          <ac:chgData name="Steenhaut, Kris" userId="a22e555c-48ee-43aa-bf73-e7359f22c417" providerId="ADAL" clId="{2CCB59FF-F945-4EB6-9E50-2D603B63DD22}" dt="2023-02-28T11:21:07.837" v="41" actId="20577"/>
          <ac:spMkLst>
            <pc:docMk/>
            <pc:sldMk cId="499544224" sldId="279"/>
            <ac:spMk id="2" creationId="{00000000-0000-0000-0000-000000000000}"/>
          </ac:spMkLst>
        </pc:spChg>
      </pc:sldChg>
      <pc:sldChg chg="modSp mod">
        <pc:chgData name="Steenhaut, Kris" userId="a22e555c-48ee-43aa-bf73-e7359f22c417" providerId="ADAL" clId="{2CCB59FF-F945-4EB6-9E50-2D603B63DD22}" dt="2023-02-28T11:21:17.531" v="47" actId="20577"/>
        <pc:sldMkLst>
          <pc:docMk/>
          <pc:sldMk cId="2158077218" sldId="281"/>
        </pc:sldMkLst>
        <pc:spChg chg="mod">
          <ac:chgData name="Steenhaut, Kris" userId="a22e555c-48ee-43aa-bf73-e7359f22c417" providerId="ADAL" clId="{2CCB59FF-F945-4EB6-9E50-2D603B63DD22}" dt="2023-02-28T11:21:17.531" v="47" actId="20577"/>
          <ac:spMkLst>
            <pc:docMk/>
            <pc:sldMk cId="2158077218" sldId="281"/>
            <ac:spMk id="2" creationId="{00000000-0000-0000-0000-000000000000}"/>
          </ac:spMkLst>
        </pc:spChg>
      </pc:sldChg>
      <pc:sldChg chg="modSp mod">
        <pc:chgData name="Steenhaut, Kris" userId="a22e555c-48ee-43aa-bf73-e7359f22c417" providerId="ADAL" clId="{2CCB59FF-F945-4EB6-9E50-2D603B63DD22}" dt="2023-02-28T11:21:29.741" v="53" actId="20577"/>
        <pc:sldMkLst>
          <pc:docMk/>
          <pc:sldMk cId="2685750101" sldId="282"/>
        </pc:sldMkLst>
        <pc:spChg chg="mod">
          <ac:chgData name="Steenhaut, Kris" userId="a22e555c-48ee-43aa-bf73-e7359f22c417" providerId="ADAL" clId="{2CCB59FF-F945-4EB6-9E50-2D603B63DD22}" dt="2023-02-28T11:21:29.741" v="53" actId="20577"/>
          <ac:spMkLst>
            <pc:docMk/>
            <pc:sldMk cId="2685750101" sldId="282"/>
            <ac:spMk id="2" creationId="{00000000-0000-0000-0000-000000000000}"/>
          </ac:spMkLst>
        </pc:spChg>
      </pc:sldChg>
      <pc:sldChg chg="modSp mod">
        <pc:chgData name="Steenhaut, Kris" userId="a22e555c-48ee-43aa-bf73-e7359f22c417" providerId="ADAL" clId="{2CCB59FF-F945-4EB6-9E50-2D603B63DD22}" dt="2023-02-28T11:22:14.101" v="59" actId="20577"/>
        <pc:sldMkLst>
          <pc:docMk/>
          <pc:sldMk cId="2765087438" sldId="283"/>
        </pc:sldMkLst>
        <pc:spChg chg="mod">
          <ac:chgData name="Steenhaut, Kris" userId="a22e555c-48ee-43aa-bf73-e7359f22c417" providerId="ADAL" clId="{2CCB59FF-F945-4EB6-9E50-2D603B63DD22}" dt="2023-02-28T11:22:14.101" v="59" actId="20577"/>
          <ac:spMkLst>
            <pc:docMk/>
            <pc:sldMk cId="2765087438" sldId="283"/>
            <ac:spMk id="2" creationId="{00000000-0000-0000-0000-000000000000}"/>
          </ac:spMkLst>
        </pc:spChg>
      </pc:sldChg>
      <pc:sldChg chg="modSp mod modNotesTx">
        <pc:chgData name="Steenhaut, Kris" userId="a22e555c-48ee-43aa-bf73-e7359f22c417" providerId="ADAL" clId="{2CCB59FF-F945-4EB6-9E50-2D603B63DD22}" dt="2023-02-28T13:35:07.981" v="121" actId="20577"/>
        <pc:sldMkLst>
          <pc:docMk/>
          <pc:sldMk cId="731344823" sldId="298"/>
        </pc:sldMkLst>
        <pc:spChg chg="mod">
          <ac:chgData name="Steenhaut, Kris" userId="a22e555c-48ee-43aa-bf73-e7359f22c417" providerId="ADAL" clId="{2CCB59FF-F945-4EB6-9E50-2D603B63DD22}" dt="2023-02-28T11:19:35.246" v="17" actId="20577"/>
          <ac:spMkLst>
            <pc:docMk/>
            <pc:sldMk cId="731344823" sldId="298"/>
            <ac:spMk id="2" creationId="{00000000-0000-0000-0000-000000000000}"/>
          </ac:spMkLst>
        </pc:spChg>
        <pc:spChg chg="mod">
          <ac:chgData name="Steenhaut, Kris" userId="a22e555c-48ee-43aa-bf73-e7359f22c417" providerId="ADAL" clId="{2CCB59FF-F945-4EB6-9E50-2D603B63DD22}" dt="2023-02-28T13:35:07.981" v="121" actId="20577"/>
          <ac:spMkLst>
            <pc:docMk/>
            <pc:sldMk cId="731344823" sldId="298"/>
            <ac:spMk id="61" creationId="{00000000-0000-0000-0000-000000000000}"/>
          </ac:spMkLst>
        </pc:spChg>
        <pc:spChg chg="mod">
          <ac:chgData name="Steenhaut, Kris" userId="a22e555c-48ee-43aa-bf73-e7359f22c417" providerId="ADAL" clId="{2CCB59FF-F945-4EB6-9E50-2D603B63DD22}" dt="2023-02-28T13:35:02.406" v="119" actId="1076"/>
          <ac:spMkLst>
            <pc:docMk/>
            <pc:sldMk cId="731344823" sldId="298"/>
            <ac:spMk id="64" creationId="{00000000-0000-0000-0000-000000000000}"/>
          </ac:spMkLst>
        </pc:spChg>
      </pc:sldChg>
      <pc:sldChg chg="modSp mod">
        <pc:chgData name="Steenhaut, Kris" userId="a22e555c-48ee-43aa-bf73-e7359f22c417" providerId="ADAL" clId="{2CCB59FF-F945-4EB6-9E50-2D603B63DD22}" dt="2023-02-28T11:20:41.285" v="35" actId="20577"/>
        <pc:sldMkLst>
          <pc:docMk/>
          <pc:sldMk cId="1337914842" sldId="312"/>
        </pc:sldMkLst>
        <pc:spChg chg="mod">
          <ac:chgData name="Steenhaut, Kris" userId="a22e555c-48ee-43aa-bf73-e7359f22c417" providerId="ADAL" clId="{2CCB59FF-F945-4EB6-9E50-2D603B63DD22}" dt="2023-02-28T11:20:41.285" v="35" actId="20577"/>
          <ac:spMkLst>
            <pc:docMk/>
            <pc:sldMk cId="1337914842" sldId="312"/>
            <ac:spMk id="2" creationId="{00000000-0000-0000-0000-000000000000}"/>
          </ac:spMkLst>
        </pc:spChg>
        <pc:spChg chg="mod">
          <ac:chgData name="Steenhaut, Kris" userId="a22e555c-48ee-43aa-bf73-e7359f22c417" providerId="ADAL" clId="{2CCB59FF-F945-4EB6-9E50-2D603B63DD22}" dt="2023-02-28T11:18:54.159" v="11" actId="20577"/>
          <ac:spMkLst>
            <pc:docMk/>
            <pc:sldMk cId="1337914842" sldId="312"/>
            <ac:spMk id="4" creationId="{00000000-0000-0000-0000-000000000000}"/>
          </ac:spMkLst>
        </pc:spChg>
      </pc:sldChg>
      <pc:sldChg chg="modSp mod">
        <pc:chgData name="Steenhaut, Kris" userId="a22e555c-48ee-43aa-bf73-e7359f22c417" providerId="ADAL" clId="{2CCB59FF-F945-4EB6-9E50-2D603B63DD22}" dt="2023-03-01T14:52:09.820" v="149" actId="20577"/>
        <pc:sldMkLst>
          <pc:docMk/>
          <pc:sldMk cId="2647347399" sldId="324"/>
        </pc:sldMkLst>
        <pc:spChg chg="mod">
          <ac:chgData name="Steenhaut, Kris" userId="a22e555c-48ee-43aa-bf73-e7359f22c417" providerId="ADAL" clId="{2CCB59FF-F945-4EB6-9E50-2D603B63DD22}" dt="2023-03-01T14:52:09.820" v="149" actId="20577"/>
          <ac:spMkLst>
            <pc:docMk/>
            <pc:sldMk cId="2647347399" sldId="324"/>
            <ac:spMk id="2" creationId="{00000000-0000-0000-0000-000000000000}"/>
          </ac:spMkLst>
        </pc:spChg>
      </pc:sldChg>
      <pc:sldChg chg="modSp mod modNotesTx">
        <pc:chgData name="Steenhaut, Kris" userId="a22e555c-48ee-43aa-bf73-e7359f22c417" providerId="ADAL" clId="{2CCB59FF-F945-4EB6-9E50-2D603B63DD22}" dt="2023-03-01T14:32:13.423" v="139" actId="20577"/>
        <pc:sldMkLst>
          <pc:docMk/>
          <pc:sldMk cId="1775573514" sldId="386"/>
        </pc:sldMkLst>
        <pc:spChg chg="mod">
          <ac:chgData name="Steenhaut, Kris" userId="a22e555c-48ee-43aa-bf73-e7359f22c417" providerId="ADAL" clId="{2CCB59FF-F945-4EB6-9E50-2D603B63DD22}" dt="2023-03-01T14:29:11.480" v="129" actId="1076"/>
          <ac:spMkLst>
            <pc:docMk/>
            <pc:sldMk cId="1775573514" sldId="386"/>
            <ac:spMk id="40" creationId="{00000000-0000-0000-0000-000000000000}"/>
          </ac:spMkLst>
        </pc:spChg>
        <pc:spChg chg="mod">
          <ac:chgData name="Steenhaut, Kris" userId="a22e555c-48ee-43aa-bf73-e7359f22c417" providerId="ADAL" clId="{2CCB59FF-F945-4EB6-9E50-2D603B63DD22}" dt="2023-03-01T14:28:59.862" v="127" actId="12"/>
          <ac:spMkLst>
            <pc:docMk/>
            <pc:sldMk cId="1775573514" sldId="386"/>
            <ac:spMk id="41" creationId="{00000000-0000-0000-0000-000000000000}"/>
          </ac:spMkLst>
        </pc:spChg>
        <pc:spChg chg="mod">
          <ac:chgData name="Steenhaut, Kris" userId="a22e555c-48ee-43aa-bf73-e7359f22c417" providerId="ADAL" clId="{2CCB59FF-F945-4EB6-9E50-2D603B63DD22}" dt="2023-03-01T14:32:13.423" v="139" actId="20577"/>
          <ac:spMkLst>
            <pc:docMk/>
            <pc:sldMk cId="1775573514" sldId="386"/>
            <ac:spMk id="47" creationId="{00000000-0000-0000-0000-000000000000}"/>
          </ac:spMkLst>
        </pc:spChg>
      </pc:sldChg>
      <pc:sldChg chg="modSp mod">
        <pc:chgData name="Steenhaut, Kris" userId="a22e555c-48ee-43aa-bf73-e7359f22c417" providerId="ADAL" clId="{2CCB59FF-F945-4EB6-9E50-2D603B63DD22}" dt="2023-02-28T13:23:59.983" v="68" actId="20577"/>
        <pc:sldMkLst>
          <pc:docMk/>
          <pc:sldMk cId="1333037818" sldId="390"/>
        </pc:sldMkLst>
        <pc:spChg chg="mod">
          <ac:chgData name="Steenhaut, Kris" userId="a22e555c-48ee-43aa-bf73-e7359f22c417" providerId="ADAL" clId="{2CCB59FF-F945-4EB6-9E50-2D603B63DD22}" dt="2023-02-28T13:23:59.983" v="68" actId="20577"/>
          <ac:spMkLst>
            <pc:docMk/>
            <pc:sldMk cId="1333037818" sldId="390"/>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localadmin\AppData\Local\Temp\Moyennes%20avec%20graphique.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D:\WSN\Z1Measurmnts\RDCComparisons\Synthesis.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D:\WSN\Z1Measurmnts\RDCComparisons\Synthesi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025286769709341"/>
          <c:y val="0.30715783580201605"/>
          <c:w val="0.3350541946145621"/>
          <c:h val="0.60923211259128718"/>
        </c:manualLayout>
      </c:layout>
      <c:radarChart>
        <c:radarStyle val="marker"/>
        <c:varyColors val="0"/>
        <c:ser>
          <c:idx val="0"/>
          <c:order val="0"/>
          <c:tx>
            <c:strRef>
              <c:f>Sheet3!$C$2</c:f>
              <c:strCache>
                <c:ptCount val="1"/>
                <c:pt idx="0">
                  <c:v>(100+RSSI)*2</c:v>
                </c:pt>
              </c:strCache>
            </c:strRef>
          </c:tx>
          <c:cat>
            <c:numRef>
              <c:f>Sheet3!$A$3:$A$10</c:f>
              <c:numCache>
                <c:formatCode>General</c:formatCode>
                <c:ptCount val="8"/>
                <c:pt idx="0">
                  <c:v>0</c:v>
                </c:pt>
                <c:pt idx="1">
                  <c:v>45</c:v>
                </c:pt>
                <c:pt idx="2">
                  <c:v>90</c:v>
                </c:pt>
                <c:pt idx="3">
                  <c:v>135</c:v>
                </c:pt>
                <c:pt idx="4">
                  <c:v>180</c:v>
                </c:pt>
                <c:pt idx="5">
                  <c:v>225</c:v>
                </c:pt>
                <c:pt idx="6">
                  <c:v>270</c:v>
                </c:pt>
                <c:pt idx="7">
                  <c:v>315</c:v>
                </c:pt>
              </c:numCache>
            </c:numRef>
          </c:cat>
          <c:val>
            <c:numRef>
              <c:f>Sheet3!$C$3:$C$10</c:f>
              <c:numCache>
                <c:formatCode>0.0</c:formatCode>
                <c:ptCount val="8"/>
                <c:pt idx="0">
                  <c:v>29.199999999999989</c:v>
                </c:pt>
                <c:pt idx="1">
                  <c:v>66</c:v>
                </c:pt>
                <c:pt idx="2">
                  <c:v>66.400000000000006</c:v>
                </c:pt>
                <c:pt idx="3">
                  <c:v>59.800000000000011</c:v>
                </c:pt>
                <c:pt idx="4">
                  <c:v>80</c:v>
                </c:pt>
                <c:pt idx="5">
                  <c:v>82.8</c:v>
                </c:pt>
                <c:pt idx="6">
                  <c:v>77.400000000000006</c:v>
                </c:pt>
                <c:pt idx="7">
                  <c:v>63.400000000000006</c:v>
                </c:pt>
              </c:numCache>
            </c:numRef>
          </c:val>
          <c:extLst>
            <c:ext xmlns:c16="http://schemas.microsoft.com/office/drawing/2014/chart" uri="{C3380CC4-5D6E-409C-BE32-E72D297353CC}">
              <c16:uniqueId val="{00000000-FAC5-4D90-94E4-2E7002D2557D}"/>
            </c:ext>
          </c:extLst>
        </c:ser>
        <c:ser>
          <c:idx val="2"/>
          <c:order val="1"/>
          <c:tx>
            <c:strRef>
              <c:f>Sheet3!$E$2</c:f>
              <c:strCache>
                <c:ptCount val="1"/>
                <c:pt idx="0">
                  <c:v>RRP</c:v>
                </c:pt>
              </c:strCache>
            </c:strRef>
          </c:tx>
          <c:cat>
            <c:numRef>
              <c:f>Sheet3!$A$3:$A$10</c:f>
              <c:numCache>
                <c:formatCode>General</c:formatCode>
                <c:ptCount val="8"/>
                <c:pt idx="0">
                  <c:v>0</c:v>
                </c:pt>
                <c:pt idx="1">
                  <c:v>45</c:v>
                </c:pt>
                <c:pt idx="2">
                  <c:v>90</c:v>
                </c:pt>
                <c:pt idx="3">
                  <c:v>135</c:v>
                </c:pt>
                <c:pt idx="4">
                  <c:v>180</c:v>
                </c:pt>
                <c:pt idx="5">
                  <c:v>225</c:v>
                </c:pt>
                <c:pt idx="6">
                  <c:v>270</c:v>
                </c:pt>
                <c:pt idx="7">
                  <c:v>315</c:v>
                </c:pt>
              </c:numCache>
            </c:numRef>
          </c:cat>
          <c:val>
            <c:numRef>
              <c:f>Sheet3!$E$3:$E$10</c:f>
              <c:numCache>
                <c:formatCode>0.0</c:formatCode>
                <c:ptCount val="8"/>
                <c:pt idx="0">
                  <c:v>6.9</c:v>
                </c:pt>
                <c:pt idx="1">
                  <c:v>98</c:v>
                </c:pt>
                <c:pt idx="2">
                  <c:v>100</c:v>
                </c:pt>
                <c:pt idx="3">
                  <c:v>28.5</c:v>
                </c:pt>
                <c:pt idx="4">
                  <c:v>100</c:v>
                </c:pt>
                <c:pt idx="5">
                  <c:v>100</c:v>
                </c:pt>
                <c:pt idx="6">
                  <c:v>100</c:v>
                </c:pt>
                <c:pt idx="7">
                  <c:v>34.299999999999997</c:v>
                </c:pt>
              </c:numCache>
            </c:numRef>
          </c:val>
          <c:extLst>
            <c:ext xmlns:c16="http://schemas.microsoft.com/office/drawing/2014/chart" uri="{C3380CC4-5D6E-409C-BE32-E72D297353CC}">
              <c16:uniqueId val="{00000001-FAC5-4D90-94E4-2E7002D2557D}"/>
            </c:ext>
          </c:extLst>
        </c:ser>
        <c:dLbls>
          <c:showLegendKey val="0"/>
          <c:showVal val="0"/>
          <c:showCatName val="0"/>
          <c:showSerName val="0"/>
          <c:showPercent val="0"/>
          <c:showBubbleSize val="0"/>
        </c:dLbls>
        <c:axId val="162764152"/>
        <c:axId val="162762976"/>
      </c:radarChart>
      <c:catAx>
        <c:axId val="162764152"/>
        <c:scaling>
          <c:orientation val="minMax"/>
        </c:scaling>
        <c:delete val="0"/>
        <c:axPos val="b"/>
        <c:majorGridlines/>
        <c:numFmt formatCode="0.000" sourceLinked="0"/>
        <c:majorTickMark val="out"/>
        <c:minorTickMark val="none"/>
        <c:tickLblPos val="nextTo"/>
        <c:crossAx val="162762976"/>
        <c:crosses val="autoZero"/>
        <c:auto val="1"/>
        <c:lblAlgn val="ctr"/>
        <c:lblOffset val="100"/>
        <c:noMultiLvlLbl val="0"/>
      </c:catAx>
      <c:valAx>
        <c:axId val="162762976"/>
        <c:scaling>
          <c:orientation val="minMax"/>
        </c:scaling>
        <c:delete val="0"/>
        <c:axPos val="l"/>
        <c:majorGridlines/>
        <c:numFmt formatCode="0.0" sourceLinked="1"/>
        <c:majorTickMark val="cross"/>
        <c:minorTickMark val="none"/>
        <c:tickLblPos val="nextTo"/>
        <c:crossAx val="162764152"/>
        <c:crosses val="autoZero"/>
        <c:crossBetween val="between"/>
      </c:valAx>
    </c:plotArea>
    <c:legend>
      <c:legendPos val="r"/>
      <c:layout>
        <c:manualLayout>
          <c:xMode val="edge"/>
          <c:yMode val="edge"/>
          <c:x val="0.42043051910177898"/>
          <c:y val="0.75870218117116728"/>
          <c:w val="0.25541893470212773"/>
          <c:h val="0.23856086260985188"/>
        </c:manualLayout>
      </c:layout>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dirty="0"/>
              <a:t>Wake-up</a:t>
            </a:r>
            <a:r>
              <a:rPr lang="en-US" baseline="0" dirty="0"/>
              <a:t> period = 67.5 </a:t>
            </a:r>
            <a:r>
              <a:rPr lang="en-US" baseline="0" dirty="0" err="1"/>
              <a:t>ms</a:t>
            </a:r>
            <a:endParaRPr lang="en-US" baseline="0" dirty="0"/>
          </a:p>
          <a:p>
            <a:pPr>
              <a:defRPr/>
            </a:pPr>
            <a:r>
              <a:rPr lang="en-US" baseline="0" dirty="0"/>
              <a:t>Low traffic</a:t>
            </a:r>
            <a:endParaRPr lang="en-US" dirty="0"/>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'All4'!$A$2</c:f>
              <c:strCache>
                <c:ptCount val="1"/>
                <c:pt idx="0">
                  <c:v>Latency</c:v>
                </c:pt>
              </c:strCache>
            </c:strRef>
          </c:tx>
          <c:spPr>
            <a:solidFill>
              <a:schemeClr val="accent1"/>
            </a:solidFill>
            <a:ln>
              <a:noFill/>
            </a:ln>
            <a:effectLst/>
          </c:spPr>
          <c:invertIfNegative val="0"/>
          <c:cat>
            <c:strRef>
              <c:f>'All4'!$B$1:$E$1</c:f>
              <c:strCache>
                <c:ptCount val="4"/>
                <c:pt idx="0">
                  <c:v>ContikiMac 16</c:v>
                </c:pt>
                <c:pt idx="1">
                  <c:v>Xmac 16</c:v>
                </c:pt>
                <c:pt idx="2">
                  <c:v>LPP 16</c:v>
                </c:pt>
                <c:pt idx="3">
                  <c:v>Null RDC</c:v>
                </c:pt>
              </c:strCache>
            </c:strRef>
          </c:cat>
          <c:val>
            <c:numRef>
              <c:f>'All4'!$B$2:$E$2</c:f>
              <c:numCache>
                <c:formatCode>General</c:formatCode>
                <c:ptCount val="4"/>
                <c:pt idx="0">
                  <c:v>55.04</c:v>
                </c:pt>
                <c:pt idx="1">
                  <c:v>44.12</c:v>
                </c:pt>
                <c:pt idx="2">
                  <c:v>55.19</c:v>
                </c:pt>
                <c:pt idx="3">
                  <c:v>6.29</c:v>
                </c:pt>
              </c:numCache>
            </c:numRef>
          </c:val>
          <c:extLst>
            <c:ext xmlns:c16="http://schemas.microsoft.com/office/drawing/2014/chart" uri="{C3380CC4-5D6E-409C-BE32-E72D297353CC}">
              <c16:uniqueId val="{00000000-F697-46BC-BE7E-1381752E16F1}"/>
            </c:ext>
          </c:extLst>
        </c:ser>
        <c:ser>
          <c:idx val="1"/>
          <c:order val="1"/>
          <c:tx>
            <c:strRef>
              <c:f>'All4'!$A$3</c:f>
              <c:strCache>
                <c:ptCount val="1"/>
                <c:pt idx="0">
                  <c:v>Energy</c:v>
                </c:pt>
              </c:strCache>
            </c:strRef>
          </c:tx>
          <c:spPr>
            <a:solidFill>
              <a:schemeClr val="accent2"/>
            </a:solidFill>
            <a:ln>
              <a:noFill/>
            </a:ln>
            <a:effectLst/>
          </c:spPr>
          <c:invertIfNegative val="0"/>
          <c:cat>
            <c:strRef>
              <c:f>'All4'!$B$1:$E$1</c:f>
              <c:strCache>
                <c:ptCount val="4"/>
                <c:pt idx="0">
                  <c:v>ContikiMac 16</c:v>
                </c:pt>
                <c:pt idx="1">
                  <c:v>Xmac 16</c:v>
                </c:pt>
                <c:pt idx="2">
                  <c:v>LPP 16</c:v>
                </c:pt>
                <c:pt idx="3">
                  <c:v>Null RDC</c:v>
                </c:pt>
              </c:strCache>
            </c:strRef>
          </c:cat>
          <c:val>
            <c:numRef>
              <c:f>'All4'!$B$3:$E$3</c:f>
              <c:numCache>
                <c:formatCode>General</c:formatCode>
                <c:ptCount val="4"/>
                <c:pt idx="0">
                  <c:v>6.21</c:v>
                </c:pt>
                <c:pt idx="1">
                  <c:v>21.62</c:v>
                </c:pt>
                <c:pt idx="2">
                  <c:v>32.96</c:v>
                </c:pt>
                <c:pt idx="3">
                  <c:v>84.48</c:v>
                </c:pt>
              </c:numCache>
            </c:numRef>
          </c:val>
          <c:extLst>
            <c:ext xmlns:c16="http://schemas.microsoft.com/office/drawing/2014/chart" uri="{C3380CC4-5D6E-409C-BE32-E72D297353CC}">
              <c16:uniqueId val="{00000001-F697-46BC-BE7E-1381752E16F1}"/>
            </c:ext>
          </c:extLst>
        </c:ser>
        <c:dLbls>
          <c:showLegendKey val="0"/>
          <c:showVal val="0"/>
          <c:showCatName val="0"/>
          <c:showSerName val="0"/>
          <c:showPercent val="0"/>
          <c:showBubbleSize val="0"/>
        </c:dLbls>
        <c:gapWidth val="219"/>
        <c:overlap val="-27"/>
        <c:axId val="362197496"/>
        <c:axId val="362203768"/>
      </c:barChart>
      <c:catAx>
        <c:axId val="362197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362203768"/>
        <c:crosses val="autoZero"/>
        <c:auto val="1"/>
        <c:lblAlgn val="ctr"/>
        <c:lblOffset val="100"/>
        <c:noMultiLvlLbl val="0"/>
      </c:catAx>
      <c:valAx>
        <c:axId val="362203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362197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20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n-US" dirty="0" err="1"/>
              <a:t>ContikiMac</a:t>
            </a:r>
            <a:r>
              <a:rPr lang="en-US" dirty="0"/>
              <a:t>                vs.                                     </a:t>
            </a:r>
            <a:r>
              <a:rPr lang="en-US" dirty="0" err="1"/>
              <a:t>XMac</a:t>
            </a:r>
            <a:endParaRPr lang="en-US" dirty="0"/>
          </a:p>
        </c:rich>
      </c:tx>
      <c:layout>
        <c:manualLayout>
          <c:xMode val="edge"/>
          <c:yMode val="edge"/>
          <c:x val="0.1248437910261842"/>
          <c:y val="3.7319762510602206E-2"/>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CMvsXM16!$A$3</c:f>
              <c:strCache>
                <c:ptCount val="1"/>
                <c:pt idx="0">
                  <c:v>No Traffic</c:v>
                </c:pt>
              </c:strCache>
            </c:strRef>
          </c:tx>
          <c:spPr>
            <a:solidFill>
              <a:schemeClr val="accent1"/>
            </a:solidFill>
            <a:ln>
              <a:noFill/>
            </a:ln>
            <a:effectLst/>
          </c:spPr>
          <c:invertIfNegative val="0"/>
          <c:cat>
            <c:multiLvlStrRef>
              <c:f>CMvsXM16!$B$1:$E$2</c:f>
              <c:multiLvlStrCache>
                <c:ptCount val="4"/>
                <c:lvl>
                  <c:pt idx="0">
                    <c:v>Latency</c:v>
                  </c:pt>
                  <c:pt idx="1">
                    <c:v>Energy</c:v>
                  </c:pt>
                  <c:pt idx="2">
                    <c:v>Latency</c:v>
                  </c:pt>
                  <c:pt idx="3">
                    <c:v>Energy</c:v>
                  </c:pt>
                </c:lvl>
                <c:lvl>
                  <c:pt idx="0">
                    <c:v>Cmac16</c:v>
                  </c:pt>
                  <c:pt idx="2">
                    <c:v>Xmac16</c:v>
                  </c:pt>
                </c:lvl>
              </c:multiLvlStrCache>
            </c:multiLvlStrRef>
          </c:cat>
          <c:val>
            <c:numRef>
              <c:f>CMvsXM16!$B$3:$E$3</c:f>
              <c:numCache>
                <c:formatCode>General</c:formatCode>
                <c:ptCount val="4"/>
                <c:pt idx="0">
                  <c:v>54.44</c:v>
                </c:pt>
                <c:pt idx="1">
                  <c:v>5.98</c:v>
                </c:pt>
                <c:pt idx="2">
                  <c:v>42.61</c:v>
                </c:pt>
                <c:pt idx="3">
                  <c:v>21.01</c:v>
                </c:pt>
              </c:numCache>
            </c:numRef>
          </c:val>
          <c:extLst>
            <c:ext xmlns:c16="http://schemas.microsoft.com/office/drawing/2014/chart" uri="{C3380CC4-5D6E-409C-BE32-E72D297353CC}">
              <c16:uniqueId val="{00000000-C7D2-4889-B8F0-6CEE92E365E4}"/>
            </c:ext>
          </c:extLst>
        </c:ser>
        <c:ser>
          <c:idx val="1"/>
          <c:order val="1"/>
          <c:tx>
            <c:strRef>
              <c:f>CMvsXM16!$A$4</c:f>
              <c:strCache>
                <c:ptCount val="1"/>
                <c:pt idx="0">
                  <c:v>Low Traffic</c:v>
                </c:pt>
              </c:strCache>
            </c:strRef>
          </c:tx>
          <c:spPr>
            <a:solidFill>
              <a:schemeClr val="accent2"/>
            </a:solidFill>
            <a:ln>
              <a:noFill/>
            </a:ln>
            <a:effectLst/>
          </c:spPr>
          <c:invertIfNegative val="0"/>
          <c:cat>
            <c:multiLvlStrRef>
              <c:f>CMvsXM16!$B$1:$E$2</c:f>
              <c:multiLvlStrCache>
                <c:ptCount val="4"/>
                <c:lvl>
                  <c:pt idx="0">
                    <c:v>Latency</c:v>
                  </c:pt>
                  <c:pt idx="1">
                    <c:v>Energy</c:v>
                  </c:pt>
                  <c:pt idx="2">
                    <c:v>Latency</c:v>
                  </c:pt>
                  <c:pt idx="3">
                    <c:v>Energy</c:v>
                  </c:pt>
                </c:lvl>
                <c:lvl>
                  <c:pt idx="0">
                    <c:v>Cmac16</c:v>
                  </c:pt>
                  <c:pt idx="2">
                    <c:v>Xmac16</c:v>
                  </c:pt>
                </c:lvl>
              </c:multiLvlStrCache>
            </c:multiLvlStrRef>
          </c:cat>
          <c:val>
            <c:numRef>
              <c:f>CMvsXM16!$B$4:$E$4</c:f>
              <c:numCache>
                <c:formatCode>General</c:formatCode>
                <c:ptCount val="4"/>
                <c:pt idx="0">
                  <c:v>55.04</c:v>
                </c:pt>
                <c:pt idx="1">
                  <c:v>6.21</c:v>
                </c:pt>
                <c:pt idx="2">
                  <c:v>44.12</c:v>
                </c:pt>
                <c:pt idx="3">
                  <c:v>21.62</c:v>
                </c:pt>
              </c:numCache>
            </c:numRef>
          </c:val>
          <c:extLst>
            <c:ext xmlns:c16="http://schemas.microsoft.com/office/drawing/2014/chart" uri="{C3380CC4-5D6E-409C-BE32-E72D297353CC}">
              <c16:uniqueId val="{00000001-C7D2-4889-B8F0-6CEE92E365E4}"/>
            </c:ext>
          </c:extLst>
        </c:ser>
        <c:ser>
          <c:idx val="2"/>
          <c:order val="2"/>
          <c:tx>
            <c:strRef>
              <c:f>CMvsXM16!$A$5</c:f>
              <c:strCache>
                <c:ptCount val="1"/>
                <c:pt idx="0">
                  <c:v>High Traffic</c:v>
                </c:pt>
              </c:strCache>
            </c:strRef>
          </c:tx>
          <c:spPr>
            <a:solidFill>
              <a:schemeClr val="accent3"/>
            </a:solidFill>
            <a:ln>
              <a:noFill/>
            </a:ln>
            <a:effectLst/>
          </c:spPr>
          <c:invertIfNegative val="0"/>
          <c:cat>
            <c:multiLvlStrRef>
              <c:f>CMvsXM16!$B$1:$E$2</c:f>
              <c:multiLvlStrCache>
                <c:ptCount val="4"/>
                <c:lvl>
                  <c:pt idx="0">
                    <c:v>Latency</c:v>
                  </c:pt>
                  <c:pt idx="1">
                    <c:v>Energy</c:v>
                  </c:pt>
                  <c:pt idx="2">
                    <c:v>Latency</c:v>
                  </c:pt>
                  <c:pt idx="3">
                    <c:v>Energy</c:v>
                  </c:pt>
                </c:lvl>
                <c:lvl>
                  <c:pt idx="0">
                    <c:v>Cmac16</c:v>
                  </c:pt>
                  <c:pt idx="2">
                    <c:v>Xmac16</c:v>
                  </c:pt>
                </c:lvl>
              </c:multiLvlStrCache>
            </c:multiLvlStrRef>
          </c:cat>
          <c:val>
            <c:numRef>
              <c:f>CMvsXM16!$B$5:$E$5</c:f>
              <c:numCache>
                <c:formatCode>General</c:formatCode>
                <c:ptCount val="4"/>
                <c:pt idx="0">
                  <c:v>85.49</c:v>
                </c:pt>
                <c:pt idx="1">
                  <c:v>8.5299999999999994</c:v>
                </c:pt>
                <c:pt idx="2">
                  <c:v>86.63</c:v>
                </c:pt>
                <c:pt idx="3">
                  <c:v>21.09</c:v>
                </c:pt>
              </c:numCache>
            </c:numRef>
          </c:val>
          <c:extLst>
            <c:ext xmlns:c16="http://schemas.microsoft.com/office/drawing/2014/chart" uri="{C3380CC4-5D6E-409C-BE32-E72D297353CC}">
              <c16:uniqueId val="{00000002-C7D2-4889-B8F0-6CEE92E365E4}"/>
            </c:ext>
          </c:extLst>
        </c:ser>
        <c:dLbls>
          <c:showLegendKey val="0"/>
          <c:showVal val="0"/>
          <c:showCatName val="0"/>
          <c:showSerName val="0"/>
          <c:showPercent val="0"/>
          <c:showBubbleSize val="0"/>
        </c:dLbls>
        <c:gapWidth val="219"/>
        <c:overlap val="-27"/>
        <c:axId val="362202592"/>
        <c:axId val="362202200"/>
      </c:barChart>
      <c:catAx>
        <c:axId val="362202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362202200"/>
        <c:crosses val="autoZero"/>
        <c:auto val="1"/>
        <c:lblAlgn val="ctr"/>
        <c:lblOffset val="100"/>
        <c:noMultiLvlLbl val="0"/>
      </c:catAx>
      <c:valAx>
        <c:axId val="362202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3622025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800"/>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0.08454</cdr:x>
      <cdr:y>0.63563</cdr:y>
    </cdr:from>
    <cdr:to>
      <cdr:x>0.08454</cdr:x>
      <cdr:y>0.86799</cdr:y>
    </cdr:to>
    <cdr:cxnSp macro="">
      <cdr:nvCxnSpPr>
        <cdr:cNvPr id="3" name="Straight Connector 2">
          <a:extLst xmlns:a="http://schemas.openxmlformats.org/drawingml/2006/main">
            <a:ext uri="{FF2B5EF4-FFF2-40B4-BE49-F238E27FC236}">
              <a16:creationId xmlns:a16="http://schemas.microsoft.com/office/drawing/2014/main" id="{5497E875-C221-4F1F-9DC1-F11BB2054C84}"/>
            </a:ext>
          </a:extLst>
        </cdr:cNvPr>
        <cdr:cNvCxnSpPr/>
      </cdr:nvCxnSpPr>
      <cdr:spPr>
        <a:xfrm xmlns:a="http://schemas.openxmlformats.org/drawingml/2006/main">
          <a:off x="631708" y="2379385"/>
          <a:ext cx="0" cy="869795"/>
        </a:xfrm>
        <a:prstGeom xmlns:a="http://schemas.openxmlformats.org/drawingml/2006/main" prst="line">
          <a:avLst/>
        </a:prstGeom>
        <a:ln xmlns:a="http://schemas.openxmlformats.org/drawingml/2006/main" w="38100">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0.53174</cdr:x>
      <cdr:y>0.63812</cdr:y>
    </cdr:from>
    <cdr:to>
      <cdr:x>0.53174</cdr:x>
      <cdr:y>0.87048</cdr:y>
    </cdr:to>
    <cdr:cxnSp macro="">
      <cdr:nvCxnSpPr>
        <cdr:cNvPr id="4" name="Straight Connector 3">
          <a:extLst xmlns:a="http://schemas.openxmlformats.org/drawingml/2006/main">
            <a:ext uri="{FF2B5EF4-FFF2-40B4-BE49-F238E27FC236}">
              <a16:creationId xmlns:a16="http://schemas.microsoft.com/office/drawing/2014/main" id="{A01F7F0A-82B4-48FE-8F5A-9EEC22DFD46B}"/>
            </a:ext>
          </a:extLst>
        </cdr:cNvPr>
        <cdr:cNvCxnSpPr/>
      </cdr:nvCxnSpPr>
      <cdr:spPr>
        <a:xfrm xmlns:a="http://schemas.openxmlformats.org/drawingml/2006/main">
          <a:off x="3973357" y="2388709"/>
          <a:ext cx="0" cy="869795"/>
        </a:xfrm>
        <a:prstGeom xmlns:a="http://schemas.openxmlformats.org/drawingml/2006/main" prst="line">
          <a:avLst/>
        </a:prstGeom>
        <a:ln xmlns:a="http://schemas.openxmlformats.org/drawingml/2006/main" w="38100">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0.98043</cdr:x>
      <cdr:y>0.63812</cdr:y>
    </cdr:from>
    <cdr:to>
      <cdr:x>0.98043</cdr:x>
      <cdr:y>0.87048</cdr:y>
    </cdr:to>
    <cdr:cxnSp macro="">
      <cdr:nvCxnSpPr>
        <cdr:cNvPr id="5" name="Straight Connector 4">
          <a:extLst xmlns:a="http://schemas.openxmlformats.org/drawingml/2006/main">
            <a:ext uri="{FF2B5EF4-FFF2-40B4-BE49-F238E27FC236}">
              <a16:creationId xmlns:a16="http://schemas.microsoft.com/office/drawing/2014/main" id="{5742D5BF-104E-4945-ACAC-CB02E6978BA1}"/>
            </a:ext>
          </a:extLst>
        </cdr:cNvPr>
        <cdr:cNvCxnSpPr/>
      </cdr:nvCxnSpPr>
      <cdr:spPr>
        <a:xfrm xmlns:a="http://schemas.openxmlformats.org/drawingml/2006/main">
          <a:off x="7326156" y="2388709"/>
          <a:ext cx="0" cy="869795"/>
        </a:xfrm>
        <a:prstGeom xmlns:a="http://schemas.openxmlformats.org/drawingml/2006/main" prst="line">
          <a:avLst/>
        </a:prstGeom>
        <a:ln xmlns:a="http://schemas.openxmlformats.org/drawingml/2006/main" w="38100">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3106D98F-FA14-41AE-939D-087D8A4C5B2D}" type="datetimeFigureOut">
              <a:rPr lang="en-US" smtClean="0"/>
              <a:t>3/1/2023</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76BB8AF7-9034-4935-8E5D-D2714D8594A3}" type="slidenum">
              <a:rPr lang="en-US" smtClean="0"/>
              <a:t>‹#›</a:t>
            </a:fld>
            <a:endParaRPr lang="en-US"/>
          </a:p>
        </p:txBody>
      </p:sp>
    </p:spTree>
    <p:extLst>
      <p:ext uri="{BB962C8B-B14F-4D97-AF65-F5344CB8AC3E}">
        <p14:creationId xmlns:p14="http://schemas.microsoft.com/office/powerpoint/2010/main" val="2784710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Telecommunications"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en.wikipedia.org/wiki/Radio" TargetMode="External"/><Relationship Id="rId4" Type="http://schemas.openxmlformats.org/officeDocument/2006/relationships/hyperlink" Target="https://en.wikipedia.org/wiki/Electric_power"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a:t>
            </a:fld>
            <a:endParaRPr lang="en-US"/>
          </a:p>
        </p:txBody>
      </p:sp>
    </p:spTree>
    <p:extLst>
      <p:ext uri="{BB962C8B-B14F-4D97-AF65-F5344CB8AC3E}">
        <p14:creationId xmlns:p14="http://schemas.microsoft.com/office/powerpoint/2010/main" val="1552638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 subsystem of </a:t>
            </a:r>
            <a:r>
              <a:rPr lang="en-US" dirty="0" err="1"/>
              <a:t>Contiki</a:t>
            </a:r>
            <a:r>
              <a:rPr lang="en-US" dirty="0"/>
              <a:t> implements the communications facilities.</a:t>
            </a:r>
            <a:r>
              <a:rPr lang="en-US" baseline="0" dirty="0"/>
              <a:t> This slide shows the simplified layered structure. </a:t>
            </a:r>
            <a:br>
              <a:rPr lang="en-US" baseline="0" dirty="0"/>
            </a:br>
            <a:r>
              <a:rPr lang="en-US" baseline="0" dirty="0"/>
              <a:t>Two different communication stacks are available: rime and UIP6.</a:t>
            </a:r>
          </a:p>
          <a:p>
            <a:r>
              <a:rPr lang="en-US" baseline="0" dirty="0"/>
              <a:t>The rime stack offers simple, </a:t>
            </a:r>
            <a:r>
              <a:rPr lang="en-US" baseline="0" dirty="0" err="1"/>
              <a:t>Contiki</a:t>
            </a:r>
            <a:r>
              <a:rPr lang="en-US" baseline="0" dirty="0"/>
              <a:t> specific, communication facilities, including single-hop unicast (P2P) or broadcast (BROAD) and multi-hop multipoint to point (M2P) functionality.</a:t>
            </a:r>
          </a:p>
          <a:p>
            <a:r>
              <a:rPr lang="en-US" baseline="0" dirty="0"/>
              <a:t>The UIP6 stack offers, multi-hop multipoint to point (M2P), point to multipoint (P2M) and point to point (P2P) functionality via the RPL routing protocol. By bypassing the transport and network layers, single hop unicast (P2P) and broadcast (BROAD) functionality is also available.</a:t>
            </a:r>
          </a:p>
          <a:p>
            <a:r>
              <a:rPr lang="en-US" baseline="0" dirty="0"/>
              <a:t>The MAC, RDC and physical layers are common to both stacks, but their code contains many if(IPV6) and if(!IPV6) statements.</a:t>
            </a:r>
          </a:p>
          <a:p>
            <a:r>
              <a:rPr lang="en-US" baseline="0" dirty="0"/>
              <a:t>The RPL routing protocol uses additional information about links gathered by the MAC and RDC layers.</a:t>
            </a:r>
          </a:p>
          <a:p>
            <a:r>
              <a:rPr lang="en-US" baseline="0" dirty="0"/>
              <a:t>The MAC and RDC protocols use additional information provided by the physical layer (ex: Channel Clear detection by the cc2420 hardware)</a:t>
            </a:r>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2</a:t>
            </a:fld>
            <a:endParaRPr lang="en-US"/>
          </a:p>
        </p:txBody>
      </p:sp>
    </p:spTree>
    <p:extLst>
      <p:ext uri="{BB962C8B-B14F-4D97-AF65-F5344CB8AC3E}">
        <p14:creationId xmlns:p14="http://schemas.microsoft.com/office/powerpoint/2010/main" val="4125942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Zoul</a:t>
            </a:r>
            <a:r>
              <a:rPr lang="en-US" dirty="0"/>
              <a:t> motes use the cc2538 microchip, containing a radio and a CPU.</a:t>
            </a:r>
            <a:r>
              <a:rPr lang="en-US" baseline="0" dirty="0"/>
              <a:t> The transfer of data between the CPU in the mote and the radio is done through two 128 byte FIFO stores.</a:t>
            </a:r>
          </a:p>
          <a:p>
            <a:r>
              <a:rPr lang="en-US" baseline="0" dirty="0"/>
              <a:t>To transmit a frame, the computer loads the length of the frame (FL) and its contents, without FCS, in the FIFO buffer. The transmitter adds the 5 bytes of the physical header and the two bytes of the FCS, encodes everything and transmits the frame. If requested, the transmitter keeps the contents of the FIFO buffer and retransmits repeatedly the frame. </a:t>
            </a:r>
          </a:p>
          <a:p>
            <a:r>
              <a:rPr lang="en-US" baseline="0" dirty="0"/>
              <a:t>The receiver checks for incoming radio signals (Clear Channel Assessment), decodes the received signal, computes the RSSI and LQI figures and checks the FCS field. If, according to the FCS, the frame is corrupt, it is discarded. Otherwise, the destination address in the received frame is compared with the address of the receiver and if they match, the frame is pushed in the receiver FIFO. In this FIFO the two bytes of the FCS are replaced by the values of RSSI and LQI computed while the </a:t>
            </a:r>
            <a:r>
              <a:rPr lang="en-US" baseline="0"/>
              <a:t>frame is </a:t>
            </a:r>
            <a:r>
              <a:rPr lang="en-US" baseline="0" dirty="0"/>
              <a:t>being received. When a frame with the Ack request bit on is received, the receiver instructs directly the transmitter to send an Ack frame (and to stop retransmitting the frame kept in the transmitter FIFO).  </a:t>
            </a: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3</a:t>
            </a:fld>
            <a:endParaRPr lang="en-US"/>
          </a:p>
        </p:txBody>
      </p:sp>
    </p:spTree>
    <p:extLst>
      <p:ext uri="{BB962C8B-B14F-4D97-AF65-F5344CB8AC3E}">
        <p14:creationId xmlns:p14="http://schemas.microsoft.com/office/powerpoint/2010/main" val="1511833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transmitter uses spread spectrum technology for transmitting data. It works at a fixed speed of 31 250 bytes per second. Each byte is split into two 4 bit entities, called “symbols”. Each symbol is encoded by means of a predetermined</a:t>
            </a:r>
            <a:r>
              <a:rPr lang="en-US" baseline="0" dirty="0"/>
              <a:t> </a:t>
            </a:r>
            <a:r>
              <a:rPr lang="en-US" dirty="0"/>
              <a:t>sequence of 32 bits. Those bits are also called chips. This results in a transmitted</a:t>
            </a:r>
            <a:r>
              <a:rPr lang="en-US" baseline="0" dirty="0"/>
              <a:t> chip rate of 2 Mb/s. By transmitting 8 times more bits (chips) as there is information to be transmitted, one uses a lot of bandwidth to transmit a small quantity of information, meaning that, according to the theorem of Shannon, the signal to noise ratio of the radio channel can be low or one can say that you trade bandwidth for better noise immunity.</a:t>
            </a:r>
          </a:p>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4</a:t>
            </a:fld>
            <a:endParaRPr lang="en-US"/>
          </a:p>
        </p:txBody>
      </p:sp>
    </p:spTree>
    <p:extLst>
      <p:ext uri="{BB962C8B-B14F-4D97-AF65-F5344CB8AC3E}">
        <p14:creationId xmlns:p14="http://schemas.microsoft.com/office/powerpoint/2010/main" val="3895926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gives for all 16 possible symbols, the corresponding chip sequence.</a:t>
            </a:r>
          </a:p>
          <a:p>
            <a:r>
              <a:rPr lang="en-US" dirty="0"/>
              <a:t>This is in fact an example of spread spectrum. Faster </a:t>
            </a:r>
            <a:r>
              <a:rPr lang="en-US" dirty="0" err="1"/>
              <a:t>chipstream</a:t>
            </a:r>
            <a:r>
              <a:rPr lang="en-US" dirty="0"/>
              <a:t> needs more bandwidth than the original bitstream and is because of that offering more noise immunity.</a:t>
            </a:r>
          </a:p>
          <a:p>
            <a:r>
              <a:rPr lang="en-US" dirty="0"/>
              <a:t>Also, the coding acts as an error correcting code for the chip-based messages (see course advanced IT-networks or course telecommunications). In the full space of possible messages of 32 bits, the messages that are sent by the sender are only a small subset in the set of all possible 32 chip messages.</a:t>
            </a:r>
          </a:p>
          <a:p>
            <a:r>
              <a:rPr lang="en-US" dirty="0"/>
              <a:t>The chip-based messages will be at a hamming distance that is large enough to correct at least a single chip error or even more =&gt; check Hamming distance between the chip-based messages to see how many incorrectly received chips can be corrected.</a:t>
            </a:r>
          </a:p>
          <a:p>
            <a:endParaRPr lang="en-US" dirty="0"/>
          </a:p>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5</a:t>
            </a:fld>
            <a:endParaRPr lang="en-US"/>
          </a:p>
        </p:txBody>
      </p:sp>
    </p:spTree>
    <p:extLst>
      <p:ext uri="{BB962C8B-B14F-4D97-AF65-F5344CB8AC3E}">
        <p14:creationId xmlns:p14="http://schemas.microsoft.com/office/powerpoint/2010/main" val="818920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BE" dirty="0"/>
              <a:t>How to </a:t>
            </a:r>
            <a:r>
              <a:rPr lang="fr-BE" dirty="0" err="1"/>
              <a:t>calculate</a:t>
            </a:r>
            <a:r>
              <a:rPr lang="fr-BE" dirty="0"/>
              <a:t> </a:t>
            </a:r>
            <a:r>
              <a:rPr lang="fr-BE" dirty="0" err="1"/>
              <a:t>correlation</a:t>
            </a:r>
            <a:r>
              <a:rPr lang="fr-BE" dirty="0"/>
              <a:t>? In </a:t>
            </a:r>
            <a:r>
              <a:rPr lang="fr-BE" dirty="0" err="1"/>
              <a:t>this</a:t>
            </a:r>
            <a:r>
              <a:rPr lang="fr-BE" dirty="0"/>
              <a:t> a 0 </a:t>
            </a:r>
            <a:r>
              <a:rPr lang="fr-BE" dirty="0" err="1"/>
              <a:t>is</a:t>
            </a:r>
            <a:r>
              <a:rPr lang="fr-BE" dirty="0"/>
              <a:t> </a:t>
            </a:r>
            <a:r>
              <a:rPr lang="fr-BE" dirty="0" err="1"/>
              <a:t>seen</a:t>
            </a:r>
            <a:r>
              <a:rPr lang="fr-BE" dirty="0"/>
              <a:t> as ( -1 ) and a 1 as (+1).</a:t>
            </a:r>
          </a:p>
          <a:p>
            <a:endParaRPr lang="nl-BE" dirty="0"/>
          </a:p>
        </p:txBody>
      </p:sp>
      <p:sp>
        <p:nvSpPr>
          <p:cNvPr id="4" name="Slide Number Placeholder 3"/>
          <p:cNvSpPr>
            <a:spLocks noGrp="1"/>
          </p:cNvSpPr>
          <p:nvPr>
            <p:ph type="sldNum" sz="quarter" idx="5"/>
          </p:nvPr>
        </p:nvSpPr>
        <p:spPr/>
        <p:txBody>
          <a:bodyPr/>
          <a:lstStyle/>
          <a:p>
            <a:fld id="{76BB8AF7-9034-4935-8E5D-D2714D8594A3}" type="slidenum">
              <a:rPr lang="en-US" smtClean="0"/>
              <a:t>6</a:t>
            </a:fld>
            <a:endParaRPr lang="en-US"/>
          </a:p>
        </p:txBody>
      </p:sp>
    </p:spTree>
    <p:extLst>
      <p:ext uri="{BB962C8B-B14F-4D97-AF65-F5344CB8AC3E}">
        <p14:creationId xmlns:p14="http://schemas.microsoft.com/office/powerpoint/2010/main" val="2220411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receiver</a:t>
            </a:r>
            <a:r>
              <a:rPr lang="en-US" baseline="0" dirty="0"/>
              <a:t> evaluates the level of incoming radio energy. This is used to generate the “Clear Channel Assessment” binary information and the RSSI figure associated with each received frame.</a:t>
            </a:r>
          </a:p>
          <a:p>
            <a:r>
              <a:rPr lang="en-US" baseline="0" dirty="0"/>
              <a:t>Next the incoming chips are correlated with the 16 pseudo random sequences representing the 16 possible symbols and the symbol yielding the highest correlation with the incoming message is selected. The LQI figure is the value of the correlation between received symbol and symbol produced at the sender and gives an indication of the quality of the digital radio link. </a:t>
            </a:r>
          </a:p>
          <a:p>
            <a:r>
              <a:rPr lang="en-US" baseline="0" dirty="0"/>
              <a:t>The correlation between two chip/bit sequences is calculated as shown in the previous slide.</a:t>
            </a:r>
          </a:p>
          <a:p>
            <a:endParaRPr lang="en-US" baseline="0" dirty="0"/>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7</a:t>
            </a:fld>
            <a:endParaRPr lang="en-US"/>
          </a:p>
        </p:txBody>
      </p:sp>
    </p:spTree>
    <p:extLst>
      <p:ext uri="{BB962C8B-B14F-4D97-AF65-F5344CB8AC3E}">
        <p14:creationId xmlns:p14="http://schemas.microsoft.com/office/powerpoint/2010/main" val="3514595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1" i="0" kern="1200" dirty="0">
                <a:solidFill>
                  <a:schemeClr val="tx1"/>
                </a:solidFill>
                <a:effectLst/>
                <a:latin typeface="+mn-lt"/>
                <a:ea typeface="+mn-ea"/>
                <a:cs typeface="+mn-cs"/>
              </a:rPr>
              <a:t>dBm</a:t>
            </a:r>
            <a:r>
              <a:rPr lang="en-US" sz="1200" b="0" i="0" kern="1200" dirty="0">
                <a:solidFill>
                  <a:schemeClr val="tx1"/>
                </a:solidFill>
                <a:effectLst/>
                <a:latin typeface="+mn-lt"/>
                <a:ea typeface="+mn-ea"/>
                <a:cs typeface="+mn-cs"/>
              </a:rPr>
              <a:t> or </a:t>
            </a:r>
            <a:r>
              <a:rPr lang="en-US" sz="1200" b="0" i="0" kern="1200" dirty="0" err="1">
                <a:solidFill>
                  <a:schemeClr val="tx1"/>
                </a:solidFill>
                <a:effectLst/>
                <a:latin typeface="+mn-lt"/>
                <a:ea typeface="+mn-ea"/>
                <a:cs typeface="+mn-cs"/>
              </a:rPr>
              <a:t>dB</a:t>
            </a:r>
            <a:r>
              <a:rPr lang="en-US" sz="1200" b="0" i="0" kern="1200" baseline="-25000" dirty="0" err="1">
                <a:solidFill>
                  <a:schemeClr val="tx1"/>
                </a:solidFill>
                <a:effectLst/>
                <a:latin typeface="+mn-lt"/>
                <a:ea typeface="+mn-ea"/>
                <a:cs typeface="+mn-cs"/>
              </a:rPr>
              <a:t>mW</a:t>
            </a:r>
            <a:r>
              <a:rPr lang="en-US" sz="1200" b="0" i="0" kern="1200" dirty="0">
                <a:solidFill>
                  <a:schemeClr val="tx1"/>
                </a:solidFill>
                <a:effectLst/>
                <a:latin typeface="+mn-lt"/>
                <a:ea typeface="+mn-ea"/>
                <a:cs typeface="+mn-cs"/>
              </a:rPr>
              <a:t> (decibel-milliwatts) is a unit of level used to indicate that a power level is expressed in decibels (dB) with reference to one milliwatt (</a:t>
            </a:r>
            <a:r>
              <a:rPr lang="en-US" sz="1200" b="0" i="0" kern="1200" dirty="0" err="1">
                <a:solidFill>
                  <a:schemeClr val="tx1"/>
                </a:solidFill>
                <a:effectLst/>
                <a:latin typeface="+mn-lt"/>
                <a:ea typeface="+mn-ea"/>
                <a:cs typeface="+mn-cs"/>
              </a:rPr>
              <a:t>mW</a:t>
            </a:r>
            <a:r>
              <a:rPr lang="en-US" sz="1200" b="0" i="0" kern="1200" dirty="0">
                <a:solidFill>
                  <a:schemeClr val="tx1"/>
                </a:solidFill>
                <a:effectLst/>
                <a:latin typeface="+mn-lt"/>
                <a:ea typeface="+mn-ea"/>
                <a:cs typeface="+mn-cs"/>
              </a:rPr>
              <a:t>). </a:t>
            </a:r>
            <a:r>
              <a:rPr lang="en-GB" b="1" i="0" dirty="0">
                <a:solidFill>
                  <a:srgbClr val="202122"/>
                </a:solidFill>
                <a:effectLst/>
                <a:latin typeface="Arial" panose="020B0604020202020204" pitchFamily="34" charset="0"/>
              </a:rPr>
              <a:t>dBm</a:t>
            </a:r>
            <a:r>
              <a:rPr lang="en-GB" b="0" i="0" dirty="0">
                <a:solidFill>
                  <a:srgbClr val="202122"/>
                </a:solidFill>
                <a:effectLst/>
                <a:latin typeface="Arial" panose="020B0604020202020204" pitchFamily="34" charset="0"/>
              </a:rPr>
              <a:t> or </a:t>
            </a:r>
            <a:r>
              <a:rPr lang="en-GB" b="1" i="0" dirty="0" err="1">
                <a:solidFill>
                  <a:srgbClr val="202122"/>
                </a:solidFill>
                <a:effectLst/>
                <a:latin typeface="Arial" panose="020B0604020202020204" pitchFamily="34" charset="0"/>
              </a:rPr>
              <a:t>dB</a:t>
            </a:r>
            <a:r>
              <a:rPr lang="en-GB" b="1" i="0" baseline="-25000" dirty="0" err="1">
                <a:solidFill>
                  <a:srgbClr val="202122"/>
                </a:solidFill>
                <a:effectLst/>
                <a:latin typeface="Arial" panose="020B0604020202020204" pitchFamily="34" charset="0"/>
              </a:rPr>
              <a:t>mW</a:t>
            </a:r>
            <a:r>
              <a:rPr lang="en-GB" b="0" i="0" dirty="0">
                <a:solidFill>
                  <a:srgbClr val="202122"/>
                </a:solidFill>
                <a:effectLst/>
                <a:latin typeface="Arial" panose="020B0604020202020204" pitchFamily="34" charset="0"/>
              </a:rPr>
              <a:t> (decibel-milliwatts) is a unit of </a:t>
            </a:r>
            <a:r>
              <a:rPr lang="en-GB" b="0" i="0" u="none" strike="noStrike" dirty="0">
                <a:solidFill>
                  <a:srgbClr val="0645AD"/>
                </a:solidFill>
                <a:effectLst/>
                <a:latin typeface="Arial" panose="020B0604020202020204" pitchFamily="34" charset="0"/>
              </a:rPr>
              <a:t>level </a:t>
            </a:r>
            <a:r>
              <a:rPr lang="en-GB" b="0" i="0" dirty="0">
                <a:solidFill>
                  <a:srgbClr val="202122"/>
                </a:solidFill>
                <a:effectLst/>
                <a:latin typeface="Arial" panose="020B0604020202020204" pitchFamily="34" charset="0"/>
              </a:rPr>
              <a:t>used to indicate that a power level is expressed in decibels (dB) with reference to one </a:t>
            </a:r>
            <a:r>
              <a:rPr lang="en-GB" b="0" i="0" u="none" strike="noStrike" dirty="0">
                <a:solidFill>
                  <a:srgbClr val="0645AD"/>
                </a:solidFill>
                <a:effectLst/>
                <a:latin typeface="Arial" panose="020B0604020202020204" pitchFamily="34" charset="0"/>
              </a:rPr>
              <a:t>milliwatt </a:t>
            </a:r>
            <a:r>
              <a:rPr lang="en-GB" b="0" i="0" dirty="0">
                <a:solidFill>
                  <a:srgbClr val="202122"/>
                </a:solidFill>
                <a:effectLst/>
                <a:latin typeface="Arial" panose="020B0604020202020204" pitchFamily="34" charset="0"/>
              </a:rPr>
              <a:t>(</a:t>
            </a:r>
            <a:r>
              <a:rPr lang="en-GB" b="0" i="0" dirty="0" err="1">
                <a:solidFill>
                  <a:srgbClr val="202122"/>
                </a:solidFill>
                <a:effectLst/>
                <a:latin typeface="Arial" panose="020B0604020202020204" pitchFamily="34" charset="0"/>
              </a:rPr>
              <a:t>mW</a:t>
            </a:r>
            <a:r>
              <a:rPr lang="en-GB" b="0" i="0" dirty="0">
                <a:solidFill>
                  <a:srgbClr val="202122"/>
                </a:solidFill>
                <a:effectLst/>
                <a:latin typeface="Arial" panose="020B0604020202020204" pitchFamily="34" charset="0"/>
              </a:rPr>
              <a:t>). To express an arbitrary power </a:t>
            </a:r>
            <a:r>
              <a:rPr lang="en-GB" b="0" i="1" dirty="0">
                <a:solidFill>
                  <a:srgbClr val="202122"/>
                </a:solidFill>
                <a:effectLst/>
                <a:latin typeface="Arial" panose="020B0604020202020204" pitchFamily="34" charset="0"/>
              </a:rPr>
              <a:t>P</a:t>
            </a:r>
            <a:r>
              <a:rPr lang="en-GB" b="0" i="0" dirty="0">
                <a:solidFill>
                  <a:srgbClr val="202122"/>
                </a:solidFill>
                <a:effectLst/>
                <a:latin typeface="Arial" panose="020B0604020202020204" pitchFamily="34" charset="0"/>
              </a:rPr>
              <a:t> in </a:t>
            </a:r>
            <a:r>
              <a:rPr lang="en-GB" b="0" i="0" dirty="0" err="1">
                <a:solidFill>
                  <a:srgbClr val="202122"/>
                </a:solidFill>
                <a:effectLst/>
                <a:latin typeface="Arial" panose="020B0604020202020204" pitchFamily="34" charset="0"/>
              </a:rPr>
              <a:t>mW</a:t>
            </a:r>
            <a:r>
              <a:rPr lang="en-GB" b="0" i="0" dirty="0">
                <a:solidFill>
                  <a:srgbClr val="202122"/>
                </a:solidFill>
                <a:effectLst/>
                <a:latin typeface="Arial" panose="020B0604020202020204" pitchFamily="34" charset="0"/>
              </a:rPr>
              <a:t> as </a:t>
            </a:r>
            <a:r>
              <a:rPr lang="en-GB" b="0" i="1" dirty="0">
                <a:solidFill>
                  <a:srgbClr val="202122"/>
                </a:solidFill>
                <a:effectLst/>
                <a:latin typeface="Arial" panose="020B0604020202020204" pitchFamily="34" charset="0"/>
              </a:rPr>
              <a:t>x</a:t>
            </a:r>
            <a:r>
              <a:rPr lang="en-GB" b="0" i="0" dirty="0">
                <a:solidFill>
                  <a:srgbClr val="202122"/>
                </a:solidFill>
                <a:effectLst/>
                <a:latin typeface="Arial" panose="020B0604020202020204" pitchFamily="34" charset="0"/>
              </a:rPr>
              <a:t> in dBm, the expression shown on </a:t>
            </a:r>
            <a:r>
              <a:rPr lang="en-GB" b="0" i="0">
                <a:solidFill>
                  <a:srgbClr val="202122"/>
                </a:solidFill>
                <a:effectLst/>
                <a:latin typeface="Arial" panose="020B0604020202020204" pitchFamily="34" charset="0"/>
              </a:rPr>
              <a:t>the slides can be used.</a:t>
            </a:r>
            <a:endParaRPr lang="en-GB" b="0" i="0" dirty="0">
              <a:solidFill>
                <a:srgbClr val="202122"/>
              </a:solidFill>
              <a:effectLst/>
              <a:latin typeface="Arial" panose="020B0604020202020204" pitchFamily="34" charset="0"/>
            </a:endParaRPr>
          </a:p>
          <a:p>
            <a:r>
              <a:rPr lang="en-US" sz="1200" kern="1200" dirty="0">
                <a:solidFill>
                  <a:schemeClr val="tx1"/>
                </a:solidFill>
                <a:latin typeface="+mn-lt"/>
                <a:ea typeface="+mn-ea"/>
                <a:cs typeface="+mn-cs"/>
              </a:rPr>
              <a:t>In </a:t>
            </a:r>
            <a:r>
              <a:rPr lang="en-US" sz="1200" kern="1200" dirty="0">
                <a:solidFill>
                  <a:schemeClr val="tx1"/>
                </a:solidFill>
                <a:latin typeface="+mn-lt"/>
                <a:ea typeface="+mn-ea"/>
                <a:cs typeface="+mn-cs"/>
                <a:hlinkClick r:id="rId3" tooltip="Telecommunications">
                  <a:extLst>
                    <a:ext uri="{A12FA001-AC4F-418D-AE19-62706E023703}">
                      <ahyp:hlinkClr xmlns:ahyp="http://schemas.microsoft.com/office/drawing/2018/hyperlinkcolor" val="tx"/>
                    </a:ext>
                  </a:extLst>
                </a:hlinkClick>
              </a:rPr>
              <a:t>telecommunications</a:t>
            </a:r>
            <a:r>
              <a:rPr lang="en-US" sz="1200" kern="1200" dirty="0">
                <a:solidFill>
                  <a:schemeClr val="tx1"/>
                </a:solidFill>
                <a:latin typeface="+mn-lt"/>
                <a:ea typeface="+mn-ea"/>
                <a:cs typeface="+mn-cs"/>
              </a:rPr>
              <a:t>, received signal strength indicator (RSSI) is a measurement of the </a:t>
            </a:r>
            <a:r>
              <a:rPr lang="en-US" sz="1200" kern="1200" dirty="0">
                <a:solidFill>
                  <a:schemeClr val="tx1"/>
                </a:solidFill>
                <a:latin typeface="+mn-lt"/>
                <a:ea typeface="+mn-ea"/>
                <a:cs typeface="+mn-cs"/>
                <a:hlinkClick r:id="rId4" tooltip="Electric power">
                  <a:extLst>
                    <a:ext uri="{A12FA001-AC4F-418D-AE19-62706E023703}">
                      <ahyp:hlinkClr xmlns:ahyp="http://schemas.microsoft.com/office/drawing/2018/hyperlinkcolor" val="tx"/>
                    </a:ext>
                  </a:extLst>
                </a:hlinkClick>
              </a:rPr>
              <a:t>power</a:t>
            </a:r>
            <a:r>
              <a:rPr lang="en-US" sz="1200" kern="1200" dirty="0">
                <a:solidFill>
                  <a:schemeClr val="tx1"/>
                </a:solidFill>
                <a:latin typeface="+mn-lt"/>
                <a:ea typeface="+mn-ea"/>
                <a:cs typeface="+mn-cs"/>
              </a:rPr>
              <a:t> present in a received </a:t>
            </a:r>
            <a:r>
              <a:rPr lang="en-US" sz="1200" kern="1200" dirty="0">
                <a:solidFill>
                  <a:schemeClr val="tx1"/>
                </a:solidFill>
                <a:latin typeface="+mn-lt"/>
                <a:ea typeface="+mn-ea"/>
                <a:cs typeface="+mn-cs"/>
                <a:hlinkClick r:id="rId5" tooltip="Radio">
                  <a:extLst>
                    <a:ext uri="{A12FA001-AC4F-418D-AE19-62706E023703}">
                      <ahyp:hlinkClr xmlns:ahyp="http://schemas.microsoft.com/office/drawing/2018/hyperlinkcolor" val="tx"/>
                    </a:ext>
                  </a:extLst>
                </a:hlinkClick>
              </a:rPr>
              <a:t>radio</a:t>
            </a:r>
            <a:r>
              <a:rPr lang="en-US" sz="1200" kern="1200" dirty="0">
                <a:solidFill>
                  <a:schemeClr val="tx1"/>
                </a:solidFill>
                <a:latin typeface="+mn-lt"/>
                <a:ea typeface="+mn-ea"/>
                <a:cs typeface="+mn-cs"/>
              </a:rPr>
              <a:t> signal</a:t>
            </a:r>
            <a:r>
              <a:rPr lang="en-US" sz="1200" b="0" i="0" kern="1200" dirty="0">
                <a:solidFill>
                  <a:schemeClr val="tx1"/>
                </a:solidFill>
                <a:effectLst/>
                <a:latin typeface="+mn-lt"/>
                <a:ea typeface="+mn-ea"/>
                <a:cs typeface="+mn-cs"/>
              </a:rPr>
              <a:t>.</a:t>
            </a:r>
            <a:endParaRPr lang="en-US" dirty="0"/>
          </a:p>
          <a:p>
            <a:r>
              <a:rPr lang="en-US" dirty="0"/>
              <a:t>The output level of the CC2538 transmitter can be adjusted between 0 and -24 dBm.</a:t>
            </a:r>
          </a:p>
          <a:p>
            <a:r>
              <a:rPr lang="en-US" dirty="0"/>
              <a:t>The receiver can</a:t>
            </a:r>
            <a:r>
              <a:rPr lang="en-US" baseline="0" dirty="0"/>
              <a:t> work properly with input signals between +7 dBm and -97 dBm.  </a:t>
            </a:r>
          </a:p>
          <a:p>
            <a:endParaRPr lang="en-US" baseline="0" dirty="0"/>
          </a:p>
          <a:p>
            <a:r>
              <a:rPr lang="en-US" sz="1200" b="0" i="0" kern="1200" dirty="0">
                <a:solidFill>
                  <a:schemeClr val="tx1"/>
                </a:solidFill>
                <a:effectLst/>
                <a:latin typeface="+mn-lt"/>
                <a:ea typeface="+mn-ea"/>
                <a:cs typeface="+mn-cs"/>
              </a:rPr>
              <a:t>A power level of 0 dBm corresponds to a power of 1 milliwatt. A 10 dB increase in level is equivalent to a 10-fold increase in power. Therefore, a 20 dB increase in level is equivalent to a 100-fold increase in power. A 3 dB increase in level is approximately equivalent to doubling the power, which means that a level of 3 dBm corresponds roughly to a power of 2 </a:t>
            </a:r>
            <a:r>
              <a:rPr lang="en-US" sz="1200" b="0" i="0" kern="1200" dirty="0" err="1">
                <a:solidFill>
                  <a:schemeClr val="tx1"/>
                </a:solidFill>
                <a:effectLst/>
                <a:latin typeface="+mn-lt"/>
                <a:ea typeface="+mn-ea"/>
                <a:cs typeface="+mn-cs"/>
              </a:rPr>
              <a:t>mW</a:t>
            </a:r>
            <a:r>
              <a:rPr lang="en-US" sz="1200" b="0" i="0" kern="1200" dirty="0">
                <a:solidFill>
                  <a:schemeClr val="tx1"/>
                </a:solidFill>
                <a:effectLst/>
                <a:latin typeface="+mn-lt"/>
                <a:ea typeface="+mn-ea"/>
                <a:cs typeface="+mn-cs"/>
              </a:rPr>
              <a:t>. Similarly, for each 3 dB decrease in level, the power is reduced by about one half, making −3 dBm correspond to a power of about 0.5 </a:t>
            </a:r>
            <a:r>
              <a:rPr lang="en-US" sz="1200" b="0" i="0" kern="1200" dirty="0" err="1">
                <a:solidFill>
                  <a:schemeClr val="tx1"/>
                </a:solidFill>
                <a:effectLst/>
                <a:latin typeface="+mn-lt"/>
                <a:ea typeface="+mn-ea"/>
                <a:cs typeface="+mn-cs"/>
              </a:rPr>
              <a:t>mW</a:t>
            </a:r>
            <a:r>
              <a:rPr lang="en-US" sz="1200" b="0" i="0" kern="1200" dirty="0">
                <a:solidFill>
                  <a:schemeClr val="tx1"/>
                </a:solidFill>
                <a:effectLst/>
                <a:latin typeface="+mn-lt"/>
                <a:ea typeface="+mn-ea"/>
                <a:cs typeface="+mn-cs"/>
              </a:rPr>
              <a:t>.</a:t>
            </a:r>
            <a:endParaRPr lang="en-US" baseline="0" dirty="0"/>
          </a:p>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8</a:t>
            </a:fld>
            <a:endParaRPr lang="en-US"/>
          </a:p>
        </p:txBody>
      </p:sp>
    </p:spTree>
    <p:extLst>
      <p:ext uri="{BB962C8B-B14F-4D97-AF65-F5344CB8AC3E}">
        <p14:creationId xmlns:p14="http://schemas.microsoft.com/office/powerpoint/2010/main" val="2342562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76BB8AF7-9034-4935-8E5D-D2714D8594A3}" type="slidenum">
              <a:rPr lang="en-US" smtClean="0"/>
              <a:t>9</a:t>
            </a:fld>
            <a:endParaRPr lang="en-US"/>
          </a:p>
        </p:txBody>
      </p:sp>
    </p:spTree>
    <p:extLst>
      <p:ext uri="{BB962C8B-B14F-4D97-AF65-F5344CB8AC3E}">
        <p14:creationId xmlns:p14="http://schemas.microsoft.com/office/powerpoint/2010/main" val="2734532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802.15.4 standard</a:t>
            </a:r>
            <a:r>
              <a:rPr lang="en-US" baseline="0" dirty="0"/>
              <a:t> defines frames whose length can vary between 12 and 133 bytes.</a:t>
            </a:r>
          </a:p>
          <a:p>
            <a:r>
              <a:rPr lang="en-US" baseline="0" dirty="0"/>
              <a:t>The first 6 bytes of each frame belong to the physical layer: the first 4 bytes are used to synchronize the receiver clock and the 5</a:t>
            </a:r>
            <a:r>
              <a:rPr lang="en-US" baseline="30000" dirty="0"/>
              <a:t>th</a:t>
            </a:r>
            <a:r>
              <a:rPr lang="en-US" baseline="0" dirty="0"/>
              <a:t> to announce the end of the synchronization phase. The 6</a:t>
            </a:r>
            <a:r>
              <a:rPr lang="en-US" baseline="30000" dirty="0"/>
              <a:t>th</a:t>
            </a:r>
            <a:r>
              <a:rPr lang="en-US" baseline="0" dirty="0"/>
              <a:t> gives the length of the subsequent part of the frame (MAC protocol Data Unit). This length does not include the length field itself and has a maximum value of 127. The most significant bit of the length field is always 0.</a:t>
            </a:r>
          </a:p>
          <a:p>
            <a:r>
              <a:rPr lang="en-US" baseline="0" dirty="0"/>
              <a:t>All subsequent bytes form the MPDU. The first two bytes of the MPDU are the Frame control field, which defines the format and the meaning of the other parts of the MPDU.</a:t>
            </a:r>
          </a:p>
          <a:p>
            <a:r>
              <a:rPr lang="en-US" baseline="0" dirty="0"/>
              <a:t>The third byte is a data sequence number that can be used to identify successive frames in a connection oriented link.</a:t>
            </a:r>
          </a:p>
          <a:p>
            <a:r>
              <a:rPr lang="en-US" baseline="0" dirty="0"/>
              <a:t>The data sequence number is followed by an optional address field that can have a length of max. 20 bytes, as determined by the frame control field.</a:t>
            </a:r>
          </a:p>
          <a:p>
            <a:r>
              <a:rPr lang="en-US" baseline="0" dirty="0"/>
              <a:t>The two last bytes of the MPDU are the Frame Check Sequence computed over the entire MPDU (not the Frame Length). </a:t>
            </a: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11</a:t>
            </a:fld>
            <a:endParaRPr lang="en-US"/>
          </a:p>
        </p:txBody>
      </p:sp>
    </p:spTree>
    <p:extLst>
      <p:ext uri="{BB962C8B-B14F-4D97-AF65-F5344CB8AC3E}">
        <p14:creationId xmlns:p14="http://schemas.microsoft.com/office/powerpoint/2010/main" val="2345481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verify results obtained through simulations, we go</a:t>
            </a:r>
            <a:r>
              <a:rPr lang="en-US" baseline="0" dirty="0"/>
              <a:t> to the countryside, far from radio interferences.</a:t>
            </a: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12</a:t>
            </a:fld>
            <a:endParaRPr lang="en-US"/>
          </a:p>
        </p:txBody>
      </p:sp>
    </p:spTree>
    <p:extLst>
      <p:ext uri="{BB962C8B-B14F-4D97-AF65-F5344CB8AC3E}">
        <p14:creationId xmlns:p14="http://schemas.microsoft.com/office/powerpoint/2010/main" val="296139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13</a:t>
            </a:fld>
            <a:endParaRPr lang="en-US"/>
          </a:p>
        </p:txBody>
      </p:sp>
    </p:spTree>
    <p:extLst>
      <p:ext uri="{BB962C8B-B14F-4D97-AF65-F5344CB8AC3E}">
        <p14:creationId xmlns:p14="http://schemas.microsoft.com/office/powerpoint/2010/main" val="725501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Contiki</a:t>
            </a:r>
            <a:r>
              <a:rPr lang="en-US" dirty="0"/>
              <a:t> uses</a:t>
            </a:r>
            <a:r>
              <a:rPr lang="en-US" baseline="0" dirty="0"/>
              <a:t> a MAC layer with underneath, above the physical layer, a Radio Duty Cycle layer.</a:t>
            </a:r>
          </a:p>
          <a:p>
            <a:r>
              <a:rPr lang="en-US" baseline="0" dirty="0"/>
              <a:t>For the MAC layer, two options are available:</a:t>
            </a:r>
          </a:p>
          <a:p>
            <a:pPr marL="171450" indent="-171450">
              <a:buFontTx/>
              <a:buChar char="-"/>
            </a:pPr>
            <a:r>
              <a:rPr lang="en-US" baseline="0" dirty="0"/>
              <a:t>CSMA : this is the default option, it can retransmit a frame when a collision is detected by the RDC layer.</a:t>
            </a:r>
          </a:p>
          <a:p>
            <a:pPr marL="171450" indent="-171450">
              <a:buFontTx/>
              <a:buChar char="-"/>
            </a:pPr>
            <a:r>
              <a:rPr lang="en-US" baseline="0" dirty="0" err="1"/>
              <a:t>NullMAC</a:t>
            </a:r>
            <a:r>
              <a:rPr lang="en-US" baseline="0" dirty="0"/>
              <a:t> : this MAC layer is just an empty interface between the upper layers and the RDC layer.</a:t>
            </a:r>
            <a:endParaRPr lang="en-US" dirty="0"/>
          </a:p>
          <a:p>
            <a:r>
              <a:rPr lang="en-US" dirty="0"/>
              <a:t>For</a:t>
            </a:r>
            <a:r>
              <a:rPr lang="en-US" baseline="0" dirty="0"/>
              <a:t> the RDC layer, 4 different options are available:</a:t>
            </a:r>
          </a:p>
          <a:p>
            <a:pPr marL="171450" indent="-171450">
              <a:buFontTx/>
              <a:buChar char="-"/>
            </a:pPr>
            <a:r>
              <a:rPr lang="en-US" baseline="0" dirty="0" err="1"/>
              <a:t>ContikiMAC</a:t>
            </a:r>
            <a:r>
              <a:rPr lang="en-US" baseline="0" dirty="0"/>
              <a:t>: this is the default option, heavily optimized for IEEE 802.15.4 frames and the CC2420 radio.</a:t>
            </a:r>
          </a:p>
          <a:p>
            <a:pPr marL="171450" indent="-171450">
              <a:buFontTx/>
              <a:buChar char="-"/>
            </a:pPr>
            <a:r>
              <a:rPr lang="en-US" baseline="0" dirty="0"/>
              <a:t>X-MAC : Older RDC protocol, with less stringent timing constraints than </a:t>
            </a:r>
            <a:r>
              <a:rPr lang="en-US" baseline="0" dirty="0" err="1"/>
              <a:t>ContikiMAC</a:t>
            </a:r>
            <a:r>
              <a:rPr lang="en-US" baseline="0" dirty="0"/>
              <a:t>, but often less performing from a power point of view.</a:t>
            </a:r>
          </a:p>
          <a:p>
            <a:pPr marL="171450" indent="-171450">
              <a:buFontTx/>
              <a:buChar char="-"/>
            </a:pPr>
            <a:r>
              <a:rPr lang="en-US" baseline="0" dirty="0"/>
              <a:t>LPP : Low Power Probing is a simple, receiver initiated, RDC protocol that can be useful to understand the principles of radio-duty-cycling.</a:t>
            </a:r>
          </a:p>
          <a:p>
            <a:pPr marL="171450" indent="-171450">
              <a:buFontTx/>
              <a:buChar char="-"/>
            </a:pPr>
            <a:r>
              <a:rPr lang="en-US" baseline="0" dirty="0" err="1"/>
              <a:t>NullRDC</a:t>
            </a:r>
            <a:r>
              <a:rPr lang="en-US" baseline="0" dirty="0"/>
              <a:t> : is an alternative RDC protocol that leaves the radio always on…</a:t>
            </a:r>
          </a:p>
          <a:p>
            <a:pPr marL="0" indent="0">
              <a:buFontTx/>
              <a:buNone/>
            </a:pPr>
            <a:r>
              <a:rPr lang="en-US" baseline="0" dirty="0"/>
              <a:t>The MAC and RDC drivers are selected by means of the </a:t>
            </a:r>
            <a:r>
              <a:rPr lang="en-US" baseline="0" dirty="0" err="1"/>
              <a:t>contiki-conf.h</a:t>
            </a:r>
            <a:r>
              <a:rPr lang="en-US" baseline="0" dirty="0"/>
              <a:t> file.</a:t>
            </a:r>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14</a:t>
            </a:fld>
            <a:endParaRPr lang="en-US"/>
          </a:p>
        </p:txBody>
      </p:sp>
    </p:spTree>
    <p:extLst>
      <p:ext uri="{BB962C8B-B14F-4D97-AF65-F5344CB8AC3E}">
        <p14:creationId xmlns:p14="http://schemas.microsoft.com/office/powerpoint/2010/main" val="2901252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Directly sends</a:t>
            </a:r>
            <a:r>
              <a:rPr lang="en-US" sz="2400" baseline="0" dirty="0"/>
              <a:t> (through the RDC layer)</a:t>
            </a:r>
            <a:r>
              <a:rPr lang="en-US" sz="2400" dirty="0"/>
              <a:t> broadcast packets</a:t>
            </a:r>
          </a:p>
          <a:p>
            <a:r>
              <a:rPr lang="en-US" sz="2400" dirty="0"/>
              <a:t>Puts unicast packets in a queue associated with each neighbor.</a:t>
            </a:r>
          </a:p>
          <a:p>
            <a:pPr lvl="1"/>
            <a:r>
              <a:rPr lang="en-US" sz="2400" dirty="0"/>
              <a:t>Drops packets when queue is full</a:t>
            </a:r>
          </a:p>
          <a:p>
            <a:pPr lvl="1"/>
            <a:r>
              <a:rPr lang="en-US" sz="2400" dirty="0"/>
              <a:t>Whenever possible, sends </a:t>
            </a:r>
            <a:r>
              <a:rPr lang="en-US" sz="2400" baseline="0" dirty="0"/>
              <a:t>(through the RDC layer)</a:t>
            </a:r>
            <a:r>
              <a:rPr lang="en-US" sz="2400" dirty="0"/>
              <a:t> the first packet of each queue</a:t>
            </a:r>
          </a:p>
          <a:p>
            <a:pPr lvl="1"/>
            <a:r>
              <a:rPr lang="en-US" sz="2400" dirty="0"/>
              <a:t>Removes packet from queue when packet is acknowledged</a:t>
            </a:r>
          </a:p>
          <a:p>
            <a:pPr lvl="1"/>
            <a:r>
              <a:rPr lang="en-US" sz="2400" dirty="0"/>
              <a:t>When a packet is not acknowledged or if a collision is detected, wait a  random time growing linearly with the number of retransmissions and try to retransmit the packet. The linear growth stops</a:t>
            </a:r>
            <a:r>
              <a:rPr lang="en-US" sz="2400" baseline="0" dirty="0"/>
              <a:t> after 3 retransmissions, and the packet is dropped. This maximum of 3 retransmissions refers to the number of times a frame is given to the RDC layer for transmission. Some RDC layers transmit themselves a frame many times.  </a:t>
            </a:r>
          </a:p>
          <a:p>
            <a:pPr lvl="1"/>
            <a:endParaRPr lang="en-US" sz="2400" dirty="0"/>
          </a:p>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15</a:t>
            </a:fld>
            <a:endParaRPr lang="en-US"/>
          </a:p>
        </p:txBody>
      </p:sp>
    </p:spTree>
    <p:extLst>
      <p:ext uri="{BB962C8B-B14F-4D97-AF65-F5344CB8AC3E}">
        <p14:creationId xmlns:p14="http://schemas.microsoft.com/office/powerpoint/2010/main" val="2901252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Directly sends all packets</a:t>
            </a:r>
          </a:p>
          <a:p>
            <a:r>
              <a:rPr lang="en-US" sz="1200" dirty="0"/>
              <a:t>This set of functions implements the same functions as the CSMA driver, but the functions don’t perform any task except the blind transmission of packets</a:t>
            </a:r>
          </a:p>
          <a:p>
            <a:endParaRPr lang="en-US" sz="1200" dirty="0"/>
          </a:p>
          <a:p>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16</a:t>
            </a:fld>
            <a:endParaRPr lang="en-US"/>
          </a:p>
        </p:txBody>
      </p:sp>
    </p:spTree>
    <p:extLst>
      <p:ext uri="{BB962C8B-B14F-4D97-AF65-F5344CB8AC3E}">
        <p14:creationId xmlns:p14="http://schemas.microsoft.com/office/powerpoint/2010/main" val="2901252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This is an implementation of the LPP (Low-Power Probing) MAC protocol. </a:t>
            </a:r>
            <a:br>
              <a:rPr lang="en-US" sz="1200" dirty="0"/>
            </a:br>
            <a:r>
              <a:rPr lang="en-US" sz="1200" dirty="0"/>
              <a:t>LPP is a power-saving MAC protocol that works by broadcasting a probe frame each time the radio is turned on.</a:t>
            </a:r>
            <a:br>
              <a:rPr lang="en-US" sz="1200" dirty="0"/>
            </a:br>
            <a:r>
              <a:rPr lang="en-US" sz="1200" dirty="0"/>
              <a:t> If another node wants to transmit a frame, it can do so after hearing the probe from the destination receiver. </a:t>
            </a:r>
            <a:br>
              <a:rPr lang="en-US" sz="1200" dirty="0"/>
            </a:br>
            <a:r>
              <a:rPr lang="en-US" sz="1200" dirty="0"/>
              <a:t>To send a frame, the sending node turns on its radio to  listen for probes coming from the destination. </a:t>
            </a:r>
          </a:p>
          <a:p>
            <a:r>
              <a:rPr lang="en-US" sz="1200" dirty="0"/>
              <a:t>Reference : </a:t>
            </a:r>
            <a:br>
              <a:rPr lang="en-US" sz="1200" dirty="0"/>
            </a:br>
            <a:r>
              <a:rPr lang="en-US" sz="1200" kern="1200" dirty="0">
                <a:solidFill>
                  <a:schemeClr val="tx1"/>
                </a:solidFill>
                <a:latin typeface="+mn-lt"/>
                <a:ea typeface="+mn-ea"/>
                <a:cs typeface="+mn-cs"/>
              </a:rPr>
              <a:t>Low power probing (R. </a:t>
            </a:r>
            <a:r>
              <a:rPr lang="en-US" sz="1200" kern="1200" dirty="0" err="1">
                <a:solidFill>
                  <a:schemeClr val="tx1"/>
                </a:solidFill>
                <a:latin typeface="+mn-lt"/>
                <a:ea typeface="+mn-ea"/>
                <a:cs typeface="+mn-cs"/>
              </a:rPr>
              <a:t>Musaloiu-Elefteri</a:t>
            </a:r>
            <a:r>
              <a:rPr lang="en-US" sz="1200" kern="1200" dirty="0">
                <a:solidFill>
                  <a:schemeClr val="tx1"/>
                </a:solidFill>
                <a:latin typeface="+mn-lt"/>
                <a:ea typeface="+mn-ea"/>
                <a:cs typeface="+mn-cs"/>
              </a:rPr>
              <a:t>, C. Liang,</a:t>
            </a:r>
            <a:r>
              <a:rPr lang="it-IT" sz="1200" kern="1200" dirty="0">
                <a:solidFill>
                  <a:schemeClr val="tx1"/>
                </a:solidFill>
                <a:latin typeface="+mn-lt"/>
                <a:ea typeface="+mn-ea"/>
                <a:cs typeface="+mn-cs"/>
              </a:rPr>
              <a:t> A. Terzis. Koala: Ultra-Low Power Data Retrieval in</a:t>
            </a:r>
            <a:r>
              <a:rPr lang="en-US" sz="1200" kern="1200" dirty="0">
                <a:solidFill>
                  <a:schemeClr val="tx1"/>
                </a:solidFill>
                <a:latin typeface="+mn-lt"/>
                <a:ea typeface="+mn-ea"/>
                <a:cs typeface="+mn-cs"/>
              </a:rPr>
              <a:t> Wireless Sensor Networks, IPSN 2008)</a:t>
            </a:r>
          </a:p>
          <a:p>
            <a:br>
              <a:rPr lang="en-US" sz="1200" dirty="0"/>
            </a:b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17</a:t>
            </a:fld>
            <a:endParaRPr lang="en-US"/>
          </a:p>
        </p:txBody>
      </p:sp>
    </p:spTree>
    <p:extLst>
      <p:ext uri="{BB962C8B-B14F-4D97-AF65-F5344CB8AC3E}">
        <p14:creationId xmlns:p14="http://schemas.microsoft.com/office/powerpoint/2010/main" val="3304589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200" dirty="0"/>
            </a:b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18</a:t>
            </a:fld>
            <a:endParaRPr lang="en-US"/>
          </a:p>
        </p:txBody>
      </p:sp>
    </p:spTree>
    <p:extLst>
      <p:ext uri="{BB962C8B-B14F-4D97-AF65-F5344CB8AC3E}">
        <p14:creationId xmlns:p14="http://schemas.microsoft.com/office/powerpoint/2010/main" val="26566814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t>The sender, when it needs to send a data</a:t>
            </a:r>
            <a:r>
              <a:rPr lang="en-US" sz="1200" b="0" baseline="0" dirty="0"/>
              <a:t> frame</a:t>
            </a:r>
            <a:r>
              <a:rPr lang="en-US" sz="1200" b="0" dirty="0"/>
              <a:t>, sends repeatedly a short probe that contains the destination address, leaving a random time interval between probes to allow other candidate senders to try their chance. </a:t>
            </a:r>
          </a:p>
          <a:p>
            <a:r>
              <a:rPr lang="en-US" sz="1200" b="0" dirty="0"/>
              <a:t>When the intended receiver wakes up, it answers with an </a:t>
            </a:r>
            <a:r>
              <a:rPr lang="en-US" sz="1200" b="0" dirty="0" err="1"/>
              <a:t>Ack</a:t>
            </a:r>
            <a:r>
              <a:rPr lang="en-US" sz="1200" b="0" dirty="0"/>
              <a:t> and stays awake.</a:t>
            </a:r>
          </a:p>
          <a:p>
            <a:r>
              <a:rPr lang="en-US" sz="1200" b="0" dirty="0"/>
              <a:t>When the sender receives that </a:t>
            </a:r>
            <a:r>
              <a:rPr lang="en-US" sz="1200" b="0" dirty="0" err="1"/>
              <a:t>Ack</a:t>
            </a:r>
            <a:r>
              <a:rPr lang="en-US" sz="1200" b="0" dirty="0"/>
              <a:t>, it sends its frame.</a:t>
            </a:r>
          </a:p>
          <a:p>
            <a:r>
              <a:rPr lang="en-US" sz="1200" b="0" dirty="0"/>
              <a:t>When the receiver has stored the frame it sends an </a:t>
            </a:r>
            <a:r>
              <a:rPr lang="en-US" sz="1200" b="0" dirty="0" err="1"/>
              <a:t>Ack</a:t>
            </a:r>
            <a:r>
              <a:rPr lang="en-US" sz="1200" b="0" dirty="0"/>
              <a:t> and returns to sleep.</a:t>
            </a:r>
          </a:p>
          <a:p>
            <a:r>
              <a:rPr lang="en-US" sz="1200" b="0" dirty="0"/>
              <a:t>Reference : </a:t>
            </a:r>
            <a:br>
              <a:rPr lang="en-US" sz="1200" b="0" dirty="0"/>
            </a:br>
            <a:r>
              <a:rPr lang="en-US" sz="1200" b="0" dirty="0"/>
              <a:t>Michael </a:t>
            </a:r>
            <a:r>
              <a:rPr lang="en-US" sz="1200" b="0" dirty="0" err="1"/>
              <a:t>Buettner</a:t>
            </a:r>
            <a:r>
              <a:rPr lang="en-US" sz="1200" b="0" dirty="0"/>
              <a:t>, Gary V. Yee, Eric Anderson, Richard Han; X-MAC: A Short Preamble MAC Protocol for Duty-Cycled Wireless Sensor Networks.</a:t>
            </a:r>
            <a:br>
              <a:rPr lang="en-US" sz="1200" b="0" dirty="0"/>
            </a:br>
            <a:r>
              <a:rPr lang="en-US" sz="1200" b="0" dirty="0"/>
              <a:t>SenSys’06, November 1–3, 2006, Boulder, Colorado, USA.</a:t>
            </a:r>
          </a:p>
          <a:p>
            <a:endParaRPr lang="en-US" b="0" dirty="0"/>
          </a:p>
        </p:txBody>
      </p:sp>
      <p:sp>
        <p:nvSpPr>
          <p:cNvPr id="4" name="Slide Number Placeholder 3"/>
          <p:cNvSpPr>
            <a:spLocks noGrp="1"/>
          </p:cNvSpPr>
          <p:nvPr>
            <p:ph type="sldNum" sz="quarter" idx="10"/>
          </p:nvPr>
        </p:nvSpPr>
        <p:spPr/>
        <p:txBody>
          <a:bodyPr/>
          <a:lstStyle/>
          <a:p>
            <a:fld id="{76BB8AF7-9034-4935-8E5D-D2714D8594A3}" type="slidenum">
              <a:rPr lang="en-US" smtClean="0"/>
              <a:t>19</a:t>
            </a:fld>
            <a:endParaRPr lang="en-US"/>
          </a:p>
        </p:txBody>
      </p:sp>
    </p:spTree>
    <p:extLst>
      <p:ext uri="{BB962C8B-B14F-4D97-AF65-F5344CB8AC3E}">
        <p14:creationId xmlns:p14="http://schemas.microsoft.com/office/powerpoint/2010/main" val="3304589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 name="PlaceHolder 1"/>
          <p:cNvSpPr>
            <a:spLocks noGrp="1"/>
          </p:cNvSpPr>
          <p:nvPr>
            <p:ph type="body"/>
          </p:nvPr>
        </p:nvSpPr>
        <p:spPr>
          <a:xfrm>
            <a:off x="0" y="0"/>
            <a:ext cx="357" cy="391"/>
          </a:xfrm>
          <a:prstGeom prst="rect">
            <a:avLst/>
          </a:prstGeom>
        </p:spPr>
        <p:txBody>
          <a:bodyPr lIns="90000" tIns="45000" rIns="90000" bIns="45000"/>
          <a:lstStyle/>
          <a:p>
            <a:r>
              <a:rPr lang="en-US"/>
              <a:t>As broadcast frames can not be acknowledged (the ACKs would collide with each other) the transmitter retransmits the frame for the whole duration of a receiver wake-up cycle.</a:t>
            </a:r>
            <a:endParaRPr/>
          </a:p>
        </p:txBody>
      </p:sp>
      <p:sp>
        <p:nvSpPr>
          <p:cNvPr id="871" name="TextShape 2"/>
          <p:cNvSpPr txBox="1"/>
          <p:nvPr/>
        </p:nvSpPr>
        <p:spPr>
          <a:xfrm>
            <a:off x="0" y="0"/>
            <a:ext cx="357" cy="391"/>
          </a:xfrm>
          <a:prstGeom prst="rect">
            <a:avLst/>
          </a:prstGeom>
        </p:spPr>
        <p:txBody>
          <a:bodyPr lIns="90000" tIns="45000" rIns="90000" bIns="45000"/>
          <a:lstStyle/>
          <a:p>
            <a:pPr>
              <a:lnSpc>
                <a:spcPct val="100000"/>
              </a:lnSpc>
            </a:pPr>
            <a:fld id="{4171C1A1-0141-4171-9191-61B18191D121}" type="slidenum">
              <a:rPr lang="en-US">
                <a:solidFill>
                  <a:srgbClr val="000000"/>
                </a:solidFill>
                <a:latin typeface="+mn-lt"/>
                <a:ea typeface="+mn-ea"/>
              </a:rPr>
              <a:t>20</a:t>
            </a:fld>
            <a:endParaRPr/>
          </a:p>
        </p:txBody>
      </p:sp>
    </p:spTree>
    <p:extLst>
      <p:ext uri="{BB962C8B-B14F-4D97-AF65-F5344CB8AC3E}">
        <p14:creationId xmlns:p14="http://schemas.microsoft.com/office/powerpoint/2010/main" val="3240603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contikiMAC</a:t>
            </a:r>
            <a:r>
              <a:rPr lang="en-US" dirty="0"/>
              <a:t> protocol implements an original radio duty cycling protocol optimized for the CC2420 radio chip.</a:t>
            </a:r>
          </a:p>
          <a:p>
            <a:r>
              <a:rPr lang="en-US" dirty="0"/>
              <a:t>Most of the time the receiver sleeps, but a few times per second (default value = 8) the receiver wakes</a:t>
            </a:r>
            <a:r>
              <a:rPr lang="en-US" baseline="0" dirty="0"/>
              <a:t> up to perform two consecutive Clear Channel Assessments (CCAs) A CCA consists in switching on the radio for approximately 200µs and evaluating the level of radio activity (RSSI).</a:t>
            </a:r>
          </a:p>
          <a:p>
            <a:r>
              <a:rPr lang="en-US" baseline="0" dirty="0"/>
              <a:t>If these CCAs observe no radio-activity above a predetermined threshold the receiver returns to sleep.</a:t>
            </a:r>
          </a:p>
          <a:p>
            <a:r>
              <a:rPr lang="en-US" baseline="0" dirty="0"/>
              <a:t>The transmitter, when it has to transmit a frame, transmits that frame repeatedly, for a duration longer than the predefined sleep period of the receiver or until a frame is acknowledged.</a:t>
            </a:r>
          </a:p>
          <a:p>
            <a:r>
              <a:rPr lang="en-US" baseline="0" dirty="0"/>
              <a:t>When a CCA detects radio-activity, the receiver stays awake and waits till it has received an entire and correct frame. When that has happened, the receiver requests the transmission of an </a:t>
            </a:r>
            <a:r>
              <a:rPr lang="en-US" baseline="0" dirty="0" err="1"/>
              <a:t>Ack</a:t>
            </a:r>
            <a:r>
              <a:rPr lang="en-US" baseline="0" dirty="0"/>
              <a:t> and returns to sleep.</a:t>
            </a:r>
          </a:p>
          <a:p>
            <a:r>
              <a:rPr lang="en-US" baseline="0" dirty="0"/>
              <a:t>Reference :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Adam </a:t>
            </a:r>
            <a:r>
              <a:rPr lang="en-US" dirty="0" err="1"/>
              <a:t>Dunkels</a:t>
            </a:r>
            <a:r>
              <a:rPr lang="en-US" dirty="0"/>
              <a:t>; The </a:t>
            </a:r>
            <a:r>
              <a:rPr lang="en-US" dirty="0" err="1"/>
              <a:t>ContikiMAC</a:t>
            </a:r>
            <a:r>
              <a:rPr lang="en-US" dirty="0"/>
              <a:t> Radio Duty Cycling Protocol, SICS Technical Report T2011:13, ISSN 1100-3154, 2011.</a:t>
            </a:r>
          </a:p>
        </p:txBody>
      </p:sp>
      <p:sp>
        <p:nvSpPr>
          <p:cNvPr id="4" name="Slide Number Placeholder 3"/>
          <p:cNvSpPr>
            <a:spLocks noGrp="1"/>
          </p:cNvSpPr>
          <p:nvPr>
            <p:ph type="sldNum" sz="quarter" idx="10"/>
          </p:nvPr>
        </p:nvSpPr>
        <p:spPr/>
        <p:txBody>
          <a:bodyPr/>
          <a:lstStyle/>
          <a:p>
            <a:fld id="{76BB8AF7-9034-4935-8E5D-D2714D8594A3}" type="slidenum">
              <a:rPr lang="en-US" smtClean="0"/>
              <a:t>21</a:t>
            </a:fld>
            <a:endParaRPr lang="en-US"/>
          </a:p>
        </p:txBody>
      </p:sp>
    </p:spTree>
    <p:extLst>
      <p:ext uri="{BB962C8B-B14F-4D97-AF65-F5344CB8AC3E}">
        <p14:creationId xmlns:p14="http://schemas.microsoft.com/office/powerpoint/2010/main" val="29012524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 name="PlaceHolder 1"/>
          <p:cNvSpPr>
            <a:spLocks noGrp="1"/>
          </p:cNvSpPr>
          <p:nvPr>
            <p:ph type="body"/>
          </p:nvPr>
        </p:nvSpPr>
        <p:spPr>
          <a:xfrm>
            <a:off x="0" y="0"/>
            <a:ext cx="357" cy="391"/>
          </a:xfrm>
          <a:prstGeom prst="rect">
            <a:avLst/>
          </a:prstGeom>
        </p:spPr>
        <p:txBody>
          <a:bodyPr lIns="90000" tIns="45000" rIns="90000" bIns="45000"/>
          <a:lstStyle/>
          <a:p>
            <a:r>
              <a:rPr lang="en-US"/>
              <a:t>As broadcast frames can not be acknowledged (the ACKs would collide with each other) the transmitter retransmits the frame for the whole duration of a receiver wake-up cycle.</a:t>
            </a:r>
            <a:endParaRPr/>
          </a:p>
        </p:txBody>
      </p:sp>
      <p:sp>
        <p:nvSpPr>
          <p:cNvPr id="871" name="TextShape 2"/>
          <p:cNvSpPr txBox="1"/>
          <p:nvPr/>
        </p:nvSpPr>
        <p:spPr>
          <a:xfrm>
            <a:off x="0" y="0"/>
            <a:ext cx="357" cy="391"/>
          </a:xfrm>
          <a:prstGeom prst="rect">
            <a:avLst/>
          </a:prstGeom>
        </p:spPr>
        <p:txBody>
          <a:bodyPr lIns="90000" tIns="45000" rIns="90000" bIns="45000"/>
          <a:lstStyle/>
          <a:p>
            <a:pPr>
              <a:lnSpc>
                <a:spcPct val="100000"/>
              </a:lnSpc>
            </a:pPr>
            <a:fld id="{4171C1A1-0141-4171-9191-61B18191D121}" type="slidenum">
              <a:rPr lang="en-US">
                <a:solidFill>
                  <a:srgbClr val="000000"/>
                </a:solidFill>
                <a:latin typeface="+mn-lt"/>
                <a:ea typeface="+mn-ea"/>
              </a:rPr>
              <a:t>22</a:t>
            </a:fld>
            <a:endParaRPr/>
          </a:p>
        </p:txBody>
      </p:sp>
    </p:spTree>
    <p:extLst>
      <p:ext uri="{BB962C8B-B14F-4D97-AF65-F5344CB8AC3E}">
        <p14:creationId xmlns:p14="http://schemas.microsoft.com/office/powerpoint/2010/main" val="1186921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it necessary to perform two consecutive</a:t>
            </a:r>
            <a:r>
              <a:rPr lang="en-US" baseline="0" dirty="0"/>
              <a:t> CCAs?</a:t>
            </a:r>
          </a:p>
          <a:p>
            <a:r>
              <a:rPr lang="en-US" baseline="0" dirty="0"/>
              <a:t>Between retransmissions, the sender waits a predefined time </a:t>
            </a:r>
            <a:r>
              <a:rPr lang="en-US" baseline="0" dirty="0" err="1"/>
              <a:t>tj</a:t>
            </a:r>
            <a:r>
              <a:rPr lang="en-US" baseline="0" dirty="0"/>
              <a:t> . If a CCA would be performed during that interval, no radio-activity would be detected, while the transmitter is attempting to get a frame through!</a:t>
            </a:r>
          </a:p>
          <a:p>
            <a:r>
              <a:rPr lang="en-US" baseline="0" dirty="0"/>
              <a:t>Therefore </a:t>
            </a:r>
            <a:r>
              <a:rPr lang="en-US" baseline="0" dirty="0" err="1"/>
              <a:t>contikimac</a:t>
            </a:r>
            <a:r>
              <a:rPr lang="en-US" baseline="0" dirty="0"/>
              <a:t> uses two consecutive CCAs, separated by a time interval </a:t>
            </a:r>
            <a:r>
              <a:rPr lang="en-US" baseline="0" dirty="0" err="1"/>
              <a:t>tc</a:t>
            </a:r>
            <a:r>
              <a:rPr lang="en-US" baseline="0" dirty="0"/>
              <a:t> larger than </a:t>
            </a:r>
            <a:r>
              <a:rPr lang="en-US" baseline="0" dirty="0" err="1"/>
              <a:t>tj</a:t>
            </a:r>
            <a:r>
              <a:rPr lang="en-US" baseline="0" dirty="0"/>
              <a:t>.</a:t>
            </a:r>
          </a:p>
          <a:p>
            <a:r>
              <a:rPr lang="en-US" baseline="0" dirty="0"/>
              <a:t>The receiver is woken up when a CCA detects radio activity. </a:t>
            </a: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23</a:t>
            </a:fld>
            <a:endParaRPr lang="en-US"/>
          </a:p>
        </p:txBody>
      </p:sp>
    </p:spTree>
    <p:extLst>
      <p:ext uri="{BB962C8B-B14F-4D97-AF65-F5344CB8AC3E}">
        <p14:creationId xmlns:p14="http://schemas.microsoft.com/office/powerpoint/2010/main" val="27337278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other constraints apply to the timing of the CCAs: the time </a:t>
            </a:r>
            <a:r>
              <a:rPr lang="en-US" dirty="0" err="1"/>
              <a:t>tc</a:t>
            </a:r>
            <a:r>
              <a:rPr lang="en-US" dirty="0"/>
              <a:t> between the two consecutive CCAs should be shorter than the duration of the shortest possible frame, otherwise transmission of such a frame could go undetected.</a:t>
            </a:r>
          </a:p>
          <a:p>
            <a:r>
              <a:rPr lang="en-US" dirty="0"/>
              <a:t>To avoid collisions between a retransmitted frame and an </a:t>
            </a:r>
            <a:r>
              <a:rPr lang="en-US" dirty="0" err="1"/>
              <a:t>Ack</a:t>
            </a:r>
            <a:r>
              <a:rPr lang="en-US" dirty="0"/>
              <a:t> for the just transmitted frame, the time necessary</a:t>
            </a:r>
            <a:r>
              <a:rPr lang="en-US" baseline="0" dirty="0"/>
              <a:t> to generate the </a:t>
            </a:r>
            <a:r>
              <a:rPr lang="en-US" baseline="0" dirty="0" err="1"/>
              <a:t>Ack</a:t>
            </a:r>
            <a:r>
              <a:rPr lang="en-US" baseline="0" dirty="0"/>
              <a:t> on the receiver side and to recognize it at the sender side should be smaller than the time </a:t>
            </a:r>
            <a:r>
              <a:rPr lang="en-US" baseline="0" dirty="0" err="1"/>
              <a:t>tj</a:t>
            </a:r>
            <a:r>
              <a:rPr lang="en-US" baseline="0" dirty="0"/>
              <a:t> between successive retransmissions.</a:t>
            </a: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24</a:t>
            </a:fld>
            <a:endParaRPr lang="en-US"/>
          </a:p>
        </p:txBody>
      </p:sp>
    </p:spTree>
    <p:extLst>
      <p:ext uri="{BB962C8B-B14F-4D97-AF65-F5344CB8AC3E}">
        <p14:creationId xmlns:p14="http://schemas.microsoft.com/office/powerpoint/2010/main" val="2768372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CCA detects radio-activity, this does not imply that an</a:t>
            </a:r>
            <a:r>
              <a:rPr lang="en-US" baseline="0" dirty="0"/>
              <a:t> IEEE 802.15.4 frame is being received. It could result from any variety of radio transmission or noise.</a:t>
            </a:r>
          </a:p>
          <a:p>
            <a:r>
              <a:rPr lang="en-US" baseline="0" dirty="0"/>
              <a:t>As the duration of an IEEE 802.15.4 frame can not exceed 4.5 </a:t>
            </a:r>
            <a:r>
              <a:rPr lang="en-US" baseline="0" dirty="0" err="1"/>
              <a:t>ms</a:t>
            </a:r>
            <a:r>
              <a:rPr lang="en-US" baseline="0" dirty="0"/>
              <a:t>, the receiver returns to sleep when it did not yet observe any period of radio-silence 4.5 </a:t>
            </a:r>
            <a:r>
              <a:rPr lang="en-US" baseline="0" dirty="0" err="1"/>
              <a:t>ms</a:t>
            </a:r>
            <a:r>
              <a:rPr lang="en-US" baseline="0" dirty="0"/>
              <a:t> after waking up.</a:t>
            </a: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29</a:t>
            </a:fld>
            <a:endParaRPr lang="en-US"/>
          </a:p>
        </p:txBody>
      </p:sp>
    </p:spTree>
    <p:extLst>
      <p:ext uri="{BB962C8B-B14F-4D97-AF65-F5344CB8AC3E}">
        <p14:creationId xmlns:p14="http://schemas.microsoft.com/office/powerpoint/2010/main" val="3905787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data frames are being transmitted repeatedly, the time interval between successive transmissions is defined by the standard. When the receiver, after being woken-up by a CCA observes a radio-silence longer than the allowed interval between successive frames, it returns to sleep. </a:t>
            </a:r>
          </a:p>
        </p:txBody>
      </p:sp>
      <p:sp>
        <p:nvSpPr>
          <p:cNvPr id="4" name="Slide Number Placeholder 3"/>
          <p:cNvSpPr>
            <a:spLocks noGrp="1"/>
          </p:cNvSpPr>
          <p:nvPr>
            <p:ph type="sldNum" sz="quarter" idx="10"/>
          </p:nvPr>
        </p:nvSpPr>
        <p:spPr/>
        <p:txBody>
          <a:bodyPr/>
          <a:lstStyle/>
          <a:p>
            <a:fld id="{76BB8AF7-9034-4935-8E5D-D2714D8594A3}" type="slidenum">
              <a:rPr lang="en-US" smtClean="0"/>
              <a:t>30</a:t>
            </a:fld>
            <a:endParaRPr lang="en-US"/>
          </a:p>
        </p:txBody>
      </p:sp>
    </p:spTree>
    <p:extLst>
      <p:ext uri="{BB962C8B-B14F-4D97-AF65-F5344CB8AC3E}">
        <p14:creationId xmlns:p14="http://schemas.microsoft.com/office/powerpoint/2010/main" val="36392568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silence of the correct duration, an</a:t>
            </a:r>
            <a:r>
              <a:rPr lang="en-US" baseline="0" dirty="0"/>
              <a:t> IEEE 801.15.4 frame should be received. If the header of the frame being received doesn’t obey the standards rules, the receiver returns to sleep.</a:t>
            </a: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31</a:t>
            </a:fld>
            <a:endParaRPr lang="en-US"/>
          </a:p>
        </p:txBody>
      </p:sp>
    </p:spTree>
    <p:extLst>
      <p:ext uri="{BB962C8B-B14F-4D97-AF65-F5344CB8AC3E}">
        <p14:creationId xmlns:p14="http://schemas.microsoft.com/office/powerpoint/2010/main" val="35330747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optimize the power at the sender side, it is desirable to minimize the number of retransmissions.</a:t>
            </a:r>
          </a:p>
          <a:p>
            <a:r>
              <a:rPr lang="en-US" dirty="0"/>
              <a:t>When a transmitter receives an </a:t>
            </a:r>
            <a:r>
              <a:rPr lang="en-US" dirty="0" err="1"/>
              <a:t>Ack</a:t>
            </a:r>
            <a:r>
              <a:rPr lang="en-US" dirty="0"/>
              <a:t>,</a:t>
            </a:r>
            <a:r>
              <a:rPr lang="en-US" baseline="0" dirty="0"/>
              <a:t> it knows that the receiver was awake just before the transmission of the acknowledged frame. As the wake-ups occur strictly at a fixed rhythm, the transmitter can set up a table giving for each destination the optimal time to start transmitting a frame (phase locking the transmitter and receiver).</a:t>
            </a:r>
            <a:endParaRPr lang="en-US" dirty="0"/>
          </a:p>
        </p:txBody>
      </p:sp>
      <p:sp>
        <p:nvSpPr>
          <p:cNvPr id="4" name="Slide Number Placeholder 3"/>
          <p:cNvSpPr>
            <a:spLocks noGrp="1"/>
          </p:cNvSpPr>
          <p:nvPr>
            <p:ph type="sldNum" sz="quarter" idx="10"/>
          </p:nvPr>
        </p:nvSpPr>
        <p:spPr/>
        <p:txBody>
          <a:bodyPr/>
          <a:lstStyle/>
          <a:p>
            <a:fld id="{76BB8AF7-9034-4935-8E5D-D2714D8594A3}" type="slidenum">
              <a:rPr lang="en-US" smtClean="0"/>
              <a:t>32</a:t>
            </a:fld>
            <a:endParaRPr lang="en-US"/>
          </a:p>
        </p:txBody>
      </p:sp>
    </p:spTree>
    <p:extLst>
      <p:ext uri="{BB962C8B-B14F-4D97-AF65-F5344CB8AC3E}">
        <p14:creationId xmlns:p14="http://schemas.microsoft.com/office/powerpoint/2010/main" val="39986990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t>An observer mote is connected via ..to the mote under test (MUT). (or under study)</a:t>
            </a:r>
          </a:p>
          <a:p>
            <a:r>
              <a:rPr lang="en-US" b="0" i="0" dirty="0"/>
              <a:t>We want to know how many packets that the mote under study sends also arrive. The packet delivery ratio (PDR) gives the ratio of successfully received packets over the number of successfully sent packets. </a:t>
            </a:r>
          </a:p>
          <a:p>
            <a:r>
              <a:rPr lang="en-US" b="0" i="0" dirty="0"/>
              <a:t>We also want to know the time it takes to get a packet from application layer in MUT 1 to an application layer in MUT 2.</a:t>
            </a:r>
          </a:p>
          <a:p>
            <a:r>
              <a:rPr lang="en-US" b="0" i="0" dirty="0"/>
              <a:t>We also want to know the amount of power drawn by the MUT to function as if it were working without being monitored by the observer mote (OBS).</a:t>
            </a:r>
          </a:p>
          <a:p>
            <a:r>
              <a:rPr lang="en-US" b="0" i="0" dirty="0"/>
              <a:t>So, the influence of the measurement on the measured parameters must be negligeable.</a:t>
            </a:r>
          </a:p>
          <a:p>
            <a:r>
              <a:rPr lang="en-US" b="0" i="0" dirty="0"/>
              <a:t>The MUTS work on 2,4 GHz range, whereas the OBS uses a band around 868Mhz.  The OBS uses CSMA over 802.15.4 physical layer on around 868 Mhz. As such we hope to form a single hop star network from OBS motes to the sink of the observer network.</a:t>
            </a:r>
          </a:p>
          <a:p>
            <a:r>
              <a:rPr lang="en-US" b="0" i="0" dirty="0"/>
              <a:t>The 2,4 </a:t>
            </a:r>
            <a:r>
              <a:rPr lang="en-US" b="0" i="0" dirty="0" err="1"/>
              <a:t>Ghz</a:t>
            </a:r>
            <a:r>
              <a:rPr lang="en-US" b="0" i="0" dirty="0"/>
              <a:t> network is shorter range and will probably operate in multi-hop fashion.</a:t>
            </a:r>
          </a:p>
          <a:p>
            <a:endParaRPr lang="en-US" b="0" i="0" dirty="0"/>
          </a:p>
          <a:p>
            <a:br>
              <a:rPr lang="en-US" b="0" i="0" dirty="0"/>
            </a:br>
            <a:endParaRPr lang="en-US" b="0" i="0" dirty="0"/>
          </a:p>
          <a:p>
            <a:endParaRPr lang="en-US" b="0" i="0" dirty="0"/>
          </a:p>
        </p:txBody>
      </p:sp>
      <p:sp>
        <p:nvSpPr>
          <p:cNvPr id="4" name="Slide Number Placeholder 3"/>
          <p:cNvSpPr>
            <a:spLocks noGrp="1"/>
          </p:cNvSpPr>
          <p:nvPr>
            <p:ph type="sldNum" sz="quarter" idx="10"/>
          </p:nvPr>
        </p:nvSpPr>
        <p:spPr/>
        <p:txBody>
          <a:bodyPr/>
          <a:lstStyle/>
          <a:p>
            <a:fld id="{520974F4-145D-4942-8F2D-D13A8E4EAE51}" type="slidenum">
              <a:rPr lang="en-US" smtClean="0"/>
              <a:t>33</a:t>
            </a:fld>
            <a:endParaRPr lang="en-US"/>
          </a:p>
        </p:txBody>
      </p:sp>
    </p:spTree>
    <p:extLst>
      <p:ext uri="{BB962C8B-B14F-4D97-AF65-F5344CB8AC3E}">
        <p14:creationId xmlns:p14="http://schemas.microsoft.com/office/powerpoint/2010/main" val="410890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1289050"/>
            <a:ext cx="4962525" cy="3722688"/>
          </a:xfrm>
          <a:solidFill>
            <a:srgbClr val="4F81BD"/>
          </a:solidFill>
          <a:ln w="25557">
            <a:solidFill>
              <a:srgbClr val="385D8A"/>
            </a:solidFill>
            <a:prstDash val="solid"/>
          </a:ln>
        </p:spPr>
      </p:sp>
      <p:sp>
        <p:nvSpPr>
          <p:cNvPr id="3" name="Notes Placeholder 2"/>
          <p:cNvSpPr txBox="1">
            <a:spLocks noGrp="1"/>
          </p:cNvSpPr>
          <p:nvPr>
            <p:ph type="body" sz="quarter" idx="1"/>
          </p:nvPr>
        </p:nvSpPr>
        <p:spPr>
          <a:xfrm>
            <a:off x="679768" y="4715907"/>
            <a:ext cx="5438140" cy="4468485"/>
          </a:xfrm>
        </p:spPr>
        <p:txBody>
          <a:bodyPr/>
          <a:lstStyle/>
          <a:p>
            <a:r>
              <a:rPr lang="en-US" dirty="0"/>
              <a:t>For doing reproducible measurements (reproducible circumstances under which the measurements were performed), one has to be able to control the influence of external interference. The best way to do so is to create a Faraday cage around the measurement room or to be in a rural area with almost no sources of interference (microwave ovens, WIFI etc..).</a:t>
            </a:r>
          </a:p>
          <a:p>
            <a:r>
              <a:rPr lang="en-US" dirty="0"/>
              <a:t>We took the approach to do the measurements in a big garden in the South of Belgium with nice </a:t>
            </a:r>
            <a:r>
              <a:rPr lang="en-US" dirty="0" err="1"/>
              <a:t>neighbours</a:t>
            </a:r>
            <a:r>
              <a:rPr lang="en-US" dirty="0"/>
              <a:t> that switch off their equipment on demand.</a:t>
            </a:r>
          </a:p>
          <a:p>
            <a:endParaRPr lang="en-US" dirty="0"/>
          </a:p>
          <a:p>
            <a:endParaRPr lang="en-US"/>
          </a:p>
        </p:txBody>
      </p:sp>
    </p:spTree>
    <p:extLst>
      <p:ext uri="{BB962C8B-B14F-4D97-AF65-F5344CB8AC3E}">
        <p14:creationId xmlns:p14="http://schemas.microsoft.com/office/powerpoint/2010/main" val="25742886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1289050"/>
            <a:ext cx="4962525" cy="3722688"/>
          </a:xfrm>
        </p:spPr>
      </p:sp>
      <p:sp>
        <p:nvSpPr>
          <p:cNvPr id="3" name="Notes Placeholder 2"/>
          <p:cNvSpPr txBox="1">
            <a:spLocks noGrp="1"/>
          </p:cNvSpPr>
          <p:nvPr>
            <p:ph type="body" sz="quarter" idx="1"/>
          </p:nvPr>
        </p:nvSpPr>
        <p:spPr/>
        <p:txBody>
          <a:bodyPr/>
          <a:lstStyle/>
          <a:p>
            <a:r>
              <a:rPr lang="en-US" dirty="0"/>
              <a:t>Application to application delay = (TSA –TSR) + (TRR– TRA)  (the  propagation delay is considered negligeable as the distances are so small and the bandwidth is rather low, so transmission delay will in any case be more important).</a:t>
            </a:r>
          </a:p>
          <a:p>
            <a:r>
              <a:rPr lang="en-US" dirty="0"/>
              <a:t>This will work as TSA and TSR are measured in the same clock. Also TRR and TRA are measured in the </a:t>
            </a:r>
            <a:r>
              <a:rPr lang="en-US"/>
              <a:t>same clock.</a:t>
            </a:r>
            <a:endParaRPr lang="en-US" dirty="0"/>
          </a:p>
          <a:p>
            <a:endParaRPr lang="en-US" dirty="0"/>
          </a:p>
          <a:p>
            <a:endParaRPr lang="en-US"/>
          </a:p>
        </p:txBody>
      </p:sp>
      <p:sp>
        <p:nvSpPr>
          <p:cNvPr id="4" name="Slide Number Placeholder 3"/>
          <p:cNvSpPr txBox="1"/>
          <p:nvPr/>
        </p:nvSpPr>
        <p:spPr>
          <a:xfrm>
            <a:off x="3850230" y="9429857"/>
            <a:ext cx="2945659" cy="496798"/>
          </a:xfrm>
          <a:prstGeom prst="rect">
            <a:avLst/>
          </a:prstGeom>
          <a:noFill/>
          <a:ln>
            <a:noFill/>
          </a:ln>
        </p:spPr>
        <p:txBody>
          <a:bodyPr vert="horz" wrap="square" lIns="90004" tIns="46798" rIns="90004" bIns="46798"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D3228D5-A0BA-4D78-BA8E-0BF40BB91231}" type="slidenum">
              <a:t>35</a:t>
            </a:fld>
            <a:endParaRPr lang="nl-BE" sz="1200" b="0" i="0" u="none" strike="noStrike" kern="1200" cap="none" spc="0" baseline="0">
              <a:solidFill>
                <a:srgbClr val="000000"/>
              </a:solidFill>
              <a:uFillTx/>
              <a:latin typeface="Calibri" pitchFamily="34"/>
              <a:ea typeface="DejaVu Sans" pitchFamily="2"/>
              <a:cs typeface="DejaVu Sans" pitchFamily="2"/>
            </a:endParaRPr>
          </a:p>
        </p:txBody>
      </p:sp>
    </p:spTree>
    <p:extLst>
      <p:ext uri="{BB962C8B-B14F-4D97-AF65-F5344CB8AC3E}">
        <p14:creationId xmlns:p14="http://schemas.microsoft.com/office/powerpoint/2010/main" val="23241396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76BB8AF7-9034-4935-8E5D-D2714D8594A3}" type="slidenum">
              <a:rPr lang="en-US" smtClean="0"/>
              <a:t>36</a:t>
            </a:fld>
            <a:endParaRPr lang="en-US"/>
          </a:p>
        </p:txBody>
      </p:sp>
    </p:spTree>
    <p:extLst>
      <p:ext uri="{BB962C8B-B14F-4D97-AF65-F5344CB8AC3E}">
        <p14:creationId xmlns:p14="http://schemas.microsoft.com/office/powerpoint/2010/main" val="21978505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sender clock and the receiver clock are almost synchronous, test packets at a constant frequency will have</a:t>
            </a:r>
            <a:r>
              <a:rPr lang="en-US" baseline="0" dirty="0"/>
              <a:t> to wait a constant delay before being handled by the receiver. This delay depends only on the moment the experiment is started. To determine the average latency, a large number of identical experiments need to be done.</a:t>
            </a:r>
          </a:p>
          <a:p>
            <a:r>
              <a:rPr lang="en-US" baseline="0" dirty="0"/>
              <a:t>By sending packets at random moments, the delay incurred by successive packets will vary, and a long enough experiment will give the average delay.</a:t>
            </a:r>
            <a:endParaRPr lang="en-US" dirty="0"/>
          </a:p>
          <a:p>
            <a:endParaRPr lang="en-US" dirty="0"/>
          </a:p>
        </p:txBody>
      </p:sp>
      <p:sp>
        <p:nvSpPr>
          <p:cNvPr id="4" name="Slide Number Placeholder 3"/>
          <p:cNvSpPr>
            <a:spLocks noGrp="1"/>
          </p:cNvSpPr>
          <p:nvPr>
            <p:ph type="sldNum" sz="quarter" idx="10"/>
          </p:nvPr>
        </p:nvSpPr>
        <p:spPr/>
        <p:txBody>
          <a:bodyPr/>
          <a:lstStyle/>
          <a:p>
            <a:pPr lvl="0"/>
            <a:fld id="{3DBF61E9-F014-4C49-B4EC-DFBC0ECFD783}" type="slidenum">
              <a:rPr lang="nl-BE" smtClean="0"/>
              <a:t>37</a:t>
            </a:fld>
            <a:endParaRPr lang="nl-BE"/>
          </a:p>
        </p:txBody>
      </p:sp>
    </p:spTree>
    <p:extLst>
      <p:ext uri="{BB962C8B-B14F-4D97-AF65-F5344CB8AC3E}">
        <p14:creationId xmlns:p14="http://schemas.microsoft.com/office/powerpoint/2010/main" val="3812639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BE" dirty="0"/>
              <a:t>How can </a:t>
            </a:r>
            <a:r>
              <a:rPr lang="fr-BE" dirty="0" err="1"/>
              <a:t>we</a:t>
            </a:r>
            <a:r>
              <a:rPr lang="fr-BE" dirty="0"/>
              <a:t> </a:t>
            </a:r>
            <a:r>
              <a:rPr lang="fr-BE" dirty="0" err="1"/>
              <a:t>measure</a:t>
            </a:r>
            <a:r>
              <a:rPr lang="fr-BE" dirty="0"/>
              <a:t> the time </a:t>
            </a:r>
            <a:r>
              <a:rPr lang="fr-BE" dirty="0" err="1"/>
              <a:t>it</a:t>
            </a:r>
            <a:r>
              <a:rPr lang="fr-BE" dirty="0"/>
              <a:t> </a:t>
            </a:r>
            <a:r>
              <a:rPr lang="fr-BE" dirty="0" err="1"/>
              <a:t>takes</a:t>
            </a:r>
            <a:r>
              <a:rPr lang="fr-BE" dirty="0"/>
              <a:t> to </a:t>
            </a:r>
            <a:r>
              <a:rPr lang="fr-BE" dirty="0" err="1"/>
              <a:t>bring</a:t>
            </a:r>
            <a:r>
              <a:rPr lang="fr-BE" dirty="0"/>
              <a:t> a </a:t>
            </a:r>
            <a:r>
              <a:rPr lang="fr-BE" dirty="0" err="1"/>
              <a:t>packet</a:t>
            </a:r>
            <a:r>
              <a:rPr lang="fr-BE" dirty="0"/>
              <a:t> </a:t>
            </a:r>
            <a:r>
              <a:rPr lang="fr-BE" dirty="0" err="1"/>
              <a:t>from</a:t>
            </a:r>
            <a:r>
              <a:rPr lang="fr-BE" dirty="0"/>
              <a:t> </a:t>
            </a:r>
            <a:r>
              <a:rPr lang="nl-BE" dirty="0" err="1"/>
              <a:t>the</a:t>
            </a:r>
            <a:r>
              <a:rPr lang="nl-BE" dirty="0"/>
              <a:t> </a:t>
            </a:r>
            <a:r>
              <a:rPr lang="nl-BE" dirty="0" err="1"/>
              <a:t>observer</a:t>
            </a:r>
            <a:r>
              <a:rPr lang="nl-BE" dirty="0"/>
              <a:t> </a:t>
            </a:r>
            <a:r>
              <a:rPr lang="nl-BE" dirty="0" err="1"/>
              <a:t>mote</a:t>
            </a:r>
            <a:r>
              <a:rPr lang="nl-BE" dirty="0"/>
              <a:t> </a:t>
            </a:r>
            <a:r>
              <a:rPr lang="nl-BE" dirty="0" err="1"/>
              <a:t>to</a:t>
            </a:r>
            <a:r>
              <a:rPr lang="nl-BE" dirty="0"/>
              <a:t> </a:t>
            </a:r>
            <a:r>
              <a:rPr lang="nl-BE" dirty="0" err="1"/>
              <a:t>the</a:t>
            </a:r>
            <a:r>
              <a:rPr lang="nl-BE" dirty="0"/>
              <a:t> </a:t>
            </a:r>
            <a:r>
              <a:rPr lang="nl-BE" dirty="0" err="1"/>
              <a:t>sink</a:t>
            </a:r>
            <a:r>
              <a:rPr lang="nl-BE" dirty="0"/>
              <a:t> (</a:t>
            </a:r>
            <a:r>
              <a:rPr lang="nl-BE" dirty="0" err="1"/>
              <a:t>one</a:t>
            </a:r>
            <a:r>
              <a:rPr lang="nl-BE" dirty="0"/>
              <a:t> hop </a:t>
            </a:r>
            <a:r>
              <a:rPr lang="nl-BE" dirty="0" err="1"/>
              <a:t>communication</a:t>
            </a:r>
            <a:r>
              <a:rPr lang="nl-BE" dirty="0"/>
              <a:t>).</a:t>
            </a:r>
          </a:p>
          <a:p>
            <a:endParaRPr lang="nl-BE" dirty="0"/>
          </a:p>
          <a:p>
            <a:r>
              <a:rPr lang="nl-BE" dirty="0"/>
              <a:t>We </a:t>
            </a:r>
            <a:r>
              <a:rPr lang="nl-BE" dirty="0" err="1"/>
              <a:t>could</a:t>
            </a:r>
            <a:r>
              <a:rPr lang="nl-BE" dirty="0"/>
              <a:t> put </a:t>
            </a:r>
            <a:r>
              <a:rPr lang="nl-BE" dirty="0" err="1"/>
              <a:t>the</a:t>
            </a:r>
            <a:r>
              <a:rPr lang="nl-BE" dirty="0"/>
              <a:t> time on </a:t>
            </a:r>
            <a:r>
              <a:rPr lang="nl-BE" dirty="0" err="1"/>
              <a:t>which</a:t>
            </a:r>
            <a:r>
              <a:rPr lang="nl-BE" dirty="0"/>
              <a:t> </a:t>
            </a:r>
            <a:r>
              <a:rPr lang="nl-BE" dirty="0" err="1"/>
              <a:t>the</a:t>
            </a:r>
            <a:r>
              <a:rPr lang="nl-BE" dirty="0"/>
              <a:t> </a:t>
            </a:r>
            <a:r>
              <a:rPr lang="nl-BE" dirty="0" err="1"/>
              <a:t>packet</a:t>
            </a:r>
            <a:r>
              <a:rPr lang="nl-BE" dirty="0"/>
              <a:t> was sent </a:t>
            </a:r>
            <a:r>
              <a:rPr lang="nl-BE" dirty="0" err="1"/>
              <a:t>by</a:t>
            </a:r>
            <a:r>
              <a:rPr lang="nl-BE" dirty="0"/>
              <a:t> </a:t>
            </a:r>
            <a:r>
              <a:rPr lang="nl-BE" dirty="0" err="1"/>
              <a:t>the</a:t>
            </a:r>
            <a:r>
              <a:rPr lang="nl-BE" dirty="0"/>
              <a:t> </a:t>
            </a:r>
            <a:r>
              <a:rPr lang="nl-BE" dirty="0" err="1"/>
              <a:t>application</a:t>
            </a:r>
            <a:r>
              <a:rPr lang="nl-BE" dirty="0"/>
              <a:t>, </a:t>
            </a:r>
            <a:r>
              <a:rPr lang="nl-BE" dirty="0" err="1"/>
              <a:t>the</a:t>
            </a:r>
            <a:r>
              <a:rPr lang="nl-BE" dirty="0"/>
              <a:t> moment </a:t>
            </a:r>
            <a:r>
              <a:rPr lang="nl-BE" dirty="0" err="1"/>
              <a:t>that</a:t>
            </a:r>
            <a:r>
              <a:rPr lang="nl-BE" dirty="0"/>
              <a:t> </a:t>
            </a:r>
            <a:r>
              <a:rPr lang="nl-BE" dirty="0" err="1"/>
              <a:t>the</a:t>
            </a:r>
            <a:r>
              <a:rPr lang="nl-BE" dirty="0"/>
              <a:t> </a:t>
            </a:r>
            <a:r>
              <a:rPr lang="nl-BE" dirty="0" err="1"/>
              <a:t>send</a:t>
            </a:r>
            <a:r>
              <a:rPr lang="nl-BE" dirty="0"/>
              <a:t> </a:t>
            </a:r>
            <a:r>
              <a:rPr lang="nl-BE" dirty="0" err="1"/>
              <a:t>function</a:t>
            </a:r>
            <a:r>
              <a:rPr lang="nl-BE" dirty="0"/>
              <a:t> is </a:t>
            </a:r>
            <a:r>
              <a:rPr lang="nl-BE" dirty="0" err="1"/>
              <a:t>called</a:t>
            </a:r>
            <a:r>
              <a:rPr lang="nl-BE" dirty="0"/>
              <a:t> in a </a:t>
            </a:r>
            <a:r>
              <a:rPr lang="nl-BE" dirty="0" err="1"/>
              <a:t>packet</a:t>
            </a:r>
            <a:r>
              <a:rPr lang="nl-BE" dirty="0"/>
              <a:t> </a:t>
            </a:r>
            <a:r>
              <a:rPr lang="nl-BE" dirty="0" err="1"/>
              <a:t>and</a:t>
            </a:r>
            <a:r>
              <a:rPr lang="nl-BE" dirty="0"/>
              <a:t> </a:t>
            </a:r>
            <a:r>
              <a:rPr lang="nl-BE" dirty="0" err="1"/>
              <a:t>send</a:t>
            </a:r>
            <a:r>
              <a:rPr lang="nl-BE" dirty="0"/>
              <a:t> </a:t>
            </a:r>
            <a:r>
              <a:rPr lang="nl-BE" dirty="0" err="1"/>
              <a:t>it</a:t>
            </a:r>
            <a:r>
              <a:rPr lang="nl-BE" dirty="0"/>
              <a:t> via CSMA (obs’ </a:t>
            </a:r>
            <a:r>
              <a:rPr lang="nl-BE" dirty="0" err="1"/>
              <a:t>motes</a:t>
            </a:r>
            <a:r>
              <a:rPr lang="nl-BE" dirty="0"/>
              <a:t> radio is </a:t>
            </a:r>
            <a:r>
              <a:rPr lang="nl-BE" dirty="0" err="1"/>
              <a:t>always</a:t>
            </a:r>
            <a:r>
              <a:rPr lang="nl-BE" dirty="0"/>
              <a:t> ON) </a:t>
            </a:r>
            <a:r>
              <a:rPr lang="nl-BE" dirty="0" err="1"/>
              <a:t>the</a:t>
            </a:r>
            <a:r>
              <a:rPr lang="nl-BE" dirty="0"/>
              <a:t> </a:t>
            </a:r>
            <a:r>
              <a:rPr lang="nl-BE" dirty="0" err="1"/>
              <a:t>sink</a:t>
            </a:r>
            <a:r>
              <a:rPr lang="nl-BE" dirty="0"/>
              <a:t>.</a:t>
            </a:r>
          </a:p>
          <a:p>
            <a:r>
              <a:rPr lang="nl-BE" dirty="0"/>
              <a:t>We </a:t>
            </a:r>
            <a:r>
              <a:rPr lang="nl-BE" dirty="0" err="1"/>
              <a:t>can</a:t>
            </a:r>
            <a:r>
              <a:rPr lang="nl-BE" dirty="0"/>
              <a:t> </a:t>
            </a:r>
            <a:r>
              <a:rPr lang="nl-BE" dirty="0" err="1"/>
              <a:t>then</a:t>
            </a:r>
            <a:r>
              <a:rPr lang="nl-BE" dirty="0"/>
              <a:t> </a:t>
            </a:r>
            <a:r>
              <a:rPr lang="nl-BE" dirty="0" err="1"/>
              <a:t>measure</a:t>
            </a:r>
            <a:r>
              <a:rPr lang="nl-BE" dirty="0"/>
              <a:t> at </a:t>
            </a:r>
            <a:r>
              <a:rPr lang="nl-BE" dirty="0" err="1"/>
              <a:t>which</a:t>
            </a:r>
            <a:r>
              <a:rPr lang="nl-BE" dirty="0"/>
              <a:t> time </a:t>
            </a:r>
            <a:r>
              <a:rPr lang="nl-BE" dirty="0" err="1"/>
              <a:t>the</a:t>
            </a:r>
            <a:r>
              <a:rPr lang="nl-BE" dirty="0"/>
              <a:t> </a:t>
            </a:r>
            <a:r>
              <a:rPr lang="nl-BE" dirty="0" err="1"/>
              <a:t>packet</a:t>
            </a:r>
            <a:r>
              <a:rPr lang="nl-BE" dirty="0"/>
              <a:t> </a:t>
            </a:r>
            <a:r>
              <a:rPr lang="nl-BE" dirty="0" err="1"/>
              <a:t>arrives</a:t>
            </a:r>
            <a:r>
              <a:rPr lang="nl-BE" dirty="0"/>
              <a:t> at </a:t>
            </a:r>
            <a:r>
              <a:rPr lang="nl-BE" dirty="0" err="1"/>
              <a:t>the</a:t>
            </a:r>
            <a:r>
              <a:rPr lang="nl-BE" dirty="0"/>
              <a:t> </a:t>
            </a:r>
            <a:r>
              <a:rPr lang="nl-BE" dirty="0" err="1"/>
              <a:t>application</a:t>
            </a:r>
            <a:r>
              <a:rPr lang="nl-BE" dirty="0"/>
              <a:t> in </a:t>
            </a:r>
            <a:r>
              <a:rPr lang="nl-BE" dirty="0" err="1"/>
              <a:t>the</a:t>
            </a:r>
            <a:r>
              <a:rPr lang="nl-BE" dirty="0"/>
              <a:t> </a:t>
            </a:r>
            <a:r>
              <a:rPr lang="nl-BE" dirty="0" err="1"/>
              <a:t>sink</a:t>
            </a:r>
            <a:r>
              <a:rPr lang="nl-BE" dirty="0"/>
              <a:t> </a:t>
            </a:r>
            <a:r>
              <a:rPr lang="nl-BE" dirty="0" err="1"/>
              <a:t>mote</a:t>
            </a:r>
            <a:r>
              <a:rPr lang="nl-BE" dirty="0"/>
              <a:t> </a:t>
            </a:r>
            <a:r>
              <a:rPr lang="nl-BE" dirty="0" err="1"/>
              <a:t>and</a:t>
            </a:r>
            <a:r>
              <a:rPr lang="nl-BE" dirty="0"/>
              <a:t> </a:t>
            </a:r>
            <a:r>
              <a:rPr lang="nl-BE" dirty="0" err="1"/>
              <a:t>deduce</a:t>
            </a:r>
            <a:r>
              <a:rPr lang="nl-BE" dirty="0"/>
              <a:t> </a:t>
            </a:r>
            <a:r>
              <a:rPr lang="nl-BE" dirty="0" err="1"/>
              <a:t>both</a:t>
            </a:r>
            <a:r>
              <a:rPr lang="nl-BE" dirty="0"/>
              <a:t> time </a:t>
            </a:r>
            <a:r>
              <a:rPr lang="nl-BE" dirty="0" err="1"/>
              <a:t>stamps</a:t>
            </a:r>
            <a:r>
              <a:rPr lang="nl-BE" dirty="0"/>
              <a:t>.</a:t>
            </a:r>
          </a:p>
          <a:p>
            <a:r>
              <a:rPr lang="nl-BE" dirty="0" err="1"/>
              <a:t>Unfortunately</a:t>
            </a:r>
            <a:r>
              <a:rPr lang="nl-BE" dirty="0"/>
              <a:t> </a:t>
            </a:r>
            <a:r>
              <a:rPr lang="nl-BE" dirty="0" err="1"/>
              <a:t>this</a:t>
            </a:r>
            <a:r>
              <a:rPr lang="nl-BE" dirty="0"/>
              <a:t> </a:t>
            </a:r>
            <a:r>
              <a:rPr lang="nl-BE" dirty="0" err="1"/>
              <a:t>methodology</a:t>
            </a:r>
            <a:r>
              <a:rPr lang="nl-BE" dirty="0"/>
              <a:t> </a:t>
            </a:r>
            <a:r>
              <a:rPr lang="nl-BE" dirty="0" err="1"/>
              <a:t>will</a:t>
            </a:r>
            <a:r>
              <a:rPr lang="nl-BE" dirty="0"/>
              <a:t> </a:t>
            </a:r>
            <a:r>
              <a:rPr lang="nl-BE" dirty="0" err="1"/>
              <a:t>only</a:t>
            </a:r>
            <a:r>
              <a:rPr lang="nl-BE" dirty="0"/>
              <a:t> </a:t>
            </a:r>
            <a:r>
              <a:rPr lang="nl-BE" dirty="0" err="1"/>
              <a:t>work</a:t>
            </a:r>
            <a:r>
              <a:rPr lang="nl-BE" dirty="0"/>
              <a:t> </a:t>
            </a:r>
            <a:r>
              <a:rPr lang="nl-BE" dirty="0" err="1"/>
              <a:t>when</a:t>
            </a:r>
            <a:r>
              <a:rPr lang="nl-BE" dirty="0"/>
              <a:t> </a:t>
            </a:r>
            <a:r>
              <a:rPr lang="nl-BE" dirty="0" err="1"/>
              <a:t>both</a:t>
            </a:r>
            <a:r>
              <a:rPr lang="nl-BE" dirty="0"/>
              <a:t> time </a:t>
            </a:r>
            <a:r>
              <a:rPr lang="nl-BE" dirty="0" err="1"/>
              <a:t>stamps</a:t>
            </a:r>
            <a:r>
              <a:rPr lang="nl-BE" dirty="0"/>
              <a:t> are taken </a:t>
            </a:r>
            <a:r>
              <a:rPr lang="nl-BE" dirty="0" err="1"/>
              <a:t>with</a:t>
            </a:r>
            <a:r>
              <a:rPr lang="nl-BE" dirty="0"/>
              <a:t> </a:t>
            </a:r>
            <a:r>
              <a:rPr lang="nl-BE" dirty="0" err="1"/>
              <a:t>the</a:t>
            </a:r>
            <a:r>
              <a:rPr lang="nl-BE" dirty="0"/>
              <a:t> SAME CLOCK.</a:t>
            </a:r>
          </a:p>
          <a:p>
            <a:r>
              <a:rPr lang="nl-BE" dirty="0" err="1"/>
              <a:t>This</a:t>
            </a:r>
            <a:r>
              <a:rPr lang="nl-BE" dirty="0"/>
              <a:t> is </a:t>
            </a:r>
            <a:r>
              <a:rPr lang="nl-BE" dirty="0" err="1"/>
              <a:t>the</a:t>
            </a:r>
            <a:r>
              <a:rPr lang="nl-BE" dirty="0"/>
              <a:t> case </a:t>
            </a:r>
            <a:r>
              <a:rPr lang="nl-BE" dirty="0" err="1"/>
              <a:t>for</a:t>
            </a:r>
            <a:r>
              <a:rPr lang="nl-BE" dirty="0"/>
              <a:t> </a:t>
            </a:r>
            <a:r>
              <a:rPr lang="nl-BE" dirty="0" err="1"/>
              <a:t>motes</a:t>
            </a:r>
            <a:r>
              <a:rPr lang="nl-BE" dirty="0"/>
              <a:t> in a simulator (</a:t>
            </a:r>
            <a:r>
              <a:rPr lang="nl-BE" dirty="0" err="1"/>
              <a:t>they</a:t>
            </a:r>
            <a:r>
              <a:rPr lang="nl-BE" dirty="0"/>
              <a:t> </a:t>
            </a:r>
            <a:r>
              <a:rPr lang="nl-BE" dirty="0" err="1"/>
              <a:t>will</a:t>
            </a:r>
            <a:r>
              <a:rPr lang="nl-BE" dirty="0"/>
              <a:t> </a:t>
            </a:r>
            <a:r>
              <a:rPr lang="nl-BE" dirty="0" err="1"/>
              <a:t>all</a:t>
            </a:r>
            <a:r>
              <a:rPr lang="nl-BE" dirty="0"/>
              <a:t> have </a:t>
            </a:r>
            <a:r>
              <a:rPr lang="nl-BE" dirty="0" err="1"/>
              <a:t>their</a:t>
            </a:r>
            <a:r>
              <a:rPr lang="nl-BE" dirty="0"/>
              <a:t> </a:t>
            </a:r>
            <a:r>
              <a:rPr lang="nl-BE" dirty="0" err="1"/>
              <a:t>clocks</a:t>
            </a:r>
            <a:r>
              <a:rPr lang="nl-BE" dirty="0"/>
              <a:t> </a:t>
            </a:r>
            <a:r>
              <a:rPr lang="nl-BE" dirty="0" err="1"/>
              <a:t>exactly</a:t>
            </a:r>
            <a:r>
              <a:rPr lang="nl-BE" dirty="0"/>
              <a:t> </a:t>
            </a:r>
            <a:r>
              <a:rPr lang="nl-BE" dirty="0" err="1"/>
              <a:t>synchronised</a:t>
            </a:r>
            <a:r>
              <a:rPr lang="nl-BE" dirty="0"/>
              <a:t> without drift).</a:t>
            </a:r>
          </a:p>
          <a:p>
            <a:endParaRPr lang="nl-BE" dirty="0"/>
          </a:p>
          <a:p>
            <a:r>
              <a:rPr lang="nl-BE" dirty="0"/>
              <a:t>In </a:t>
            </a:r>
            <a:r>
              <a:rPr lang="nl-BE" dirty="0" err="1"/>
              <a:t>practice</a:t>
            </a:r>
            <a:r>
              <a:rPr lang="nl-BE" dirty="0"/>
              <a:t>, </a:t>
            </a:r>
            <a:r>
              <a:rPr lang="nl-BE" dirty="0" err="1"/>
              <a:t>the</a:t>
            </a:r>
            <a:r>
              <a:rPr lang="nl-BE" dirty="0"/>
              <a:t> </a:t>
            </a:r>
            <a:r>
              <a:rPr lang="nl-BE" dirty="0" err="1"/>
              <a:t>clock</a:t>
            </a:r>
            <a:r>
              <a:rPr lang="nl-BE" dirty="0"/>
              <a:t> in </a:t>
            </a:r>
            <a:r>
              <a:rPr lang="nl-BE" dirty="0" err="1"/>
              <a:t>an</a:t>
            </a:r>
            <a:r>
              <a:rPr lang="nl-BE" dirty="0"/>
              <a:t> obs </a:t>
            </a:r>
            <a:r>
              <a:rPr lang="nl-BE" dirty="0" err="1"/>
              <a:t>mote</a:t>
            </a:r>
            <a:r>
              <a:rPr lang="nl-BE" dirty="0"/>
              <a:t> </a:t>
            </a:r>
            <a:r>
              <a:rPr lang="nl-BE" dirty="0" err="1"/>
              <a:t>will</a:t>
            </a:r>
            <a:r>
              <a:rPr lang="nl-BE" dirty="0"/>
              <a:t> </a:t>
            </a:r>
            <a:r>
              <a:rPr lang="nl-BE" dirty="0" err="1"/>
              <a:t>not</a:t>
            </a:r>
            <a:r>
              <a:rPr lang="nl-BE" dirty="0"/>
              <a:t> </a:t>
            </a:r>
            <a:r>
              <a:rPr lang="nl-BE" dirty="0" err="1"/>
              <a:t>be</a:t>
            </a:r>
            <a:r>
              <a:rPr lang="nl-BE" dirty="0"/>
              <a:t> </a:t>
            </a:r>
            <a:r>
              <a:rPr lang="nl-BE" dirty="0" err="1"/>
              <a:t>the</a:t>
            </a:r>
            <a:r>
              <a:rPr lang="nl-BE" dirty="0"/>
              <a:t> </a:t>
            </a:r>
            <a:r>
              <a:rPr lang="nl-BE" dirty="0" err="1"/>
              <a:t>same</a:t>
            </a:r>
            <a:r>
              <a:rPr lang="nl-BE" dirty="0"/>
              <a:t> as </a:t>
            </a:r>
            <a:r>
              <a:rPr lang="nl-BE" dirty="0" err="1"/>
              <a:t>the</a:t>
            </a:r>
            <a:r>
              <a:rPr lang="nl-BE" dirty="0"/>
              <a:t> </a:t>
            </a:r>
            <a:r>
              <a:rPr lang="nl-BE" dirty="0" err="1"/>
              <a:t>clock</a:t>
            </a:r>
            <a:r>
              <a:rPr lang="nl-BE" dirty="0"/>
              <a:t> in </a:t>
            </a:r>
            <a:r>
              <a:rPr lang="nl-BE" dirty="0" err="1"/>
              <a:t>the</a:t>
            </a:r>
            <a:r>
              <a:rPr lang="nl-BE" dirty="0"/>
              <a:t> </a:t>
            </a:r>
            <a:r>
              <a:rPr lang="nl-BE" dirty="0" err="1"/>
              <a:t>sink</a:t>
            </a:r>
            <a:r>
              <a:rPr lang="nl-BE" dirty="0"/>
              <a:t> </a:t>
            </a:r>
            <a:r>
              <a:rPr lang="nl-BE" dirty="0" err="1"/>
              <a:t>mote</a:t>
            </a:r>
            <a:r>
              <a:rPr lang="nl-BE" dirty="0"/>
              <a:t>…</a:t>
            </a:r>
            <a:r>
              <a:rPr lang="nl-BE" dirty="0" err="1"/>
              <a:t>so</a:t>
            </a:r>
            <a:r>
              <a:rPr lang="nl-BE" dirty="0"/>
              <a:t> we </a:t>
            </a:r>
            <a:r>
              <a:rPr lang="nl-BE" dirty="0" err="1"/>
              <a:t>can</a:t>
            </a:r>
            <a:r>
              <a:rPr lang="nl-BE" dirty="0"/>
              <a:t> </a:t>
            </a:r>
            <a:r>
              <a:rPr lang="nl-BE" dirty="0" err="1"/>
              <a:t>not</a:t>
            </a:r>
            <a:r>
              <a:rPr lang="nl-BE" dirty="0"/>
              <a:t> </a:t>
            </a:r>
            <a:r>
              <a:rPr lang="nl-BE" dirty="0" err="1"/>
              <a:t>substract</a:t>
            </a:r>
            <a:r>
              <a:rPr lang="nl-BE" dirty="0"/>
              <a:t> </a:t>
            </a:r>
            <a:r>
              <a:rPr lang="nl-BE" dirty="0" err="1"/>
              <a:t>measurements</a:t>
            </a:r>
            <a:r>
              <a:rPr lang="nl-BE" dirty="0"/>
              <a:t> </a:t>
            </a:r>
            <a:r>
              <a:rPr lang="nl-BE" dirty="0" err="1"/>
              <a:t>done</a:t>
            </a:r>
            <a:r>
              <a:rPr lang="nl-BE" dirty="0"/>
              <a:t> </a:t>
            </a:r>
            <a:r>
              <a:rPr lang="nl-BE" dirty="0" err="1"/>
              <a:t>with</a:t>
            </a:r>
            <a:r>
              <a:rPr lang="nl-BE" dirty="0"/>
              <a:t> non </a:t>
            </a:r>
            <a:r>
              <a:rPr lang="nl-BE" dirty="0" err="1"/>
              <a:t>synchronised</a:t>
            </a:r>
            <a:r>
              <a:rPr lang="nl-BE" dirty="0"/>
              <a:t> </a:t>
            </a:r>
            <a:r>
              <a:rPr lang="nl-BE" dirty="0" err="1"/>
              <a:t>clocks</a:t>
            </a:r>
            <a:r>
              <a:rPr lang="nl-BE" dirty="0"/>
              <a:t>.</a:t>
            </a:r>
          </a:p>
          <a:p>
            <a:r>
              <a:rPr lang="nl-BE" dirty="0"/>
              <a:t>The </a:t>
            </a:r>
            <a:r>
              <a:rPr lang="nl-BE" dirty="0" err="1"/>
              <a:t>motes</a:t>
            </a:r>
            <a:r>
              <a:rPr lang="nl-BE" dirty="0"/>
              <a:t> do have </a:t>
            </a:r>
            <a:r>
              <a:rPr lang="nl-BE" dirty="0" err="1"/>
              <a:t>the</a:t>
            </a:r>
            <a:r>
              <a:rPr lang="nl-BE" dirty="0"/>
              <a:t> </a:t>
            </a:r>
            <a:r>
              <a:rPr lang="nl-BE" dirty="0" err="1"/>
              <a:t>same</a:t>
            </a:r>
            <a:r>
              <a:rPr lang="nl-BE" dirty="0"/>
              <a:t> </a:t>
            </a:r>
            <a:r>
              <a:rPr lang="nl-BE" dirty="0" err="1"/>
              <a:t>notion</a:t>
            </a:r>
            <a:r>
              <a:rPr lang="nl-BE" dirty="0"/>
              <a:t> of time units </a:t>
            </a:r>
            <a:r>
              <a:rPr lang="nl-BE" dirty="0" err="1"/>
              <a:t>though</a:t>
            </a:r>
            <a:r>
              <a:rPr lang="nl-BE" dirty="0"/>
              <a:t>…</a:t>
            </a:r>
            <a:r>
              <a:rPr lang="nl-BE" dirty="0" err="1"/>
              <a:t>they</a:t>
            </a:r>
            <a:r>
              <a:rPr lang="nl-BE" dirty="0"/>
              <a:t> </a:t>
            </a:r>
            <a:r>
              <a:rPr lang="nl-BE" dirty="0" err="1"/>
              <a:t>both</a:t>
            </a:r>
            <a:r>
              <a:rPr lang="nl-BE" dirty="0"/>
              <a:t> </a:t>
            </a:r>
            <a:r>
              <a:rPr lang="nl-BE" dirty="0" err="1"/>
              <a:t>measure</a:t>
            </a:r>
            <a:r>
              <a:rPr lang="nl-BE" dirty="0"/>
              <a:t> in </a:t>
            </a:r>
            <a:r>
              <a:rPr lang="nl-BE" dirty="0" err="1"/>
              <a:t>the</a:t>
            </a:r>
            <a:r>
              <a:rPr lang="nl-BE" dirty="0"/>
              <a:t> </a:t>
            </a:r>
            <a:r>
              <a:rPr lang="nl-BE" dirty="0" err="1"/>
              <a:t>same</a:t>
            </a:r>
            <a:r>
              <a:rPr lang="nl-BE" dirty="0"/>
              <a:t> time units </a:t>
            </a:r>
            <a:r>
              <a:rPr lang="nl-BE" dirty="0" err="1"/>
              <a:t>being</a:t>
            </a:r>
            <a:r>
              <a:rPr lang="nl-BE" dirty="0"/>
              <a:t> </a:t>
            </a:r>
            <a:r>
              <a:rPr lang="nl-BE" dirty="0" err="1"/>
              <a:t>clock</a:t>
            </a:r>
            <a:r>
              <a:rPr lang="nl-BE" dirty="0"/>
              <a:t> tics or have a way </a:t>
            </a:r>
            <a:r>
              <a:rPr lang="nl-BE" dirty="0" err="1"/>
              <a:t>to</a:t>
            </a:r>
            <a:r>
              <a:rPr lang="nl-BE" dirty="0"/>
              <a:t> translate </a:t>
            </a:r>
            <a:r>
              <a:rPr lang="nl-BE" dirty="0" err="1"/>
              <a:t>clockticks</a:t>
            </a:r>
            <a:r>
              <a:rPr lang="nl-BE" dirty="0"/>
              <a:t> </a:t>
            </a:r>
            <a:r>
              <a:rPr lang="nl-BE" dirty="0" err="1"/>
              <a:t>to</a:t>
            </a:r>
            <a:r>
              <a:rPr lang="nl-BE" dirty="0"/>
              <a:t> </a:t>
            </a:r>
            <a:r>
              <a:rPr lang="nl-BE" dirty="0" err="1"/>
              <a:t>the</a:t>
            </a:r>
            <a:r>
              <a:rPr lang="nl-BE" dirty="0"/>
              <a:t> unit </a:t>
            </a:r>
            <a:r>
              <a:rPr lang="nl-BE" dirty="0" err="1"/>
              <a:t>used</a:t>
            </a:r>
            <a:r>
              <a:rPr lang="nl-BE" dirty="0"/>
              <a:t> in </a:t>
            </a:r>
            <a:r>
              <a:rPr lang="nl-BE" dirty="0" err="1"/>
              <a:t>the</a:t>
            </a:r>
            <a:r>
              <a:rPr lang="nl-BE" dirty="0"/>
              <a:t> </a:t>
            </a:r>
            <a:r>
              <a:rPr lang="nl-BE" dirty="0" err="1"/>
              <a:t>other</a:t>
            </a:r>
            <a:r>
              <a:rPr lang="nl-BE" dirty="0"/>
              <a:t> system (e.g. </a:t>
            </a:r>
            <a:r>
              <a:rPr lang="nl-BE" dirty="0" err="1"/>
              <a:t>milliseconds</a:t>
            </a:r>
            <a:r>
              <a:rPr lang="nl-BE" dirty="0"/>
              <a:t>).</a:t>
            </a:r>
          </a:p>
        </p:txBody>
      </p:sp>
      <p:sp>
        <p:nvSpPr>
          <p:cNvPr id="4" name="Slide Number Placeholder 3"/>
          <p:cNvSpPr>
            <a:spLocks noGrp="1"/>
          </p:cNvSpPr>
          <p:nvPr>
            <p:ph type="sldNum" sz="quarter" idx="5"/>
          </p:nvPr>
        </p:nvSpPr>
        <p:spPr/>
        <p:txBody>
          <a:bodyPr/>
          <a:lstStyle/>
          <a:p>
            <a:fld id="{76BB8AF7-9034-4935-8E5D-D2714D8594A3}" type="slidenum">
              <a:rPr lang="en-US" smtClean="0"/>
              <a:t>38</a:t>
            </a:fld>
            <a:endParaRPr lang="en-US"/>
          </a:p>
        </p:txBody>
      </p:sp>
    </p:spTree>
    <p:extLst>
      <p:ext uri="{BB962C8B-B14F-4D97-AF65-F5344CB8AC3E}">
        <p14:creationId xmlns:p14="http://schemas.microsoft.com/office/powerpoint/2010/main" val="13321043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BE" dirty="0"/>
              <a:t>In th</a:t>
            </a:r>
            <a:endParaRPr lang="nl-BE" dirty="0"/>
          </a:p>
        </p:txBody>
      </p:sp>
      <p:sp>
        <p:nvSpPr>
          <p:cNvPr id="4" name="Slide Number Placeholder 3"/>
          <p:cNvSpPr>
            <a:spLocks noGrp="1"/>
          </p:cNvSpPr>
          <p:nvPr>
            <p:ph type="sldNum" sz="quarter" idx="5"/>
          </p:nvPr>
        </p:nvSpPr>
        <p:spPr/>
        <p:txBody>
          <a:bodyPr/>
          <a:lstStyle/>
          <a:p>
            <a:fld id="{76BB8AF7-9034-4935-8E5D-D2714D8594A3}" type="slidenum">
              <a:rPr lang="en-US" smtClean="0"/>
              <a:t>39</a:t>
            </a:fld>
            <a:endParaRPr lang="en-US"/>
          </a:p>
        </p:txBody>
      </p:sp>
    </p:spTree>
    <p:extLst>
      <p:ext uri="{BB962C8B-B14F-4D97-AF65-F5344CB8AC3E}">
        <p14:creationId xmlns:p14="http://schemas.microsoft.com/office/powerpoint/2010/main" val="1757161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BE" dirty="0"/>
              <a:t>Black </a:t>
            </a:r>
            <a:r>
              <a:rPr lang="fr-BE" dirty="0" err="1"/>
              <a:t>latency</a:t>
            </a:r>
            <a:r>
              <a:rPr lang="fr-BE" dirty="0"/>
              <a:t> = </a:t>
            </a:r>
            <a:r>
              <a:rPr lang="fr-BE" dirty="0" err="1"/>
              <a:t>Measured</a:t>
            </a:r>
            <a:r>
              <a:rPr lang="fr-BE" dirty="0"/>
              <a:t> </a:t>
            </a:r>
            <a:r>
              <a:rPr lang="fr-BE" dirty="0" err="1"/>
              <a:t>Latency</a:t>
            </a:r>
            <a:r>
              <a:rPr lang="fr-BE" dirty="0"/>
              <a:t> – [(Taw2 - </a:t>
            </a:r>
            <a:r>
              <a:rPr lang="fr-BE" dirty="0" err="1"/>
              <a:t>Taw</a:t>
            </a:r>
            <a:r>
              <a:rPr lang="fr-BE" dirty="0"/>
              <a:t>)  - (Tbw2-Tbw)]</a:t>
            </a:r>
          </a:p>
          <a:p>
            <a:endParaRPr lang="fr-BE" dirty="0"/>
          </a:p>
          <a:p>
            <a:r>
              <a:rPr lang="fr-BE" dirty="0"/>
              <a:t>                                                                   </a:t>
            </a:r>
          </a:p>
          <a:p>
            <a:endParaRPr lang="fr-BE" dirty="0"/>
          </a:p>
          <a:p>
            <a:endParaRPr lang="fr-BE" dirty="0"/>
          </a:p>
          <a:p>
            <a:r>
              <a:rPr lang="fr-BE" dirty="0"/>
              <a:t>	</a:t>
            </a:r>
            <a:endParaRPr lang="en-BE" dirty="0"/>
          </a:p>
        </p:txBody>
      </p:sp>
      <p:sp>
        <p:nvSpPr>
          <p:cNvPr id="4" name="Slide Number Placeholder 3"/>
          <p:cNvSpPr>
            <a:spLocks noGrp="1"/>
          </p:cNvSpPr>
          <p:nvPr>
            <p:ph type="sldNum" sz="quarter" idx="5"/>
          </p:nvPr>
        </p:nvSpPr>
        <p:spPr/>
        <p:txBody>
          <a:bodyPr/>
          <a:lstStyle/>
          <a:p>
            <a:fld id="{76BB8AF7-9034-4935-8E5D-D2714D8594A3}" type="slidenum">
              <a:rPr lang="en-US" smtClean="0"/>
              <a:t>41</a:t>
            </a:fld>
            <a:endParaRPr lang="en-US"/>
          </a:p>
        </p:txBody>
      </p:sp>
    </p:spTree>
    <p:extLst>
      <p:ext uri="{BB962C8B-B14F-4D97-AF65-F5344CB8AC3E}">
        <p14:creationId xmlns:p14="http://schemas.microsoft.com/office/powerpoint/2010/main" val="31516922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1289050"/>
            <a:ext cx="4962525" cy="3722688"/>
          </a:xfrm>
        </p:spPr>
      </p:sp>
      <p:sp>
        <p:nvSpPr>
          <p:cNvPr id="3" name="Notes Placeholder 2"/>
          <p:cNvSpPr>
            <a:spLocks noGrp="1"/>
          </p:cNvSpPr>
          <p:nvPr>
            <p:ph type="body" idx="1"/>
          </p:nvPr>
        </p:nvSpPr>
        <p:spPr/>
        <p:txBody>
          <a:bodyPr/>
          <a:lstStyle/>
          <a:p>
            <a:r>
              <a:rPr lang="en-US" dirty="0"/>
              <a:t>This graph shows how RDC protocols trade latency</a:t>
            </a:r>
            <a:r>
              <a:rPr lang="en-US" baseline="0" dirty="0"/>
              <a:t> for energy savings. The average latency of some 50 </a:t>
            </a:r>
            <a:r>
              <a:rPr lang="en-US" baseline="0" dirty="0" err="1"/>
              <a:t>ms</a:t>
            </a:r>
            <a:r>
              <a:rPr lang="en-US" baseline="0" dirty="0"/>
              <a:t> for all three RDC protocols is consistent with the wake-up period of 67.5 </a:t>
            </a:r>
            <a:r>
              <a:rPr lang="en-US" baseline="0" dirty="0" err="1"/>
              <a:t>ms.</a:t>
            </a:r>
            <a:r>
              <a:rPr lang="en-US" baseline="0" dirty="0"/>
              <a:t> </a:t>
            </a:r>
          </a:p>
          <a:p>
            <a:r>
              <a:rPr lang="en-US" baseline="0" dirty="0"/>
              <a:t>The Null RDC never switches of its receiver, explaining the very shorty latencies, and the high power consumption.</a:t>
            </a:r>
            <a:endParaRPr lang="en-US" dirty="0"/>
          </a:p>
        </p:txBody>
      </p:sp>
      <p:sp>
        <p:nvSpPr>
          <p:cNvPr id="4" name="Slide Number Placeholder 3"/>
          <p:cNvSpPr>
            <a:spLocks noGrp="1"/>
          </p:cNvSpPr>
          <p:nvPr>
            <p:ph type="sldNum" sz="quarter" idx="10"/>
          </p:nvPr>
        </p:nvSpPr>
        <p:spPr/>
        <p:txBody>
          <a:bodyPr/>
          <a:lstStyle/>
          <a:p>
            <a:pPr lvl="0"/>
            <a:fld id="{3DBF61E9-F014-4C49-B4EC-DFBC0ECFD783}" type="slidenum">
              <a:rPr lang="nl-BE" smtClean="0"/>
              <a:t>45</a:t>
            </a:fld>
            <a:endParaRPr lang="nl-BE"/>
          </a:p>
        </p:txBody>
      </p:sp>
    </p:spTree>
    <p:extLst>
      <p:ext uri="{BB962C8B-B14F-4D97-AF65-F5344CB8AC3E}">
        <p14:creationId xmlns:p14="http://schemas.microsoft.com/office/powerpoint/2010/main" val="36643979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1289050"/>
            <a:ext cx="4962525" cy="3722688"/>
          </a:xfrm>
        </p:spPr>
      </p:sp>
      <p:sp>
        <p:nvSpPr>
          <p:cNvPr id="3" name="Notes Placeholder 2"/>
          <p:cNvSpPr>
            <a:spLocks noGrp="1"/>
          </p:cNvSpPr>
          <p:nvPr>
            <p:ph type="body" idx="1"/>
          </p:nvPr>
        </p:nvSpPr>
        <p:spPr/>
        <p:txBody>
          <a:bodyPr/>
          <a:lstStyle/>
          <a:p>
            <a:r>
              <a:rPr lang="en-US" dirty="0"/>
              <a:t>This graph compares</a:t>
            </a:r>
            <a:r>
              <a:rPr lang="en-US" baseline="0" dirty="0"/>
              <a:t> the latency and power needs of </a:t>
            </a:r>
            <a:r>
              <a:rPr lang="en-US" baseline="0" dirty="0" err="1"/>
              <a:t>ContikiMac</a:t>
            </a:r>
            <a:r>
              <a:rPr lang="en-US" baseline="0" dirty="0"/>
              <a:t> and </a:t>
            </a:r>
            <a:r>
              <a:rPr lang="en-US" baseline="0" dirty="0" err="1"/>
              <a:t>Xmac</a:t>
            </a:r>
            <a:r>
              <a:rPr lang="en-US" baseline="0" dirty="0"/>
              <a:t> under various levels of perturbing traffic.</a:t>
            </a:r>
          </a:p>
          <a:p>
            <a:r>
              <a:rPr lang="en-US" baseline="0" dirty="0"/>
              <a:t>As the wake-up interval is 67.5 </a:t>
            </a:r>
            <a:r>
              <a:rPr lang="en-US" baseline="0" dirty="0" err="1"/>
              <a:t>ms</a:t>
            </a:r>
            <a:r>
              <a:rPr lang="en-US" baseline="0" dirty="0"/>
              <a:t>, The minimum average value for the latency is 33.75 </a:t>
            </a:r>
            <a:r>
              <a:rPr lang="en-US" baseline="0" dirty="0" err="1"/>
              <a:t>ms.</a:t>
            </a:r>
            <a:r>
              <a:rPr lang="en-US" baseline="0" dirty="0"/>
              <a:t> Higher values imply that some packets can not be transmitted at the first wake-up of the receiver. Even with no perturbing traffic this is surprisingly the case both for </a:t>
            </a:r>
            <a:r>
              <a:rPr lang="en-US" baseline="0" dirty="0" err="1"/>
              <a:t>XMac</a:t>
            </a:r>
            <a:r>
              <a:rPr lang="en-US" baseline="0" dirty="0"/>
              <a:t> and </a:t>
            </a:r>
            <a:r>
              <a:rPr lang="en-US" baseline="0" dirty="0" err="1"/>
              <a:t>ContikiMac</a:t>
            </a:r>
            <a:r>
              <a:rPr lang="en-US" baseline="0" dirty="0"/>
              <a:t>, but the effect is stronger with </a:t>
            </a:r>
            <a:r>
              <a:rPr lang="en-US" baseline="0" dirty="0" err="1"/>
              <a:t>ContikiMac</a:t>
            </a:r>
            <a:r>
              <a:rPr lang="en-US" baseline="0" dirty="0"/>
              <a:t>. An increase of the perturbing traffic should increase the number of packets that are retarded and this is clearly observed for both RDC protocols. </a:t>
            </a:r>
          </a:p>
          <a:p>
            <a:r>
              <a:rPr lang="en-US" baseline="0" dirty="0"/>
              <a:t>For power consumption, the perturbing traffic intensity seems to have little influence, but </a:t>
            </a:r>
            <a:r>
              <a:rPr lang="en-US" baseline="0" dirty="0" err="1"/>
              <a:t>Xmac</a:t>
            </a:r>
            <a:r>
              <a:rPr lang="en-US" baseline="0" dirty="0"/>
              <a:t> is almost 3 times more </a:t>
            </a:r>
            <a:r>
              <a:rPr lang="en-US" baseline="0" dirty="0" err="1"/>
              <a:t>wastefull</a:t>
            </a:r>
            <a:r>
              <a:rPr lang="en-US" baseline="0" dirty="0"/>
              <a:t> of energy.</a:t>
            </a:r>
            <a:endParaRPr lang="en-US" dirty="0"/>
          </a:p>
          <a:p>
            <a:r>
              <a:rPr lang="en-US" dirty="0"/>
              <a:t>This graph shows how RDC protocols trade latency</a:t>
            </a:r>
            <a:r>
              <a:rPr lang="en-US" baseline="0" dirty="0"/>
              <a:t> for energy savings. </a:t>
            </a:r>
            <a:endParaRPr lang="en-US" dirty="0"/>
          </a:p>
        </p:txBody>
      </p:sp>
      <p:sp>
        <p:nvSpPr>
          <p:cNvPr id="4" name="Slide Number Placeholder 3"/>
          <p:cNvSpPr>
            <a:spLocks noGrp="1"/>
          </p:cNvSpPr>
          <p:nvPr>
            <p:ph type="sldNum" sz="quarter" idx="10"/>
          </p:nvPr>
        </p:nvSpPr>
        <p:spPr/>
        <p:txBody>
          <a:bodyPr/>
          <a:lstStyle/>
          <a:p>
            <a:pPr lvl="0"/>
            <a:fld id="{3DBF61E9-F014-4C49-B4EC-DFBC0ECFD783}" type="slidenum">
              <a:rPr lang="nl-BE" smtClean="0"/>
              <a:t>46</a:t>
            </a:fld>
            <a:endParaRPr lang="nl-BE"/>
          </a:p>
        </p:txBody>
      </p:sp>
    </p:spTree>
    <p:extLst>
      <p:ext uri="{BB962C8B-B14F-4D97-AF65-F5344CB8AC3E}">
        <p14:creationId xmlns:p14="http://schemas.microsoft.com/office/powerpoint/2010/main" val="2906653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B4EA7D6-008E-4AE8-AC80-77679A6997DD}" type="datetime1">
              <a:rPr lang="en-US" smtClean="0"/>
              <a:t>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9CBBA-8305-4466-BB85-F253002DC7EE}" type="slidenum">
              <a:rPr lang="en-US" smtClean="0"/>
              <a:t>‹#›</a:t>
            </a:fld>
            <a:endParaRPr lang="en-US" dirty="0"/>
          </a:p>
        </p:txBody>
      </p:sp>
    </p:spTree>
    <p:extLst>
      <p:ext uri="{BB962C8B-B14F-4D97-AF65-F5344CB8AC3E}">
        <p14:creationId xmlns:p14="http://schemas.microsoft.com/office/powerpoint/2010/main" val="695707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3D005F-9CDF-4C97-9305-336EA6105F19}" type="datetime1">
              <a:rPr lang="en-US" smtClean="0"/>
              <a:t>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208155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5306A3-E604-42DB-8DA6-19E1762DB0C1}" type="datetime1">
              <a:rPr lang="en-US" smtClean="0"/>
              <a:t>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3921426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1177085-9528-47BD-8BA6-45FA562C88B5}" type="datetime1">
              <a:rPr lang="en-US" smtClean="0"/>
              <a:t>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196267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2169DAC-8D41-4C53-87EF-A8BAA99F41B1}" type="datetime1">
              <a:rPr lang="en-US" smtClean="0"/>
              <a:t>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2749472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EAF31B-E26F-4ABD-90FD-0209B2B9A4AB}" type="datetime1">
              <a:rPr lang="en-US" smtClean="0"/>
              <a:t>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4254372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5698CF-1A9E-43A8-8688-5E39ADEFBAA6}" type="datetime1">
              <a:rPr lang="en-US" smtClean="0"/>
              <a:t>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3929648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AD6E59-A968-41B0-9543-1104B6288889}" type="datetime1">
              <a:rPr lang="en-US" smtClean="0"/>
              <a:t>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1130456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F453EF-ECDE-4CEE-9AE4-1AFE22A746B3}" type="datetime1">
              <a:rPr lang="en-US" smtClean="0"/>
              <a:t>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1586653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D157CF-1C6C-4746-B378-83D30579DBD9}" type="datetime1">
              <a:rPr lang="en-US" smtClean="0"/>
              <a:t>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703235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B6353E-D0BA-4C29-8D10-1FCAF3FF95B5}" type="datetime1">
              <a:rPr lang="en-US" smtClean="0"/>
              <a:t>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9CBBA-8305-4466-BB85-F253002DC7EE}" type="slidenum">
              <a:rPr lang="en-US" smtClean="0"/>
              <a:t>‹#›</a:t>
            </a:fld>
            <a:endParaRPr lang="en-US"/>
          </a:p>
        </p:txBody>
      </p:sp>
    </p:spTree>
    <p:extLst>
      <p:ext uri="{BB962C8B-B14F-4D97-AF65-F5344CB8AC3E}">
        <p14:creationId xmlns:p14="http://schemas.microsoft.com/office/powerpoint/2010/main" val="1989031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2" name="Date Placeholder 2"/>
          <p:cNvSpPr txBox="1">
            <a:spLocks noGrp="1"/>
          </p:cNvSpPr>
          <p:nvPr>
            <p:ph type="dt" sz="half" idx="7"/>
          </p:nvPr>
        </p:nvSpPr>
        <p:spPr/>
        <p:txBody>
          <a:bodyPr/>
          <a:lstStyle>
            <a:lvl1pPr>
              <a:defRPr/>
            </a:lvl1pPr>
          </a:lstStyle>
          <a:p>
            <a:pPr lvl="0"/>
            <a:r>
              <a:rPr lang="en-US"/>
              <a:t>14/11/2011</a:t>
            </a:r>
          </a:p>
        </p:txBody>
      </p:sp>
      <p:sp>
        <p:nvSpPr>
          <p:cNvPr id="3" name="Footer Placeholder 3"/>
          <p:cNvSpPr txBox="1">
            <a:spLocks noGrp="1"/>
          </p:cNvSpPr>
          <p:nvPr>
            <p:ph type="ftr" sz="quarter" idx="9"/>
          </p:nvPr>
        </p:nvSpPr>
        <p:spPr/>
        <p:txBody>
          <a:bodyPr/>
          <a:lstStyle>
            <a:lvl1pPr>
              <a:defRPr/>
            </a:lvl1pPr>
          </a:lstStyle>
          <a:p>
            <a:pPr lvl="0"/>
            <a:r>
              <a:rPr lang="en-US"/>
              <a:t>ICER 2011</a:t>
            </a:r>
          </a:p>
        </p:txBody>
      </p:sp>
      <p:sp>
        <p:nvSpPr>
          <p:cNvPr id="4" name="Slide Number Placeholder 4"/>
          <p:cNvSpPr txBox="1">
            <a:spLocks noGrp="1"/>
          </p:cNvSpPr>
          <p:nvPr>
            <p:ph type="sldNum" sz="quarter" idx="8"/>
          </p:nvPr>
        </p:nvSpPr>
        <p:spPr/>
        <p:txBody>
          <a:bodyPr/>
          <a:lstStyle>
            <a:lvl1pPr>
              <a:defRPr/>
            </a:lvl1pPr>
          </a:lstStyle>
          <a:p>
            <a:pPr lvl="0"/>
            <a:fld id="{7D206374-1615-4BB7-A883-98FE451844DD}" type="slidenum">
              <a:t>‹#›</a:t>
            </a:fld>
            <a:endParaRPr lang="en-US"/>
          </a:p>
        </p:txBody>
      </p:sp>
    </p:spTree>
    <p:extLst>
      <p:ext uri="{BB962C8B-B14F-4D97-AF65-F5344CB8AC3E}">
        <p14:creationId xmlns:p14="http://schemas.microsoft.com/office/powerpoint/2010/main" val="395768629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txBox="1">
            <a:spLocks noGrp="1"/>
          </p:cNvSpPr>
          <p:nvPr>
            <p:ph type="title"/>
          </p:nvPr>
        </p:nvSpPr>
        <p:spPr>
          <a:xfrm>
            <a:off x="1360444" y="1213555"/>
            <a:ext cx="6912004" cy="1312922"/>
          </a:xfrm>
          <a:prstGeom prst="rect">
            <a:avLst/>
          </a:prstGeom>
          <a:noFill/>
          <a:ln>
            <a:noFill/>
          </a:ln>
        </p:spPr>
        <p:txBody>
          <a:bodyPr vert="horz" wrap="square" lIns="91440" tIns="45720" rIns="91440" bIns="45720" anchor="t" anchorCtr="0" compatLnSpc="1">
            <a:noAutofit/>
          </a:bodyPr>
          <a:lstStyle>
            <a:lvl1pPr marL="0" marR="0" lvl="0" indent="0" fontAlgn="auto" hangingPunct="0">
              <a:lnSpc>
                <a:spcPct val="100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000" b="0" i="0" u="none" strike="noStrike" cap="none" spc="0" baseline="0">
                <a:solidFill>
                  <a:srgbClr val="404040"/>
                </a:solidFill>
                <a:uFillTx/>
                <a:latin typeface="Helvetica" pitchFamily="18"/>
                <a:ea typeface="Droid Sans Fallback" pitchFamily="2"/>
                <a:cs typeface="Arial" pitchFamily="34"/>
              </a:defRPr>
            </a:lvl1pPr>
          </a:lstStyle>
          <a:p>
            <a:pPr lvl="0"/>
            <a:r>
              <a:rPr lang="en-US"/>
              <a:t>Click to edit Master title style</a:t>
            </a:r>
          </a:p>
        </p:txBody>
      </p:sp>
      <p:sp>
        <p:nvSpPr>
          <p:cNvPr id="3" name="Text Placeholder 2"/>
          <p:cNvSpPr txBox="1">
            <a:spLocks noGrp="1"/>
          </p:cNvSpPr>
          <p:nvPr>
            <p:ph type="body" sz="quarter" idx="4294967295"/>
          </p:nvPr>
        </p:nvSpPr>
        <p:spPr>
          <a:xfrm>
            <a:off x="457200" y="1604515"/>
            <a:ext cx="8229243" cy="4525923"/>
          </a:xfrm>
          <a:prstGeom prst="rect">
            <a:avLst/>
          </a:prstGeom>
          <a:noFill/>
          <a:ln>
            <a:noFill/>
          </a:ln>
        </p:spPr>
        <p:txBody>
          <a:bodyPr vert="horz" wrap="square" lIns="0" tIns="0" rIns="0" bIns="0" anchor="t" anchorCtr="0" compatLnSpc="1">
            <a:noAutofit/>
          </a:bodyPr>
          <a:lstStyle>
            <a:lvl1pPr marL="0" marR="0" lvl="0" indent="0" fontAlgn="auto" hangingPunct="0">
              <a:lnSpc>
                <a:spcPct val="100000"/>
              </a:lnSpc>
              <a:spcBef>
                <a:spcPts val="0"/>
              </a:spcBef>
              <a:spcAft>
                <a:spcPts val="1415"/>
              </a:spcAft>
              <a:buNone/>
              <a:tabLst/>
              <a:defRPr lang="en-US" sz="3200" b="0" i="0" u="none" strike="noStrike" cap="none" spc="0" baseline="0">
                <a:solidFill>
                  <a:srgbClr val="000000"/>
                </a:solidFill>
                <a:uFillTx/>
                <a:latin typeface="Liberation Sans" pitchFamily="18"/>
              </a:defRPr>
            </a:lvl1pPr>
          </a:lstStyle>
          <a:p>
            <a:pPr lvl="0"/>
            <a:endParaRPr lang="en-US"/>
          </a:p>
        </p:txBody>
      </p:sp>
    </p:spTree>
    <p:extLst>
      <p:ext uri="{BB962C8B-B14F-4D97-AF65-F5344CB8AC3E}">
        <p14:creationId xmlns:p14="http://schemas.microsoft.com/office/powerpoint/2010/main" val="243905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D135C-279A-4100-93FA-4BBACF21492B}" type="datetime1">
              <a:rPr lang="en-US" smtClean="0"/>
              <a:t>3/1/2023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89CBBA-8305-4466-BB85-F253002DC7EE}" type="slidenum">
              <a:rPr lang="en-US" smtClean="0"/>
              <a:t>‹#›</a:t>
            </a:fld>
            <a:endParaRPr lang="en-US"/>
          </a:p>
        </p:txBody>
      </p:sp>
    </p:spTree>
    <p:extLst>
      <p:ext uri="{BB962C8B-B14F-4D97-AF65-F5344CB8AC3E}">
        <p14:creationId xmlns:p14="http://schemas.microsoft.com/office/powerpoint/2010/main" val="724414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6420" y="377387"/>
            <a:ext cx="7772400" cy="1470025"/>
          </a:xfrm>
        </p:spPr>
        <p:txBody>
          <a:bodyPr/>
          <a:lstStyle/>
          <a:p>
            <a:r>
              <a:rPr lang="en-US" dirty="0"/>
              <a:t>RDC  and Mac layers in Contiki </a:t>
            </a:r>
          </a:p>
        </p:txBody>
      </p:sp>
      <p:sp>
        <p:nvSpPr>
          <p:cNvPr id="3" name="Subtitle 2"/>
          <p:cNvSpPr>
            <a:spLocks noGrp="1"/>
          </p:cNvSpPr>
          <p:nvPr>
            <p:ph type="subTitle" idx="1"/>
          </p:nvPr>
        </p:nvSpPr>
        <p:spPr>
          <a:xfrm>
            <a:off x="971600" y="2708920"/>
            <a:ext cx="7272808" cy="1752600"/>
          </a:xfrm>
        </p:spPr>
        <p:txBody>
          <a:bodyPr/>
          <a:lstStyle/>
          <a:p>
            <a:r>
              <a:rPr lang="en-US" dirty="0"/>
              <a:t>Jacques Tiberghien,  Kris Steenhaut</a:t>
            </a:r>
          </a:p>
        </p:txBody>
      </p:sp>
      <p:sp>
        <p:nvSpPr>
          <p:cNvPr id="4" name="Slide Number Placeholder 3"/>
          <p:cNvSpPr>
            <a:spLocks noGrp="1"/>
          </p:cNvSpPr>
          <p:nvPr>
            <p:ph type="sldNum" sz="quarter" idx="12"/>
          </p:nvPr>
        </p:nvSpPr>
        <p:spPr/>
        <p:txBody>
          <a:bodyPr/>
          <a:lstStyle/>
          <a:p>
            <a:fld id="{5889CBBA-8305-4466-BB85-F253002DC7EE}" type="slidenum">
              <a:rPr lang="en-US" smtClean="0"/>
              <a:t>1</a:t>
            </a:fld>
            <a:endParaRPr lang="en-US" dirty="0"/>
          </a:p>
        </p:txBody>
      </p:sp>
      <p:sp>
        <p:nvSpPr>
          <p:cNvPr id="5" name="TextBox 4"/>
          <p:cNvSpPr txBox="1"/>
          <p:nvPr/>
        </p:nvSpPr>
        <p:spPr>
          <a:xfrm>
            <a:off x="1171600" y="4962908"/>
            <a:ext cx="6872807" cy="1200329"/>
          </a:xfrm>
          <a:prstGeom prst="rect">
            <a:avLst/>
          </a:prstGeom>
          <a:noFill/>
        </p:spPr>
        <p:txBody>
          <a:bodyPr wrap="square" rtlCol="0">
            <a:spAutoFit/>
          </a:bodyPr>
          <a:lstStyle/>
          <a:p>
            <a:pPr algn="ctr"/>
            <a:r>
              <a:rPr lang="en-US" dirty="0"/>
              <a:t>Remark: </a:t>
            </a:r>
            <a:br>
              <a:rPr lang="en-US" dirty="0"/>
            </a:br>
            <a:r>
              <a:rPr lang="en-US" dirty="0"/>
              <a:t>all numerical data refer to the parameters defined in IEEE802.15.4 for 32.5 Kbytes/s transmission in the 2.4 GHz frequency band.</a:t>
            </a:r>
          </a:p>
          <a:p>
            <a:pPr algn="ctr"/>
            <a:r>
              <a:rPr lang="en-US" dirty="0"/>
              <a:t>All Contiki experiments were done with Version 2.6</a:t>
            </a:r>
          </a:p>
        </p:txBody>
      </p:sp>
    </p:spTree>
    <p:extLst>
      <p:ext uri="{BB962C8B-B14F-4D97-AF65-F5344CB8AC3E}">
        <p14:creationId xmlns:p14="http://schemas.microsoft.com/office/powerpoint/2010/main" val="360983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192" y="0"/>
            <a:ext cx="8229600" cy="1143000"/>
          </a:xfrm>
        </p:spPr>
        <p:txBody>
          <a:bodyPr>
            <a:normAutofit fontScale="90000"/>
          </a:bodyPr>
          <a:lstStyle/>
          <a:p>
            <a:r>
              <a:rPr lang="en-US" sz="4900" dirty="0"/>
              <a:t>Contiki Communication stack</a:t>
            </a:r>
            <a:br>
              <a:rPr lang="en-US" sz="4900" dirty="0"/>
            </a:br>
            <a:r>
              <a:rPr lang="en-US" sz="3100" b="1" dirty="0"/>
              <a:t>Conceptual view</a:t>
            </a:r>
            <a:endParaRPr lang="en-US" b="1" dirty="0"/>
          </a:p>
        </p:txBody>
      </p:sp>
      <p:sp>
        <p:nvSpPr>
          <p:cNvPr id="23" name="Rectangle 22"/>
          <p:cNvSpPr/>
          <p:nvPr/>
        </p:nvSpPr>
        <p:spPr>
          <a:xfrm>
            <a:off x="720372" y="4864928"/>
            <a:ext cx="5844851" cy="403697"/>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MAC</a:t>
            </a:r>
          </a:p>
        </p:txBody>
      </p:sp>
      <p:sp>
        <p:nvSpPr>
          <p:cNvPr id="24" name="Rectangle 23"/>
          <p:cNvSpPr/>
          <p:nvPr/>
        </p:nvSpPr>
        <p:spPr>
          <a:xfrm>
            <a:off x="720371" y="5549189"/>
            <a:ext cx="5844851" cy="403697"/>
          </a:xfrm>
          <a:prstGeom prst="rect">
            <a:avLst/>
          </a:prstGeom>
          <a:solidFill>
            <a:schemeClr val="bg1">
              <a:lumMod val="6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RDC</a:t>
            </a:r>
          </a:p>
        </p:txBody>
      </p:sp>
      <p:sp>
        <p:nvSpPr>
          <p:cNvPr id="25" name="Rectangle 24"/>
          <p:cNvSpPr/>
          <p:nvPr/>
        </p:nvSpPr>
        <p:spPr>
          <a:xfrm>
            <a:off x="720370" y="6233450"/>
            <a:ext cx="5844851" cy="403697"/>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Physical Layer</a:t>
            </a:r>
          </a:p>
        </p:txBody>
      </p:sp>
      <p:cxnSp>
        <p:nvCxnSpPr>
          <p:cNvPr id="15" name="Straight Connector 14"/>
          <p:cNvCxnSpPr>
            <a:stCxn id="57" idx="2"/>
            <a:endCxn id="21" idx="0"/>
          </p:cNvCxnSpPr>
          <p:nvPr/>
        </p:nvCxnSpPr>
        <p:spPr>
          <a:xfrm>
            <a:off x="3595659" y="3281830"/>
            <a:ext cx="0" cy="1688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21" idx="2"/>
          </p:cNvCxnSpPr>
          <p:nvPr/>
        </p:nvCxnSpPr>
        <p:spPr>
          <a:xfrm flipH="1">
            <a:off x="3595658" y="3849419"/>
            <a:ext cx="1" cy="160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22" idx="2"/>
          </p:cNvCxnSpPr>
          <p:nvPr/>
        </p:nvCxnSpPr>
        <p:spPr>
          <a:xfrm flipH="1">
            <a:off x="3097199" y="4417007"/>
            <a:ext cx="498460" cy="167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23" idx="2"/>
            <a:endCxn id="24" idx="0"/>
          </p:cNvCxnSpPr>
          <p:nvPr/>
        </p:nvCxnSpPr>
        <p:spPr>
          <a:xfrm flipH="1">
            <a:off x="3642797" y="5268624"/>
            <a:ext cx="1" cy="28056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24" idx="2"/>
            <a:endCxn id="25" idx="0"/>
          </p:cNvCxnSpPr>
          <p:nvPr/>
        </p:nvCxnSpPr>
        <p:spPr>
          <a:xfrm flipH="1">
            <a:off x="3642796" y="5952886"/>
            <a:ext cx="1" cy="280565"/>
          </a:xfrm>
          <a:prstGeom prst="line">
            <a:avLst/>
          </a:prstGeom>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22356761-187F-8C4D-89CB-D7AF4881BC55}"/>
              </a:ext>
            </a:extLst>
          </p:cNvPr>
          <p:cNvGrpSpPr/>
          <p:nvPr/>
        </p:nvGrpSpPr>
        <p:grpSpPr>
          <a:xfrm>
            <a:off x="1984982" y="1291992"/>
            <a:ext cx="3197406" cy="3415835"/>
            <a:chOff x="4137472" y="1530561"/>
            <a:chExt cx="3197406" cy="3457888"/>
          </a:xfrm>
        </p:grpSpPr>
        <p:sp>
          <p:nvSpPr>
            <p:cNvPr id="54" name="Rounded Rectangle 53"/>
            <p:cNvSpPr/>
            <p:nvPr/>
          </p:nvSpPr>
          <p:spPr>
            <a:xfrm>
              <a:off x="4137472" y="1530561"/>
              <a:ext cx="3197406" cy="3457888"/>
            </a:xfrm>
            <a:prstGeom prst="roundRect">
              <a:avLst/>
            </a:prstGeom>
            <a:solidFill>
              <a:srgbClr val="4F81BD">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p:cNvSpPr/>
            <p:nvPr/>
          </p:nvSpPr>
          <p:spPr>
            <a:xfrm>
              <a:off x="4946023" y="2091950"/>
              <a:ext cx="1619200" cy="807393"/>
            </a:xfrm>
            <a:prstGeom prst="rect">
              <a:avLst/>
            </a:prstGeom>
            <a:solidFill>
              <a:schemeClr val="accent6">
                <a:lumMod val="75000"/>
              </a:schemeClr>
            </a:solid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M2P / P2M</a:t>
              </a:r>
            </a:p>
            <a:p>
              <a:pPr algn="ctr"/>
              <a:r>
                <a:rPr lang="en-US" sz="2400" b="1" dirty="0"/>
                <a:t>P2P</a:t>
              </a:r>
            </a:p>
          </p:txBody>
        </p:sp>
        <p:sp>
          <p:nvSpPr>
            <p:cNvPr id="57" name="Rectangle 56"/>
            <p:cNvSpPr/>
            <p:nvPr/>
          </p:nvSpPr>
          <p:spPr>
            <a:xfrm>
              <a:off x="4942885" y="3141200"/>
              <a:ext cx="1610527" cy="403697"/>
            </a:xfrm>
            <a:prstGeom prst="rect">
              <a:avLst/>
            </a:prstGeom>
            <a:solidFill>
              <a:schemeClr val="tx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TCP/UDP</a:t>
              </a:r>
            </a:p>
          </p:txBody>
        </p:sp>
        <p:sp>
          <p:nvSpPr>
            <p:cNvPr id="21" name="Rectangle 20"/>
            <p:cNvSpPr/>
            <p:nvPr/>
          </p:nvSpPr>
          <p:spPr>
            <a:xfrm>
              <a:off x="4942885" y="3715776"/>
              <a:ext cx="1610527" cy="403697"/>
            </a:xfrm>
            <a:prstGeom prst="rect">
              <a:avLst/>
            </a:prstGeom>
            <a:solidFill>
              <a:schemeClr val="tx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IPV6+RPL</a:t>
              </a:r>
            </a:p>
          </p:txBody>
        </p:sp>
        <p:sp>
          <p:nvSpPr>
            <p:cNvPr id="22" name="Rectangle 21"/>
            <p:cNvSpPr/>
            <p:nvPr/>
          </p:nvSpPr>
          <p:spPr>
            <a:xfrm>
              <a:off x="4942885" y="4290352"/>
              <a:ext cx="1610527" cy="403697"/>
            </a:xfrm>
            <a:prstGeom prst="rect">
              <a:avLst/>
            </a:prstGeom>
            <a:solidFill>
              <a:schemeClr val="tx2">
                <a:lumMod val="40000"/>
                <a:lumOff val="6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6LoWPAN</a:t>
              </a:r>
            </a:p>
          </p:txBody>
        </p:sp>
        <p:cxnSp>
          <p:nvCxnSpPr>
            <p:cNvPr id="13" name="Straight Connector 12"/>
            <p:cNvCxnSpPr>
              <a:stCxn id="56" idx="2"/>
              <a:endCxn id="57" idx="0"/>
            </p:cNvCxnSpPr>
            <p:nvPr/>
          </p:nvCxnSpPr>
          <p:spPr>
            <a:xfrm flipH="1">
              <a:off x="5748149" y="2899343"/>
              <a:ext cx="7474" cy="241857"/>
            </a:xfrm>
            <a:prstGeom prst="line">
              <a:avLst/>
            </a:prstGeom>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6553412" y="6233449"/>
            <a:ext cx="2483080" cy="461665"/>
          </a:xfrm>
          <a:prstGeom prst="rect">
            <a:avLst/>
          </a:prstGeom>
          <a:noFill/>
        </p:spPr>
        <p:txBody>
          <a:bodyPr wrap="square" rtlCol="0">
            <a:spAutoFit/>
          </a:bodyPr>
          <a:lstStyle/>
          <a:p>
            <a:r>
              <a:rPr lang="en-US" sz="2400" b="1" dirty="0">
                <a:solidFill>
                  <a:srgbClr val="00B050"/>
                </a:solidFill>
              </a:rPr>
              <a:t>IEEE 802.15.4 </a:t>
            </a:r>
            <a:r>
              <a:rPr lang="en-US" sz="2400" b="1" dirty="0" err="1">
                <a:solidFill>
                  <a:srgbClr val="00B050"/>
                </a:solidFill>
              </a:rPr>
              <a:t>Phy</a:t>
            </a:r>
            <a:endParaRPr lang="en-US" sz="2400" b="1" dirty="0">
              <a:solidFill>
                <a:srgbClr val="00B050"/>
              </a:solidFill>
            </a:endParaRPr>
          </a:p>
        </p:txBody>
      </p:sp>
    </p:spTree>
    <p:extLst>
      <p:ext uri="{BB962C8B-B14F-4D97-AF65-F5344CB8AC3E}">
        <p14:creationId xmlns:p14="http://schemas.microsoft.com/office/powerpoint/2010/main" val="930886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Zoul</a:t>
            </a:r>
            <a:r>
              <a:rPr lang="en-US" dirty="0"/>
              <a:t> Radio Architecture</a:t>
            </a:r>
          </a:p>
        </p:txBody>
      </p:sp>
      <p:grpSp>
        <p:nvGrpSpPr>
          <p:cNvPr id="9" name="Group 8"/>
          <p:cNvGrpSpPr/>
          <p:nvPr/>
        </p:nvGrpSpPr>
        <p:grpSpPr>
          <a:xfrm>
            <a:off x="241176" y="1628800"/>
            <a:ext cx="432048" cy="360040"/>
            <a:chOff x="1979712" y="1988840"/>
            <a:chExt cx="864096" cy="720080"/>
          </a:xfrm>
        </p:grpSpPr>
        <p:cxnSp>
          <p:nvCxnSpPr>
            <p:cNvPr id="4" name="Straight Connector 3"/>
            <p:cNvCxnSpPr/>
            <p:nvPr/>
          </p:nvCxnSpPr>
          <p:spPr>
            <a:xfrm>
              <a:off x="2411760" y="1988840"/>
              <a:ext cx="0" cy="7200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979712" y="1988840"/>
              <a:ext cx="432048" cy="7200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411760" y="1988840"/>
              <a:ext cx="432048" cy="72008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0" name="Rounded Rectangle 9"/>
          <p:cNvSpPr/>
          <p:nvPr/>
        </p:nvSpPr>
        <p:spPr>
          <a:xfrm>
            <a:off x="997259" y="1457998"/>
            <a:ext cx="7905547" cy="2135684"/>
          </a:xfrm>
          <a:prstGeom prst="roundRect">
            <a:avLst/>
          </a:prstGeom>
          <a:solidFill>
            <a:srgbClr val="4F81BD">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p:cNvCxnSpPr/>
          <p:nvPr/>
        </p:nvCxnSpPr>
        <p:spPr>
          <a:xfrm>
            <a:off x="457200" y="2384884"/>
            <a:ext cx="65841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7200" y="1988840"/>
            <a:ext cx="0" cy="39604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403648" y="1417638"/>
            <a:ext cx="1152128" cy="769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Rx</a:t>
            </a:r>
          </a:p>
        </p:txBody>
      </p:sp>
      <p:sp>
        <p:nvSpPr>
          <p:cNvPr id="17" name="Rectangle 16"/>
          <p:cNvSpPr/>
          <p:nvPr/>
        </p:nvSpPr>
        <p:spPr>
          <a:xfrm>
            <a:off x="1401033" y="2564904"/>
            <a:ext cx="1152128" cy="769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a:t>Tx</a:t>
            </a:r>
            <a:endParaRPr lang="en-US" sz="2800" b="1" dirty="0"/>
          </a:p>
        </p:txBody>
      </p:sp>
      <p:cxnSp>
        <p:nvCxnSpPr>
          <p:cNvPr id="20" name="Straight Connector 19"/>
          <p:cNvCxnSpPr/>
          <p:nvPr/>
        </p:nvCxnSpPr>
        <p:spPr>
          <a:xfrm>
            <a:off x="1115616" y="1802250"/>
            <a:ext cx="0" cy="114726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7" idx="1"/>
          </p:cNvCxnSpPr>
          <p:nvPr/>
        </p:nvCxnSpPr>
        <p:spPr>
          <a:xfrm>
            <a:off x="1086355" y="2949516"/>
            <a:ext cx="31467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16" idx="1"/>
          </p:cNvCxnSpPr>
          <p:nvPr/>
        </p:nvCxnSpPr>
        <p:spPr>
          <a:xfrm flipV="1">
            <a:off x="1128142" y="1802250"/>
            <a:ext cx="275506" cy="657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843808" y="1556792"/>
            <a:ext cx="284431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128 bytes FIFO</a:t>
            </a:r>
          </a:p>
        </p:txBody>
      </p:sp>
      <p:cxnSp>
        <p:nvCxnSpPr>
          <p:cNvPr id="28" name="Straight Connector 27"/>
          <p:cNvCxnSpPr>
            <a:endCxn id="26" idx="1"/>
          </p:cNvCxnSpPr>
          <p:nvPr/>
        </p:nvCxnSpPr>
        <p:spPr>
          <a:xfrm>
            <a:off x="2568302" y="1772816"/>
            <a:ext cx="275506"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2570823" y="2949516"/>
            <a:ext cx="275506"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2843808" y="2733492"/>
            <a:ext cx="284431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128 bytes FIFO</a:t>
            </a:r>
          </a:p>
        </p:txBody>
      </p:sp>
      <p:sp>
        <p:nvSpPr>
          <p:cNvPr id="33" name="TextBox 32"/>
          <p:cNvSpPr txBox="1"/>
          <p:nvPr/>
        </p:nvSpPr>
        <p:spPr>
          <a:xfrm>
            <a:off x="3068409" y="3205900"/>
            <a:ext cx="976549" cy="400110"/>
          </a:xfrm>
          <a:prstGeom prst="rect">
            <a:avLst/>
          </a:prstGeom>
          <a:noFill/>
        </p:spPr>
        <p:txBody>
          <a:bodyPr wrap="none" rtlCol="0">
            <a:spAutoFit/>
          </a:bodyPr>
          <a:lstStyle/>
          <a:p>
            <a:r>
              <a:rPr lang="en-US" sz="2000" b="1" dirty="0"/>
              <a:t>CC2538</a:t>
            </a:r>
          </a:p>
        </p:txBody>
      </p:sp>
      <p:sp>
        <p:nvSpPr>
          <p:cNvPr id="34" name="Rounded Rectangle 33"/>
          <p:cNvSpPr/>
          <p:nvPr/>
        </p:nvSpPr>
        <p:spPr>
          <a:xfrm>
            <a:off x="6372200" y="1268760"/>
            <a:ext cx="2376264" cy="244827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CPU</a:t>
            </a:r>
          </a:p>
        </p:txBody>
      </p:sp>
      <p:cxnSp>
        <p:nvCxnSpPr>
          <p:cNvPr id="35" name="Straight Connector 34"/>
          <p:cNvCxnSpPr/>
          <p:nvPr/>
        </p:nvCxnSpPr>
        <p:spPr>
          <a:xfrm flipV="1">
            <a:off x="5694387" y="1802250"/>
            <a:ext cx="677813" cy="657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endCxn id="32" idx="3"/>
          </p:cNvCxnSpPr>
          <p:nvPr/>
        </p:nvCxnSpPr>
        <p:spPr>
          <a:xfrm flipH="1">
            <a:off x="5688124" y="2944977"/>
            <a:ext cx="684076" cy="4539"/>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804248" y="3782920"/>
            <a:ext cx="2392085" cy="1754326"/>
          </a:xfrm>
          <a:prstGeom prst="rect">
            <a:avLst/>
          </a:prstGeom>
          <a:noFill/>
        </p:spPr>
        <p:txBody>
          <a:bodyPr wrap="square" rtlCol="0">
            <a:spAutoFit/>
          </a:bodyPr>
          <a:lstStyle/>
          <a:p>
            <a:r>
              <a:rPr lang="en-US" b="1" dirty="0"/>
              <a:t>CPU performs higher level  MAC functions not</a:t>
            </a:r>
            <a:br>
              <a:rPr lang="en-US" b="1" dirty="0"/>
            </a:br>
            <a:r>
              <a:rPr lang="en-US" b="1" dirty="0"/>
              <a:t>supported by the radio</a:t>
            </a:r>
            <a:br>
              <a:rPr lang="en-US" b="1" dirty="0"/>
            </a:br>
            <a:r>
              <a:rPr lang="en-US" b="1" dirty="0"/>
              <a:t>(Frame Length, Radio Duty Cycle, …)</a:t>
            </a:r>
          </a:p>
        </p:txBody>
      </p:sp>
      <p:sp>
        <p:nvSpPr>
          <p:cNvPr id="41" name="TextBox 40"/>
          <p:cNvSpPr txBox="1"/>
          <p:nvPr/>
        </p:nvSpPr>
        <p:spPr>
          <a:xfrm>
            <a:off x="457200" y="3717032"/>
            <a:ext cx="3015249" cy="2308324"/>
          </a:xfrm>
          <a:prstGeom prst="rect">
            <a:avLst/>
          </a:prstGeom>
          <a:noFill/>
        </p:spPr>
        <p:txBody>
          <a:bodyPr wrap="none" rtlCol="0">
            <a:spAutoFit/>
          </a:bodyPr>
          <a:lstStyle/>
          <a:p>
            <a:r>
              <a:rPr lang="en-US" b="1" dirty="0" err="1"/>
              <a:t>Tx</a:t>
            </a:r>
            <a:r>
              <a:rPr lang="en-US" b="1" dirty="0"/>
              <a:t>:</a:t>
            </a:r>
          </a:p>
          <a:p>
            <a:pPr marL="285750" indent="-285750">
              <a:buFont typeface="Arial" panose="020B0604020202020204" pitchFamily="34" charset="0"/>
              <a:buChar char="•"/>
            </a:pPr>
            <a:r>
              <a:rPr lang="en-US" b="1" dirty="0"/>
              <a:t>FL + MPDU (-FCS) in FIFO </a:t>
            </a:r>
          </a:p>
          <a:p>
            <a:pPr marL="285750" indent="-285750">
              <a:buFont typeface="Arial" panose="020B0604020202020204" pitchFamily="34" charset="0"/>
              <a:buChar char="•"/>
            </a:pPr>
            <a:r>
              <a:rPr lang="en-US" b="1" dirty="0"/>
              <a:t>FIFO underflow detection</a:t>
            </a:r>
          </a:p>
          <a:p>
            <a:pPr marL="285750" indent="-285750">
              <a:buFont typeface="Arial" panose="020B0604020202020204" pitchFamily="34" charset="0"/>
              <a:buChar char="•"/>
            </a:pPr>
            <a:r>
              <a:rPr lang="en-US" b="1" dirty="0"/>
              <a:t>FCS calculation &amp; insertion</a:t>
            </a:r>
          </a:p>
          <a:p>
            <a:pPr marL="285750" indent="-285750">
              <a:buFont typeface="Arial" panose="020B0604020202020204" pitchFamily="34" charset="0"/>
              <a:buChar char="•"/>
            </a:pPr>
            <a:r>
              <a:rPr lang="en-US" b="1" dirty="0"/>
              <a:t>PHY header addition</a:t>
            </a:r>
          </a:p>
          <a:p>
            <a:pPr marL="285750" indent="-285750">
              <a:buFont typeface="Arial" panose="020B0604020202020204" pitchFamily="34" charset="0"/>
              <a:buChar char="•"/>
            </a:pPr>
            <a:r>
              <a:rPr lang="en-US" b="1" dirty="0"/>
              <a:t>Encoding &amp; modulation</a:t>
            </a:r>
          </a:p>
          <a:p>
            <a:pPr marL="285750" indent="-285750">
              <a:buFont typeface="Arial" panose="020B0604020202020204" pitchFamily="34" charset="0"/>
              <a:buChar char="•"/>
            </a:pPr>
            <a:r>
              <a:rPr lang="en-US" b="1" dirty="0"/>
              <a:t>Sending </a:t>
            </a:r>
            <a:r>
              <a:rPr lang="en-US" b="1" dirty="0" err="1"/>
              <a:t>ack</a:t>
            </a:r>
            <a:r>
              <a:rPr lang="en-US" b="1" dirty="0"/>
              <a:t> frames</a:t>
            </a:r>
          </a:p>
          <a:p>
            <a:pPr marL="285750" indent="-285750">
              <a:buFont typeface="Arial" panose="020B0604020202020204" pitchFamily="34" charset="0"/>
              <a:buChar char="•"/>
            </a:pPr>
            <a:r>
              <a:rPr lang="en-US" b="1" dirty="0"/>
              <a:t>Retransmitting frames</a:t>
            </a:r>
          </a:p>
        </p:txBody>
      </p:sp>
      <p:sp>
        <p:nvSpPr>
          <p:cNvPr id="47" name="TextBox 46"/>
          <p:cNvSpPr txBox="1"/>
          <p:nvPr/>
        </p:nvSpPr>
        <p:spPr>
          <a:xfrm>
            <a:off x="3444798" y="3710820"/>
            <a:ext cx="3493649" cy="2862322"/>
          </a:xfrm>
          <a:prstGeom prst="rect">
            <a:avLst/>
          </a:prstGeom>
          <a:noFill/>
        </p:spPr>
        <p:txBody>
          <a:bodyPr wrap="none" rtlCol="0">
            <a:spAutoFit/>
          </a:bodyPr>
          <a:lstStyle/>
          <a:p>
            <a:r>
              <a:rPr lang="en-US" b="1" dirty="0"/>
              <a:t>Rx:</a:t>
            </a:r>
          </a:p>
          <a:p>
            <a:pPr marL="285750" indent="-285750">
              <a:buFont typeface="Arial" panose="020B0604020202020204" pitchFamily="34" charset="0"/>
              <a:buChar char="•"/>
            </a:pPr>
            <a:r>
              <a:rPr lang="en-US" b="1" dirty="0"/>
              <a:t>Receiver synchronization</a:t>
            </a:r>
          </a:p>
          <a:p>
            <a:pPr marL="285750" indent="-285750">
              <a:buFont typeface="Arial" panose="020B0604020202020204" pitchFamily="34" charset="0"/>
              <a:buChar char="•"/>
            </a:pPr>
            <a:r>
              <a:rPr lang="en-US" b="1" dirty="0"/>
              <a:t>Demodulation &amp; decoding&lt;</a:t>
            </a:r>
          </a:p>
          <a:p>
            <a:pPr marL="285750" indent="-285750">
              <a:buFont typeface="Arial" panose="020B0604020202020204" pitchFamily="34" charset="0"/>
              <a:buChar char="•"/>
            </a:pPr>
            <a:r>
              <a:rPr lang="en-US" b="1" dirty="0"/>
              <a:t>Discarding PHY header</a:t>
            </a:r>
          </a:p>
          <a:p>
            <a:pPr marL="285750" indent="-285750">
              <a:buFont typeface="Arial" panose="020B0604020202020204" pitchFamily="34" charset="0"/>
              <a:buChar char="•"/>
            </a:pPr>
            <a:r>
              <a:rPr lang="en-US" b="1" dirty="0"/>
              <a:t>CCA, RSSI and LQI evaluation</a:t>
            </a:r>
          </a:p>
          <a:p>
            <a:pPr marL="285750" indent="-285750">
              <a:buFont typeface="Arial" panose="020B0604020202020204" pitchFamily="34" charset="0"/>
              <a:buChar char="•"/>
            </a:pPr>
            <a:r>
              <a:rPr lang="en-US" b="1" dirty="0"/>
              <a:t>Discarding corrupted frames</a:t>
            </a:r>
          </a:p>
          <a:p>
            <a:pPr marL="285750" indent="-285750">
              <a:buFont typeface="Arial" panose="020B0604020202020204" pitchFamily="34" charset="0"/>
              <a:buChar char="•"/>
            </a:pPr>
            <a:r>
              <a:rPr lang="en-US" b="1" dirty="0"/>
              <a:t>Address based  frame selection </a:t>
            </a:r>
          </a:p>
          <a:p>
            <a:pPr marL="285750" indent="-285750">
              <a:buFont typeface="Arial" panose="020B0604020202020204" pitchFamily="34" charset="0"/>
              <a:buChar char="•"/>
            </a:pPr>
            <a:r>
              <a:rPr lang="en-US" b="1" dirty="0"/>
              <a:t>Generation of ACK frames</a:t>
            </a:r>
          </a:p>
          <a:p>
            <a:pPr marL="285750" indent="-285750">
              <a:buFont typeface="Arial" panose="020B0604020202020204" pitchFamily="34" charset="0"/>
              <a:buChar char="•"/>
            </a:pPr>
            <a:r>
              <a:rPr lang="en-US" b="1" dirty="0"/>
              <a:t>FL+MPDU-FCS+RSSI+LQI in FIFO</a:t>
            </a:r>
          </a:p>
          <a:p>
            <a:endParaRPr lang="en-US" dirty="0"/>
          </a:p>
        </p:txBody>
      </p:sp>
      <p:sp>
        <p:nvSpPr>
          <p:cNvPr id="48" name="TextBox 47"/>
          <p:cNvSpPr txBox="1"/>
          <p:nvPr/>
        </p:nvSpPr>
        <p:spPr>
          <a:xfrm>
            <a:off x="2067109" y="2200218"/>
            <a:ext cx="1581972" cy="369332"/>
          </a:xfrm>
          <a:prstGeom prst="rect">
            <a:avLst/>
          </a:prstGeom>
          <a:noFill/>
        </p:spPr>
        <p:txBody>
          <a:bodyPr wrap="none" rtlCol="0">
            <a:spAutoFit/>
          </a:bodyPr>
          <a:lstStyle/>
          <a:p>
            <a:r>
              <a:rPr lang="en-US" b="1" dirty="0"/>
              <a:t>31 250 Bytes/s</a:t>
            </a:r>
          </a:p>
        </p:txBody>
      </p:sp>
      <p:sp>
        <p:nvSpPr>
          <p:cNvPr id="3" name="Slide Number Placeholder 2"/>
          <p:cNvSpPr>
            <a:spLocks noGrp="1"/>
          </p:cNvSpPr>
          <p:nvPr>
            <p:ph type="sldNum" sz="quarter" idx="12"/>
          </p:nvPr>
        </p:nvSpPr>
        <p:spPr/>
        <p:txBody>
          <a:bodyPr/>
          <a:lstStyle/>
          <a:p>
            <a:fld id="{5889CBBA-8305-4466-BB85-F253002DC7EE}" type="slidenum">
              <a:rPr lang="en-US" smtClean="0"/>
              <a:t>3</a:t>
            </a:fld>
            <a:endParaRPr lang="en-US"/>
          </a:p>
        </p:txBody>
      </p:sp>
    </p:spTree>
    <p:extLst>
      <p:ext uri="{BB962C8B-B14F-4D97-AF65-F5344CB8AC3E}">
        <p14:creationId xmlns:p14="http://schemas.microsoft.com/office/powerpoint/2010/main" val="177557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Transmitter byte encoding </a:t>
            </a:r>
          </a:p>
        </p:txBody>
      </p:sp>
      <p:sp>
        <p:nvSpPr>
          <p:cNvPr id="3" name="Rectangle 2"/>
          <p:cNvSpPr/>
          <p:nvPr/>
        </p:nvSpPr>
        <p:spPr>
          <a:xfrm>
            <a:off x="977029" y="1979112"/>
            <a:ext cx="1427967" cy="724944"/>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Symbol delimiter</a:t>
            </a:r>
          </a:p>
        </p:txBody>
      </p:sp>
      <p:cxnSp>
        <p:nvCxnSpPr>
          <p:cNvPr id="8" name="Straight Arrow Connector 7"/>
          <p:cNvCxnSpPr>
            <a:endCxn id="3" idx="0"/>
          </p:cNvCxnSpPr>
          <p:nvPr/>
        </p:nvCxnSpPr>
        <p:spPr>
          <a:xfrm>
            <a:off x="1691012" y="1252603"/>
            <a:ext cx="1" cy="72650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691013" y="1385024"/>
            <a:ext cx="3545651" cy="461665"/>
          </a:xfrm>
          <a:prstGeom prst="rect">
            <a:avLst/>
          </a:prstGeom>
          <a:noFill/>
        </p:spPr>
        <p:txBody>
          <a:bodyPr wrap="none" rtlCol="0">
            <a:spAutoFit/>
          </a:bodyPr>
          <a:lstStyle/>
          <a:p>
            <a:r>
              <a:rPr lang="en-US" sz="2400" dirty="0"/>
              <a:t>31 250 Bytes/s = 250 kbit/s</a:t>
            </a:r>
          </a:p>
        </p:txBody>
      </p:sp>
      <p:sp>
        <p:nvSpPr>
          <p:cNvPr id="10" name="Rectangle 9"/>
          <p:cNvSpPr/>
          <p:nvPr/>
        </p:nvSpPr>
        <p:spPr>
          <a:xfrm>
            <a:off x="991642" y="4912811"/>
            <a:ext cx="1427967" cy="72494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Modulator</a:t>
            </a:r>
          </a:p>
        </p:txBody>
      </p:sp>
      <p:sp>
        <p:nvSpPr>
          <p:cNvPr id="11" name="Rectangle 10"/>
          <p:cNvSpPr/>
          <p:nvPr/>
        </p:nvSpPr>
        <p:spPr>
          <a:xfrm>
            <a:off x="991642" y="3429000"/>
            <a:ext cx="1427967" cy="724944"/>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Symbol encoding</a:t>
            </a:r>
          </a:p>
        </p:txBody>
      </p:sp>
      <p:cxnSp>
        <p:nvCxnSpPr>
          <p:cNvPr id="13" name="Straight Arrow Connector 12"/>
          <p:cNvCxnSpPr/>
          <p:nvPr/>
        </p:nvCxnSpPr>
        <p:spPr>
          <a:xfrm>
            <a:off x="1705625" y="2718669"/>
            <a:ext cx="1" cy="72650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691013" y="2851090"/>
            <a:ext cx="2369559" cy="461665"/>
          </a:xfrm>
          <a:prstGeom prst="rect">
            <a:avLst/>
          </a:prstGeom>
          <a:noFill/>
        </p:spPr>
        <p:txBody>
          <a:bodyPr wrap="none" rtlCol="0">
            <a:spAutoFit/>
          </a:bodyPr>
          <a:lstStyle/>
          <a:p>
            <a:r>
              <a:rPr lang="en-US" sz="2400" dirty="0"/>
              <a:t>62 500 Symbols/s</a:t>
            </a:r>
          </a:p>
        </p:txBody>
      </p:sp>
      <p:cxnSp>
        <p:nvCxnSpPr>
          <p:cNvPr id="15" name="Straight Arrow Connector 14"/>
          <p:cNvCxnSpPr/>
          <p:nvPr/>
        </p:nvCxnSpPr>
        <p:spPr>
          <a:xfrm>
            <a:off x="1709799" y="4153944"/>
            <a:ext cx="1" cy="72650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722898" y="4264084"/>
            <a:ext cx="2482474" cy="461665"/>
          </a:xfrm>
          <a:prstGeom prst="rect">
            <a:avLst/>
          </a:prstGeom>
          <a:noFill/>
        </p:spPr>
        <p:txBody>
          <a:bodyPr wrap="none" rtlCol="0">
            <a:spAutoFit/>
          </a:bodyPr>
          <a:lstStyle/>
          <a:p>
            <a:r>
              <a:rPr lang="en-US" sz="2400" dirty="0"/>
              <a:t>2 000 000 Chips/s</a:t>
            </a:r>
          </a:p>
        </p:txBody>
      </p:sp>
      <p:cxnSp>
        <p:nvCxnSpPr>
          <p:cNvPr id="17" name="Straight Arrow Connector 16"/>
          <p:cNvCxnSpPr/>
          <p:nvPr/>
        </p:nvCxnSpPr>
        <p:spPr>
          <a:xfrm>
            <a:off x="1390386" y="5637755"/>
            <a:ext cx="1" cy="726509"/>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525063" y="2133222"/>
            <a:ext cx="5750805" cy="461665"/>
          </a:xfrm>
          <a:prstGeom prst="rect">
            <a:avLst/>
          </a:prstGeom>
          <a:noFill/>
        </p:spPr>
        <p:txBody>
          <a:bodyPr wrap="none" rtlCol="0">
            <a:spAutoFit/>
          </a:bodyPr>
          <a:lstStyle/>
          <a:p>
            <a:r>
              <a:rPr lang="en-US" sz="2400" dirty="0"/>
              <a:t>Each byte is split into two four bit “symbols”. </a:t>
            </a:r>
          </a:p>
        </p:txBody>
      </p:sp>
      <p:sp>
        <p:nvSpPr>
          <p:cNvPr id="21" name="TextBox 20"/>
          <p:cNvSpPr txBox="1"/>
          <p:nvPr/>
        </p:nvSpPr>
        <p:spPr>
          <a:xfrm>
            <a:off x="2568226" y="5044450"/>
            <a:ext cx="5975162" cy="461665"/>
          </a:xfrm>
          <a:prstGeom prst="rect">
            <a:avLst/>
          </a:prstGeom>
          <a:noFill/>
        </p:spPr>
        <p:txBody>
          <a:bodyPr wrap="none" rtlCol="0">
            <a:spAutoFit/>
          </a:bodyPr>
          <a:lstStyle/>
          <a:p>
            <a:r>
              <a:rPr lang="en-US" sz="2400" dirty="0"/>
              <a:t>Each chip is encoded by half a period of a sine </a:t>
            </a:r>
          </a:p>
        </p:txBody>
      </p:sp>
      <p:sp>
        <p:nvSpPr>
          <p:cNvPr id="22" name="TextBox 21"/>
          <p:cNvSpPr txBox="1"/>
          <p:nvPr/>
        </p:nvSpPr>
        <p:spPr>
          <a:xfrm>
            <a:off x="2256323" y="5764055"/>
            <a:ext cx="6700296" cy="461665"/>
          </a:xfrm>
          <a:prstGeom prst="rect">
            <a:avLst/>
          </a:prstGeom>
          <a:noFill/>
        </p:spPr>
        <p:txBody>
          <a:bodyPr wrap="none" rtlCol="0">
            <a:spAutoFit/>
          </a:bodyPr>
          <a:lstStyle/>
          <a:p>
            <a:r>
              <a:rPr lang="en-US" sz="2400" dirty="0"/>
              <a:t>500 KHz phase modulated sine waves in quadrature.</a:t>
            </a:r>
          </a:p>
        </p:txBody>
      </p:sp>
      <p:cxnSp>
        <p:nvCxnSpPr>
          <p:cNvPr id="23" name="Straight Arrow Connector 22"/>
          <p:cNvCxnSpPr/>
          <p:nvPr/>
        </p:nvCxnSpPr>
        <p:spPr>
          <a:xfrm>
            <a:off x="1968671" y="5637755"/>
            <a:ext cx="1" cy="726509"/>
          </a:xfrm>
          <a:prstGeom prst="straightConnector1">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5292080" y="3065656"/>
            <a:ext cx="2868460" cy="138272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Pseudo-random Sequences</a:t>
            </a:r>
          </a:p>
          <a:p>
            <a:pPr algn="ctr"/>
            <a:r>
              <a:rPr lang="en-US" b="1" dirty="0"/>
              <a:t>(16 different sequences</a:t>
            </a:r>
            <a:br>
              <a:rPr lang="en-US" b="1" dirty="0"/>
            </a:br>
            <a:r>
              <a:rPr lang="en-US" b="1" dirty="0"/>
              <a:t>of 32 bits, called “chips” )</a:t>
            </a:r>
          </a:p>
        </p:txBody>
      </p:sp>
      <p:cxnSp>
        <p:nvCxnSpPr>
          <p:cNvPr id="25" name="Straight Arrow Connector 24"/>
          <p:cNvCxnSpPr>
            <a:stCxn id="24" idx="1"/>
          </p:cNvCxnSpPr>
          <p:nvPr/>
        </p:nvCxnSpPr>
        <p:spPr>
          <a:xfrm flipH="1" flipV="1">
            <a:off x="2419609" y="3739070"/>
            <a:ext cx="2872471" cy="17949"/>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5889CBBA-8305-4466-BB85-F253002DC7EE}" type="slidenum">
              <a:rPr lang="en-US" smtClean="0"/>
              <a:t>4</a:t>
            </a:fld>
            <a:endParaRPr lang="en-US"/>
          </a:p>
        </p:txBody>
      </p:sp>
    </p:spTree>
    <p:extLst>
      <p:ext uri="{BB962C8B-B14F-4D97-AF65-F5344CB8AC3E}">
        <p14:creationId xmlns:p14="http://schemas.microsoft.com/office/powerpoint/2010/main" val="394735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eaLnBrk="0" fontAlgn="base" hangingPunct="0">
              <a:spcAft>
                <a:spcPct val="0"/>
              </a:spcAft>
            </a:pPr>
            <a:r>
              <a:rPr kumimoji="0" lang="en-US" b="0" i="0" u="none" strike="noStrike" cap="none" normalizeH="0" baseline="0" dirty="0">
                <a:ln>
                  <a:noFill/>
                </a:ln>
                <a:solidFill>
                  <a:schemeClr val="tx1"/>
                </a:solidFill>
                <a:effectLst/>
                <a:latin typeface="Calibri" pitchFamily="34" charset="0"/>
                <a:ea typeface="Calibri" pitchFamily="34" charset="0"/>
                <a:cs typeface="Times New Roman" pitchFamily="18" charset="0"/>
              </a:rPr>
              <a:t>IEEE 802.15.4 symbol-to-chip mapping</a:t>
            </a:r>
            <a:endParaRPr kumimoji="0" lang="en-US" sz="6600" b="0"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5" name="Table 4"/>
          <p:cNvGraphicFramePr>
            <a:graphicFrameLocks noGrp="1"/>
          </p:cNvGraphicFramePr>
          <p:nvPr/>
        </p:nvGraphicFramePr>
        <p:xfrm>
          <a:off x="1014609" y="1322625"/>
          <a:ext cx="7290147" cy="5047742"/>
        </p:xfrm>
        <a:graphic>
          <a:graphicData uri="http://schemas.openxmlformats.org/drawingml/2006/table">
            <a:tbl>
              <a:tblPr firstRow="1" firstCol="1" bandRow="1">
                <a:tableStyleId>{5C22544A-7EE6-4342-B048-85BDC9FD1C3A}</a:tableStyleId>
              </a:tblPr>
              <a:tblGrid>
                <a:gridCol w="914033">
                  <a:extLst>
                    <a:ext uri="{9D8B030D-6E8A-4147-A177-3AD203B41FA5}">
                      <a16:colId xmlns:a16="http://schemas.microsoft.com/office/drawing/2014/main" val="20000"/>
                    </a:ext>
                  </a:extLst>
                </a:gridCol>
                <a:gridCol w="6376114">
                  <a:extLst>
                    <a:ext uri="{9D8B030D-6E8A-4147-A177-3AD203B41FA5}">
                      <a16:colId xmlns:a16="http://schemas.microsoft.com/office/drawing/2014/main" val="20001"/>
                    </a:ext>
                  </a:extLst>
                </a:gridCol>
              </a:tblGrid>
              <a:tr h="0">
                <a:tc>
                  <a:txBody>
                    <a:bodyPr/>
                    <a:lstStyle/>
                    <a:p>
                      <a:pPr algn="ctr">
                        <a:lnSpc>
                          <a:spcPct val="115000"/>
                        </a:lnSpc>
                        <a:spcAft>
                          <a:spcPts val="0"/>
                        </a:spcAft>
                      </a:pPr>
                      <a:r>
                        <a:rPr lang="en-US" sz="1800" dirty="0">
                          <a:effectLst/>
                        </a:rPr>
                        <a:t>Symbol</a:t>
                      </a:r>
                      <a:endParaRPr lang="en-US" sz="1800" dirty="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Chip sequence (C0, C1, C2, … , C31)</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0">
                <a:tc>
                  <a:txBody>
                    <a:bodyPr/>
                    <a:lstStyle/>
                    <a:p>
                      <a:pPr algn="ctr">
                        <a:lnSpc>
                          <a:spcPct val="115000"/>
                        </a:lnSpc>
                        <a:spcAft>
                          <a:spcPts val="0"/>
                        </a:spcAft>
                      </a:pPr>
                      <a:r>
                        <a:rPr lang="en-US" sz="1800">
                          <a:effectLst/>
                        </a:rPr>
                        <a:t>0000</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1 1 0 1 1 0 0 1 1 1 0 0 0 0 1 1 0 1 0 1 0 0 1 0 0 0 1 0 1 1 1 0</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0">
                <a:tc>
                  <a:txBody>
                    <a:bodyPr/>
                    <a:lstStyle/>
                    <a:p>
                      <a:pPr algn="ctr">
                        <a:lnSpc>
                          <a:spcPct val="115000"/>
                        </a:lnSpc>
                        <a:spcAft>
                          <a:spcPts val="0"/>
                        </a:spcAft>
                      </a:pPr>
                      <a:r>
                        <a:rPr lang="en-US" sz="1800">
                          <a:effectLst/>
                        </a:rPr>
                        <a:t>0001</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1 1 1 0 1 1 0 1 1 0 0 1 1 1 0 0 0 0 1 1 0 1 0 1 0 0 1 0 0 0 1 0</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0">
                <a:tc>
                  <a:txBody>
                    <a:bodyPr/>
                    <a:lstStyle/>
                    <a:p>
                      <a:pPr algn="ctr">
                        <a:lnSpc>
                          <a:spcPct val="115000"/>
                        </a:lnSpc>
                        <a:spcAft>
                          <a:spcPts val="0"/>
                        </a:spcAft>
                      </a:pPr>
                      <a:r>
                        <a:rPr lang="en-US" sz="1800">
                          <a:effectLst/>
                        </a:rPr>
                        <a:t>0010</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0 0 1 0 1 1 1 0 1 1 0 1 1 0 0 1 1 1 0 0 0 0 1 1 0 1 0 1 0 0 1 0</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0">
                <a:tc>
                  <a:txBody>
                    <a:bodyPr/>
                    <a:lstStyle/>
                    <a:p>
                      <a:pPr algn="ctr">
                        <a:lnSpc>
                          <a:spcPct val="115000"/>
                        </a:lnSpc>
                        <a:spcAft>
                          <a:spcPts val="0"/>
                        </a:spcAft>
                      </a:pPr>
                      <a:r>
                        <a:rPr lang="en-US" sz="1800">
                          <a:effectLst/>
                        </a:rPr>
                        <a:t>0011</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0 0 1 0 0 0 1 0 1 1 1 0 1 1 0 1 1 0 0 1 1 1 0 0 0 0 1 1 0 1 0 1</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0">
                <a:tc>
                  <a:txBody>
                    <a:bodyPr/>
                    <a:lstStyle/>
                    <a:p>
                      <a:pPr algn="ctr">
                        <a:lnSpc>
                          <a:spcPct val="115000"/>
                        </a:lnSpc>
                        <a:spcAft>
                          <a:spcPts val="0"/>
                        </a:spcAft>
                      </a:pPr>
                      <a:r>
                        <a:rPr lang="en-US" sz="1800">
                          <a:effectLst/>
                        </a:rPr>
                        <a:t>0100</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0 1 0 1 0 0 1 0 0 0 1 0 1 1 1 0 1 1 0 1 1 0 0 1 1 1 0 0 0 0 1 1</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0">
                <a:tc>
                  <a:txBody>
                    <a:bodyPr/>
                    <a:lstStyle/>
                    <a:p>
                      <a:pPr algn="ctr">
                        <a:lnSpc>
                          <a:spcPct val="115000"/>
                        </a:lnSpc>
                        <a:spcAft>
                          <a:spcPts val="0"/>
                        </a:spcAft>
                      </a:pPr>
                      <a:r>
                        <a:rPr lang="en-US" sz="1800">
                          <a:effectLst/>
                        </a:rPr>
                        <a:t>0101</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dirty="0">
                          <a:effectLst/>
                        </a:rPr>
                        <a:t>0 0 1 1 0 1 0 1 0 0 1 0 0 0 1 0 1 1 1 0 1 1 0 1 1 0 0 1 1 1 0 0</a:t>
                      </a:r>
                      <a:endParaRPr lang="en-US" sz="18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0">
                <a:tc>
                  <a:txBody>
                    <a:bodyPr/>
                    <a:lstStyle/>
                    <a:p>
                      <a:pPr algn="ctr">
                        <a:lnSpc>
                          <a:spcPct val="115000"/>
                        </a:lnSpc>
                        <a:spcAft>
                          <a:spcPts val="0"/>
                        </a:spcAft>
                      </a:pPr>
                      <a:r>
                        <a:rPr lang="en-US" sz="1800">
                          <a:effectLst/>
                        </a:rPr>
                        <a:t>0110</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1 1 0 0 0 0 1 1 0 1 0 1 0 0 1 0 0 0 1 0 1 1 1 0 1 1 0 1 1 0 0 1</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r h="0">
                <a:tc>
                  <a:txBody>
                    <a:bodyPr/>
                    <a:lstStyle/>
                    <a:p>
                      <a:pPr algn="ctr">
                        <a:lnSpc>
                          <a:spcPct val="115000"/>
                        </a:lnSpc>
                        <a:spcAft>
                          <a:spcPts val="0"/>
                        </a:spcAft>
                      </a:pPr>
                      <a:r>
                        <a:rPr lang="en-US" sz="1800">
                          <a:effectLst/>
                        </a:rPr>
                        <a:t>0111</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1 0 0 1 1 1 0 0 0 0 1 1 0 1 0 1 0 0 1 0 0 0 1 0 1 1 1 0 1 1 0 1</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0">
                <a:tc>
                  <a:txBody>
                    <a:bodyPr/>
                    <a:lstStyle/>
                    <a:p>
                      <a:pPr algn="ctr">
                        <a:lnSpc>
                          <a:spcPct val="115000"/>
                        </a:lnSpc>
                        <a:spcAft>
                          <a:spcPts val="0"/>
                        </a:spcAft>
                      </a:pPr>
                      <a:r>
                        <a:rPr lang="en-US" sz="1800">
                          <a:effectLst/>
                        </a:rPr>
                        <a:t>1000</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dirty="0">
                          <a:effectLst/>
                        </a:rPr>
                        <a:t>1 0 0 0 1 1 0 0 1 0 0 1 0 1 1 0 0 0 0 0 0 1 1 1 0 1 1 1 1 0 1 1</a:t>
                      </a:r>
                      <a:endParaRPr lang="en-US" sz="18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0">
                <a:tc>
                  <a:txBody>
                    <a:bodyPr/>
                    <a:lstStyle/>
                    <a:p>
                      <a:pPr algn="ctr">
                        <a:lnSpc>
                          <a:spcPct val="115000"/>
                        </a:lnSpc>
                        <a:spcAft>
                          <a:spcPts val="0"/>
                        </a:spcAft>
                      </a:pPr>
                      <a:r>
                        <a:rPr lang="en-US" sz="1800">
                          <a:effectLst/>
                        </a:rPr>
                        <a:t>1001</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1 0 1 1 1 0 0 0 1 1 0 0 1 0 0 1 0 1 1 0 0 0 0 0 0 1 1 1 0 1 1 1</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10"/>
                  </a:ext>
                </a:extLst>
              </a:tr>
              <a:tr h="0">
                <a:tc>
                  <a:txBody>
                    <a:bodyPr/>
                    <a:lstStyle/>
                    <a:p>
                      <a:pPr algn="ctr">
                        <a:lnSpc>
                          <a:spcPct val="115000"/>
                        </a:lnSpc>
                        <a:spcAft>
                          <a:spcPts val="0"/>
                        </a:spcAft>
                      </a:pPr>
                      <a:r>
                        <a:rPr lang="en-US" sz="1800">
                          <a:effectLst/>
                        </a:rPr>
                        <a:t>1010</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0 1 1 1 1 0 1 1 1 0 0 0 1 1 0 0 1 0 0 1 0 1 1 0 0 0 0 0 0 1 1 1</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11"/>
                  </a:ext>
                </a:extLst>
              </a:tr>
              <a:tr h="0">
                <a:tc>
                  <a:txBody>
                    <a:bodyPr/>
                    <a:lstStyle/>
                    <a:p>
                      <a:pPr algn="ctr">
                        <a:lnSpc>
                          <a:spcPct val="115000"/>
                        </a:lnSpc>
                        <a:spcAft>
                          <a:spcPts val="0"/>
                        </a:spcAft>
                      </a:pPr>
                      <a:r>
                        <a:rPr lang="en-US" sz="1800">
                          <a:effectLst/>
                        </a:rPr>
                        <a:t>1011</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0 1 1 1 0 1 1 1 1 0 1 1 1 0 0 0 1 1 0 0 1 0 0 1 0 1 1 0 0 0 0 0</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12"/>
                  </a:ext>
                </a:extLst>
              </a:tr>
              <a:tr h="0">
                <a:tc>
                  <a:txBody>
                    <a:bodyPr/>
                    <a:lstStyle/>
                    <a:p>
                      <a:pPr algn="ctr">
                        <a:lnSpc>
                          <a:spcPct val="115000"/>
                        </a:lnSpc>
                        <a:spcAft>
                          <a:spcPts val="0"/>
                        </a:spcAft>
                      </a:pPr>
                      <a:r>
                        <a:rPr lang="en-US" sz="1800">
                          <a:effectLst/>
                        </a:rPr>
                        <a:t>1100</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0 0 0 0 0 1 1 1 0 1 1 1 1 0 1 1 1 0 0 0 1 1 0 0 1 0 0 1 0 1 1 0</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13"/>
                  </a:ext>
                </a:extLst>
              </a:tr>
              <a:tr h="0">
                <a:tc>
                  <a:txBody>
                    <a:bodyPr/>
                    <a:lstStyle/>
                    <a:p>
                      <a:pPr algn="ctr">
                        <a:lnSpc>
                          <a:spcPct val="115000"/>
                        </a:lnSpc>
                        <a:spcAft>
                          <a:spcPts val="0"/>
                        </a:spcAft>
                      </a:pPr>
                      <a:r>
                        <a:rPr lang="en-US" sz="1800">
                          <a:effectLst/>
                        </a:rPr>
                        <a:t>1101</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0 1 1 0 0 0 0 0 0 1 1 1 0 1 1 1 1 0 1 1 1 0 0 0 1 1 0 0 1 0 0 1</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14"/>
                  </a:ext>
                </a:extLst>
              </a:tr>
              <a:tr h="0">
                <a:tc>
                  <a:txBody>
                    <a:bodyPr/>
                    <a:lstStyle/>
                    <a:p>
                      <a:pPr algn="ctr">
                        <a:lnSpc>
                          <a:spcPct val="115000"/>
                        </a:lnSpc>
                        <a:spcAft>
                          <a:spcPts val="0"/>
                        </a:spcAft>
                      </a:pPr>
                      <a:r>
                        <a:rPr lang="en-US" sz="1800">
                          <a:effectLst/>
                        </a:rPr>
                        <a:t>1110</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a:effectLst/>
                        </a:rPr>
                        <a:t>1 0 0 1 0 1 1 0 0 0 0 0 0 1 1 1 0 1 1 1 1 0 1 1 1 0 0 0 1 1 0 0</a:t>
                      </a:r>
                      <a:endParaRPr lang="en-US" sz="1800">
                        <a:effectLst/>
                        <a:latin typeface="Calibri"/>
                        <a:ea typeface="Calibri"/>
                        <a:cs typeface="Times New Roman"/>
                      </a:endParaRPr>
                    </a:p>
                  </a:txBody>
                  <a:tcPr marL="68580" marR="68580" marT="0" marB="0"/>
                </a:tc>
                <a:extLst>
                  <a:ext uri="{0D108BD9-81ED-4DB2-BD59-A6C34878D82A}">
                    <a16:rowId xmlns:a16="http://schemas.microsoft.com/office/drawing/2014/main" val="10015"/>
                  </a:ext>
                </a:extLst>
              </a:tr>
              <a:tr h="0">
                <a:tc>
                  <a:txBody>
                    <a:bodyPr/>
                    <a:lstStyle/>
                    <a:p>
                      <a:pPr algn="ctr">
                        <a:lnSpc>
                          <a:spcPct val="115000"/>
                        </a:lnSpc>
                        <a:spcAft>
                          <a:spcPts val="0"/>
                        </a:spcAft>
                      </a:pPr>
                      <a:r>
                        <a:rPr lang="en-US" sz="1800">
                          <a:effectLst/>
                        </a:rPr>
                        <a:t>1111</a:t>
                      </a:r>
                      <a:endParaRPr lang="en-US" sz="18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800" dirty="0">
                          <a:effectLst/>
                        </a:rPr>
                        <a:t>1 1 0 0 1 0 0 1 0 1 1 0 0 0 0 0 0 1 1 1 0 1 1 1 1 0 1 1 1 0 0 0</a:t>
                      </a:r>
                      <a:endParaRPr lang="en-US" sz="1800" dirty="0">
                        <a:effectLst/>
                        <a:latin typeface="Calibri"/>
                        <a:ea typeface="Calibri"/>
                        <a:cs typeface="Times New Roman"/>
                      </a:endParaRPr>
                    </a:p>
                  </a:txBody>
                  <a:tcPr marL="68580" marR="68580" marT="0" marB="0"/>
                </a:tc>
                <a:extLst>
                  <a:ext uri="{0D108BD9-81ED-4DB2-BD59-A6C34878D82A}">
                    <a16:rowId xmlns:a16="http://schemas.microsoft.com/office/drawing/2014/main" val="10016"/>
                  </a:ext>
                </a:extLst>
              </a:tr>
            </a:tbl>
          </a:graphicData>
        </a:graphic>
      </p:graphicFrame>
      <p:sp>
        <p:nvSpPr>
          <p:cNvPr id="3" name="Slide Number Placeholder 2"/>
          <p:cNvSpPr>
            <a:spLocks noGrp="1"/>
          </p:cNvSpPr>
          <p:nvPr>
            <p:ph type="sldNum" sz="quarter" idx="12"/>
          </p:nvPr>
        </p:nvSpPr>
        <p:spPr/>
        <p:txBody>
          <a:bodyPr/>
          <a:lstStyle/>
          <a:p>
            <a:fld id="{5889CBBA-8305-4466-BB85-F253002DC7EE}" type="slidenum">
              <a:rPr lang="en-US" smtClean="0"/>
              <a:t>5</a:t>
            </a:fld>
            <a:endParaRPr lang="en-US"/>
          </a:p>
        </p:txBody>
      </p:sp>
    </p:spTree>
    <p:extLst>
      <p:ext uri="{BB962C8B-B14F-4D97-AF65-F5344CB8AC3E}">
        <p14:creationId xmlns:p14="http://schemas.microsoft.com/office/powerpoint/2010/main" val="3103359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ABED0-E2DE-454A-9A57-09884CADEE38}"/>
              </a:ext>
            </a:extLst>
          </p:cNvPr>
          <p:cNvSpPr>
            <a:spLocks noGrp="1"/>
          </p:cNvSpPr>
          <p:nvPr>
            <p:ph type="title"/>
          </p:nvPr>
        </p:nvSpPr>
        <p:spPr/>
        <p:txBody>
          <a:bodyPr>
            <a:normAutofit fontScale="90000"/>
          </a:bodyPr>
          <a:lstStyle/>
          <a:p>
            <a:r>
              <a:rPr lang="fr-BE" dirty="0"/>
              <a:t>Cross-</a:t>
            </a:r>
            <a:r>
              <a:rPr lang="fr-BE" dirty="0" err="1"/>
              <a:t>correlation</a:t>
            </a:r>
            <a:r>
              <a:rPr lang="fr-BE" dirty="0"/>
              <a:t> of </a:t>
            </a:r>
            <a:r>
              <a:rPr lang="fr-BE" dirty="0" err="1"/>
              <a:t>binary</a:t>
            </a:r>
            <a:r>
              <a:rPr lang="fr-BE" dirty="0"/>
              <a:t> </a:t>
            </a:r>
            <a:r>
              <a:rPr lang="fr-BE" dirty="0" err="1"/>
              <a:t>sequences</a:t>
            </a:r>
            <a:endParaRPr lang="nl-BE" dirty="0"/>
          </a:p>
        </p:txBody>
      </p:sp>
      <p:sp>
        <p:nvSpPr>
          <p:cNvPr id="3" name="Slide Number Placeholder 2">
            <a:extLst>
              <a:ext uri="{FF2B5EF4-FFF2-40B4-BE49-F238E27FC236}">
                <a16:creationId xmlns:a16="http://schemas.microsoft.com/office/drawing/2014/main" id="{816BCAD9-9045-44C7-ABC3-A2FF677258A0}"/>
              </a:ext>
            </a:extLst>
          </p:cNvPr>
          <p:cNvSpPr>
            <a:spLocks noGrp="1"/>
          </p:cNvSpPr>
          <p:nvPr>
            <p:ph type="sldNum" sz="quarter" idx="12"/>
          </p:nvPr>
        </p:nvSpPr>
        <p:spPr/>
        <p:txBody>
          <a:bodyPr/>
          <a:lstStyle/>
          <a:p>
            <a:fld id="{5889CBBA-8305-4466-BB85-F253002DC7EE}" type="slidenum">
              <a:rPr lang="en-US" smtClean="0"/>
              <a:t>6</a:t>
            </a:fld>
            <a:endParaRPr lang="en-US"/>
          </a:p>
        </p:txBody>
      </p:sp>
      <p:pic>
        <p:nvPicPr>
          <p:cNvPr id="7" name="Picture 6" descr="Text, letter&#10;&#10;Description automatically generated">
            <a:extLst>
              <a:ext uri="{FF2B5EF4-FFF2-40B4-BE49-F238E27FC236}">
                <a16:creationId xmlns:a16="http://schemas.microsoft.com/office/drawing/2014/main" id="{4933705A-4B1B-4C3C-8298-CF29917432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463" y="1572126"/>
            <a:ext cx="8814342" cy="4130675"/>
          </a:xfrm>
          <a:prstGeom prst="rect">
            <a:avLst/>
          </a:prstGeom>
        </p:spPr>
      </p:pic>
    </p:spTree>
    <p:extLst>
      <p:ext uri="{BB962C8B-B14F-4D97-AF65-F5344CB8AC3E}">
        <p14:creationId xmlns:p14="http://schemas.microsoft.com/office/powerpoint/2010/main" val="3167938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Receiver byte decoding </a:t>
            </a:r>
          </a:p>
        </p:txBody>
      </p:sp>
      <p:cxnSp>
        <p:nvCxnSpPr>
          <p:cNvPr id="8" name="Straight Arrow Connector 7"/>
          <p:cNvCxnSpPr>
            <a:stCxn id="29" idx="2"/>
            <a:endCxn id="3" idx="0"/>
          </p:cNvCxnSpPr>
          <p:nvPr/>
        </p:nvCxnSpPr>
        <p:spPr>
          <a:xfrm>
            <a:off x="1664973" y="2396688"/>
            <a:ext cx="16109" cy="331223"/>
          </a:xfrm>
          <a:prstGeom prst="straightConnector1">
            <a:avLst/>
          </a:prstGeom>
          <a:ln w="38100">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88899" y="4912811"/>
            <a:ext cx="1592891" cy="72494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Demodulator</a:t>
            </a:r>
          </a:p>
        </p:txBody>
      </p:sp>
      <p:sp>
        <p:nvSpPr>
          <p:cNvPr id="11" name="Rectangle 10"/>
          <p:cNvSpPr/>
          <p:nvPr/>
        </p:nvSpPr>
        <p:spPr>
          <a:xfrm>
            <a:off x="913355" y="3794052"/>
            <a:ext cx="1592890" cy="724944"/>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Frame delimiter</a:t>
            </a:r>
          </a:p>
        </p:txBody>
      </p:sp>
      <p:cxnSp>
        <p:nvCxnSpPr>
          <p:cNvPr id="13" name="Straight Arrow Connector 12"/>
          <p:cNvCxnSpPr/>
          <p:nvPr/>
        </p:nvCxnSpPr>
        <p:spPr>
          <a:xfrm flipH="1">
            <a:off x="1701364" y="3457004"/>
            <a:ext cx="4174" cy="363255"/>
          </a:xfrm>
          <a:prstGeom prst="straightConnector1">
            <a:avLst/>
          </a:prstGeom>
          <a:ln w="38100">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1" idx="2"/>
          </p:cNvCxnSpPr>
          <p:nvPr/>
        </p:nvCxnSpPr>
        <p:spPr>
          <a:xfrm>
            <a:off x="1709800" y="4518996"/>
            <a:ext cx="0" cy="361457"/>
          </a:xfrm>
          <a:prstGeom prst="straightConnector1">
            <a:avLst/>
          </a:prstGeom>
          <a:ln w="38100">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390386" y="5637755"/>
            <a:ext cx="1" cy="363254"/>
          </a:xfrm>
          <a:prstGeom prst="straightConnector1">
            <a:avLst/>
          </a:prstGeom>
          <a:ln w="38100">
            <a:solidFill>
              <a:srgbClr val="FF66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068433" y="5639837"/>
            <a:ext cx="6700296" cy="461665"/>
          </a:xfrm>
          <a:prstGeom prst="rect">
            <a:avLst/>
          </a:prstGeom>
          <a:noFill/>
        </p:spPr>
        <p:txBody>
          <a:bodyPr wrap="none" rtlCol="0">
            <a:spAutoFit/>
          </a:bodyPr>
          <a:lstStyle/>
          <a:p>
            <a:r>
              <a:rPr lang="en-US" sz="2400" dirty="0"/>
              <a:t>500 KHz phase modulated sine waves in quadrature.</a:t>
            </a:r>
          </a:p>
        </p:txBody>
      </p:sp>
      <p:cxnSp>
        <p:nvCxnSpPr>
          <p:cNvPr id="23" name="Straight Arrow Connector 22"/>
          <p:cNvCxnSpPr/>
          <p:nvPr/>
        </p:nvCxnSpPr>
        <p:spPr>
          <a:xfrm>
            <a:off x="1968671" y="5637755"/>
            <a:ext cx="1" cy="363254"/>
          </a:xfrm>
          <a:prstGeom prst="straightConnector1">
            <a:avLst/>
          </a:prstGeom>
          <a:ln w="38100">
            <a:solidFill>
              <a:srgbClr val="FF66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2481791" y="5275283"/>
            <a:ext cx="482344" cy="0"/>
          </a:xfrm>
          <a:prstGeom prst="straightConnector1">
            <a:avLst/>
          </a:prstGeom>
          <a:ln w="38100">
            <a:solidFill>
              <a:srgbClr val="FF66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95601" y="5058801"/>
            <a:ext cx="5626348" cy="461665"/>
          </a:xfrm>
          <a:prstGeom prst="rect">
            <a:avLst/>
          </a:prstGeom>
          <a:noFill/>
        </p:spPr>
        <p:txBody>
          <a:bodyPr wrap="none" rtlCol="0">
            <a:spAutoFit/>
          </a:bodyPr>
          <a:lstStyle/>
          <a:p>
            <a:r>
              <a:rPr lang="en-US" sz="2400" dirty="0"/>
              <a:t>RSSI (</a:t>
            </a:r>
            <a:r>
              <a:rPr lang="en-US" sz="1200" dirty="0"/>
              <a:t>Received Signal Strength Indicator</a:t>
            </a:r>
            <a:r>
              <a:rPr lang="en-US" sz="2400" dirty="0"/>
              <a:t>), CCA (</a:t>
            </a:r>
            <a:r>
              <a:rPr lang="en-US" sz="1200" dirty="0"/>
              <a:t>Clear Channel Assessment</a:t>
            </a:r>
            <a:r>
              <a:rPr lang="en-US" sz="2400" dirty="0"/>
              <a:t>)</a:t>
            </a:r>
          </a:p>
        </p:txBody>
      </p:sp>
      <p:sp>
        <p:nvSpPr>
          <p:cNvPr id="3" name="Rectangle 2"/>
          <p:cNvSpPr/>
          <p:nvPr/>
        </p:nvSpPr>
        <p:spPr>
          <a:xfrm>
            <a:off x="884636" y="2727911"/>
            <a:ext cx="1592891" cy="724944"/>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Symbol </a:t>
            </a:r>
            <a:r>
              <a:rPr lang="en-US" b="1" dirty="0" err="1"/>
              <a:t>correlator</a:t>
            </a:r>
            <a:endParaRPr lang="en-US" b="1" dirty="0"/>
          </a:p>
        </p:txBody>
      </p:sp>
      <p:grpSp>
        <p:nvGrpSpPr>
          <p:cNvPr id="27" name="Group 26"/>
          <p:cNvGrpSpPr/>
          <p:nvPr/>
        </p:nvGrpSpPr>
        <p:grpSpPr>
          <a:xfrm>
            <a:off x="2432238" y="2727912"/>
            <a:ext cx="2868863" cy="461665"/>
            <a:chOff x="2450324" y="2110751"/>
            <a:chExt cx="2868863" cy="461665"/>
          </a:xfrm>
        </p:grpSpPr>
        <p:cxnSp>
          <p:nvCxnSpPr>
            <p:cNvPr id="24" name="Straight Arrow Connector 23"/>
            <p:cNvCxnSpPr/>
            <p:nvPr/>
          </p:nvCxnSpPr>
          <p:spPr>
            <a:xfrm flipH="1">
              <a:off x="2450324" y="2327233"/>
              <a:ext cx="482344" cy="0"/>
            </a:xfrm>
            <a:prstGeom prst="straightConnector1">
              <a:avLst/>
            </a:prstGeom>
            <a:ln w="38100">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921158" y="2110751"/>
              <a:ext cx="2398029" cy="461665"/>
            </a:xfrm>
            <a:prstGeom prst="rect">
              <a:avLst/>
            </a:prstGeom>
            <a:noFill/>
          </p:spPr>
          <p:txBody>
            <a:bodyPr wrap="none" rtlCol="0">
              <a:spAutoFit/>
            </a:bodyPr>
            <a:lstStyle/>
            <a:p>
              <a:r>
                <a:rPr lang="en-US" sz="2400" dirty="0"/>
                <a:t>LQI (</a:t>
              </a:r>
              <a:r>
                <a:rPr lang="en-US" sz="1400" dirty="0"/>
                <a:t>Link Quality Indicator</a:t>
              </a:r>
              <a:r>
                <a:rPr lang="en-US" sz="2400" dirty="0"/>
                <a:t>)</a:t>
              </a:r>
            </a:p>
          </p:txBody>
        </p:sp>
      </p:grpSp>
      <p:sp>
        <p:nvSpPr>
          <p:cNvPr id="29" name="Rectangle 28"/>
          <p:cNvSpPr/>
          <p:nvPr/>
        </p:nvSpPr>
        <p:spPr>
          <a:xfrm>
            <a:off x="868528" y="1671744"/>
            <a:ext cx="1592890" cy="724944"/>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Frame assembler</a:t>
            </a:r>
          </a:p>
        </p:txBody>
      </p:sp>
      <p:cxnSp>
        <p:nvCxnSpPr>
          <p:cNvPr id="39" name="Straight Arrow Connector 38"/>
          <p:cNvCxnSpPr/>
          <p:nvPr/>
        </p:nvCxnSpPr>
        <p:spPr>
          <a:xfrm>
            <a:off x="1664972" y="1240313"/>
            <a:ext cx="1" cy="431431"/>
          </a:xfrm>
          <a:prstGeom prst="straightConnector1">
            <a:avLst/>
          </a:prstGeom>
          <a:ln w="38100">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1857577" y="1210079"/>
            <a:ext cx="3650358" cy="461665"/>
          </a:xfrm>
          <a:prstGeom prst="rect">
            <a:avLst/>
          </a:prstGeom>
          <a:noFill/>
        </p:spPr>
        <p:txBody>
          <a:bodyPr wrap="none" rtlCol="0">
            <a:spAutoFit/>
          </a:bodyPr>
          <a:lstStyle/>
          <a:p>
            <a:r>
              <a:rPr lang="en-US" sz="2400" dirty="0"/>
              <a:t>Contents of received frame.</a:t>
            </a:r>
          </a:p>
        </p:txBody>
      </p:sp>
      <p:sp>
        <p:nvSpPr>
          <p:cNvPr id="43" name="Rectangle 42"/>
          <p:cNvSpPr/>
          <p:nvPr/>
        </p:nvSpPr>
        <p:spPr>
          <a:xfrm>
            <a:off x="5292080" y="2584588"/>
            <a:ext cx="2868460" cy="138272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Pseudo-random Sequences</a:t>
            </a:r>
          </a:p>
          <a:p>
            <a:pPr algn="ctr"/>
            <a:r>
              <a:rPr lang="en-US" b="1" dirty="0"/>
              <a:t>(16 different sequences</a:t>
            </a:r>
            <a:br>
              <a:rPr lang="en-US" b="1" dirty="0"/>
            </a:br>
            <a:r>
              <a:rPr lang="en-US" b="1" dirty="0"/>
              <a:t>of 32 bits, called “chips” )</a:t>
            </a:r>
          </a:p>
        </p:txBody>
      </p:sp>
      <p:cxnSp>
        <p:nvCxnSpPr>
          <p:cNvPr id="45" name="Straight Arrow Connector 44"/>
          <p:cNvCxnSpPr>
            <a:stCxn id="43" idx="1"/>
          </p:cNvCxnSpPr>
          <p:nvPr/>
        </p:nvCxnSpPr>
        <p:spPr>
          <a:xfrm flipH="1">
            <a:off x="2481791" y="3275951"/>
            <a:ext cx="2810289" cy="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5889CBBA-8305-4466-BB85-F253002DC7EE}" type="slidenum">
              <a:rPr lang="en-US" smtClean="0"/>
              <a:t>7</a:t>
            </a:fld>
            <a:endParaRPr lang="en-US"/>
          </a:p>
        </p:txBody>
      </p:sp>
    </p:spTree>
    <p:extLst>
      <p:ext uri="{BB962C8B-B14F-4D97-AF65-F5344CB8AC3E}">
        <p14:creationId xmlns:p14="http://schemas.microsoft.com/office/powerpoint/2010/main" val="2025270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CC2538 Radio</a:t>
            </a:r>
            <a:endParaRPr lang="en-US" dirty="0"/>
          </a:p>
        </p:txBody>
      </p:sp>
      <p:sp>
        <p:nvSpPr>
          <p:cNvPr id="3" name="TextBox 2"/>
          <p:cNvSpPr txBox="1"/>
          <p:nvPr/>
        </p:nvSpPr>
        <p:spPr>
          <a:xfrm>
            <a:off x="242834" y="1628800"/>
            <a:ext cx="7721666" cy="3785652"/>
          </a:xfrm>
          <a:prstGeom prst="rect">
            <a:avLst/>
          </a:prstGeom>
          <a:noFill/>
        </p:spPr>
        <p:txBody>
          <a:bodyPr wrap="none" rtlCol="0">
            <a:spAutoFit/>
          </a:bodyPr>
          <a:lstStyle/>
          <a:p>
            <a:r>
              <a:rPr lang="en-US" sz="2400" dirty="0" err="1"/>
              <a:t>Tx</a:t>
            </a:r>
            <a:r>
              <a:rPr lang="en-US" sz="2400" dirty="0"/>
              <a:t> output: software selectable between 0dBm and – 24dBm.</a:t>
            </a:r>
          </a:p>
          <a:p>
            <a:r>
              <a:rPr lang="en-US" sz="2400" dirty="0"/>
              <a:t>Rx input: </a:t>
            </a:r>
            <a:br>
              <a:rPr lang="en-US" sz="2400" dirty="0"/>
            </a:br>
            <a:r>
              <a:rPr lang="en-US" sz="2400" dirty="0"/>
              <a:t>	Minimum input signal  = - 97 dBm.</a:t>
            </a:r>
          </a:p>
          <a:p>
            <a:r>
              <a:rPr lang="en-US" sz="2400" dirty="0"/>
              <a:t>	Maximum input signal = + 7 dBm.</a:t>
            </a:r>
          </a:p>
          <a:p>
            <a:r>
              <a:rPr lang="en-US" sz="2400" dirty="0"/>
              <a:t>Received Signal Strength Indicator (RSSI) : </a:t>
            </a:r>
          </a:p>
          <a:p>
            <a:r>
              <a:rPr lang="en-US" sz="2400" dirty="0"/>
              <a:t>             Average of the signal power at input of receiver</a:t>
            </a:r>
            <a:br>
              <a:rPr lang="en-US" sz="2400" dirty="0"/>
            </a:br>
            <a:r>
              <a:rPr lang="en-US" sz="2400" dirty="0"/>
              <a:t>	Measured over 8 last received symbols (128 µS).</a:t>
            </a:r>
            <a:br>
              <a:rPr lang="en-US" sz="2400" dirty="0"/>
            </a:br>
            <a:r>
              <a:rPr lang="en-US" sz="2400" dirty="0"/>
              <a:t>	Error : +/- 4 dB</a:t>
            </a:r>
          </a:p>
          <a:p>
            <a:r>
              <a:rPr lang="en-US" sz="2400" dirty="0"/>
              <a:t>	Linearity : +/- 1 dB</a:t>
            </a:r>
          </a:p>
          <a:p>
            <a:r>
              <a:rPr lang="en-US" sz="2400" dirty="0"/>
              <a:t>	</a:t>
            </a:r>
          </a:p>
        </p:txBody>
      </p:sp>
      <p:sp>
        <p:nvSpPr>
          <p:cNvPr id="4" name="Slide Number Placeholder 3"/>
          <p:cNvSpPr>
            <a:spLocks noGrp="1"/>
          </p:cNvSpPr>
          <p:nvPr>
            <p:ph type="sldNum" sz="quarter" idx="12"/>
          </p:nvPr>
        </p:nvSpPr>
        <p:spPr/>
        <p:txBody>
          <a:bodyPr/>
          <a:lstStyle/>
          <a:p>
            <a:fld id="{5889CBBA-8305-4466-BB85-F253002DC7EE}" type="slidenum">
              <a:rPr lang="en-US" smtClean="0"/>
              <a:t>8</a:t>
            </a:fld>
            <a:endParaRPr lang="en-US"/>
          </a:p>
        </p:txBody>
      </p:sp>
      <p:pic>
        <p:nvPicPr>
          <p:cNvPr id="7" name="Picture 6" descr="Logo&#10;&#10;Description automatically generated">
            <a:extLst>
              <a:ext uri="{FF2B5EF4-FFF2-40B4-BE49-F238E27FC236}">
                <a16:creationId xmlns:a16="http://schemas.microsoft.com/office/drawing/2014/main" id="{2A74BE2D-27CD-4891-9214-392FE7F64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232" y="2492896"/>
            <a:ext cx="1714739" cy="720080"/>
          </a:xfrm>
          <a:prstGeom prst="rect">
            <a:avLst/>
          </a:prstGeom>
        </p:spPr>
      </p:pic>
    </p:spTree>
    <p:extLst>
      <p:ext uri="{BB962C8B-B14F-4D97-AF65-F5344CB8AC3E}">
        <p14:creationId xmlns:p14="http://schemas.microsoft.com/office/powerpoint/2010/main" val="1333037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CC2538 Radio</a:t>
            </a:r>
            <a:endParaRPr lang="en-US" dirty="0"/>
          </a:p>
        </p:txBody>
      </p:sp>
      <p:sp>
        <p:nvSpPr>
          <p:cNvPr id="3" name="TextBox 2"/>
          <p:cNvSpPr txBox="1"/>
          <p:nvPr/>
        </p:nvSpPr>
        <p:spPr>
          <a:xfrm>
            <a:off x="242834" y="1628800"/>
            <a:ext cx="8577476" cy="4893647"/>
          </a:xfrm>
          <a:prstGeom prst="rect">
            <a:avLst/>
          </a:prstGeom>
          <a:noFill/>
        </p:spPr>
        <p:txBody>
          <a:bodyPr wrap="none" rtlCol="0">
            <a:spAutoFit/>
          </a:bodyPr>
          <a:lstStyle/>
          <a:p>
            <a:r>
              <a:rPr lang="en-US" sz="2400" dirty="0"/>
              <a:t>Clear Channel Assessment (CCA) : measured over 128 µS </a:t>
            </a:r>
          </a:p>
          <a:p>
            <a:r>
              <a:rPr lang="en-US" sz="2400" dirty="0"/>
              <a:t>	3 conditions can be selected:</a:t>
            </a:r>
          </a:p>
          <a:p>
            <a:r>
              <a:rPr lang="en-US" sz="2400" dirty="0"/>
              <a:t>	-  Received signal below predefined threshold.</a:t>
            </a:r>
          </a:p>
          <a:p>
            <a:r>
              <a:rPr lang="en-US" sz="2400" dirty="0"/>
              <a:t>	-  Not receiving an IEEE802.15.4 frame.</a:t>
            </a:r>
          </a:p>
          <a:p>
            <a:r>
              <a:rPr lang="en-US" sz="2400" dirty="0"/>
              <a:t>	-  Both above conditions simultaneously.</a:t>
            </a:r>
          </a:p>
          <a:p>
            <a:r>
              <a:rPr lang="en-US" sz="2400" dirty="0"/>
              <a:t>	Default threshold = -77 dBm</a:t>
            </a:r>
          </a:p>
          <a:p>
            <a:endParaRPr lang="en-US" sz="2400" dirty="0"/>
          </a:p>
          <a:p>
            <a:r>
              <a:rPr lang="en-US" sz="2400" dirty="0"/>
              <a:t>Link Quality Indication (LQI): </a:t>
            </a:r>
          </a:p>
          <a:p>
            <a:r>
              <a:rPr lang="en-US" sz="2400" dirty="0"/>
              <a:t>	Average of the correlation values obtained when the  8 first </a:t>
            </a:r>
            <a:br>
              <a:rPr lang="en-US" sz="2400" dirty="0"/>
            </a:br>
            <a:r>
              <a:rPr lang="en-US" sz="2400" dirty="0"/>
              <a:t>	symbols of 32 chips are identified (32X8/2= 128)</a:t>
            </a:r>
          </a:p>
          <a:p>
            <a:r>
              <a:rPr lang="en-US" sz="2400" dirty="0"/>
              <a:t>	Excellent : 110</a:t>
            </a:r>
          </a:p>
          <a:p>
            <a:r>
              <a:rPr lang="en-US" sz="2400" dirty="0"/>
              <a:t>	Minimal : 55 </a:t>
            </a:r>
          </a:p>
          <a:p>
            <a:r>
              <a:rPr lang="en-US" sz="2400" dirty="0"/>
              <a:t>	</a:t>
            </a:r>
          </a:p>
        </p:txBody>
      </p:sp>
      <p:sp>
        <p:nvSpPr>
          <p:cNvPr id="4" name="Slide Number Placeholder 3"/>
          <p:cNvSpPr>
            <a:spLocks noGrp="1"/>
          </p:cNvSpPr>
          <p:nvPr>
            <p:ph type="sldNum" sz="quarter" idx="12"/>
          </p:nvPr>
        </p:nvSpPr>
        <p:spPr/>
        <p:txBody>
          <a:bodyPr/>
          <a:lstStyle/>
          <a:p>
            <a:fld id="{5889CBBA-8305-4466-BB85-F253002DC7EE}" type="slidenum">
              <a:rPr lang="en-US" smtClean="0"/>
              <a:t>9</a:t>
            </a:fld>
            <a:endParaRPr lang="en-US"/>
          </a:p>
        </p:txBody>
      </p:sp>
    </p:spTree>
    <p:extLst>
      <p:ext uri="{BB962C8B-B14F-4D97-AF65-F5344CB8AC3E}">
        <p14:creationId xmlns:p14="http://schemas.microsoft.com/office/powerpoint/2010/main" val="3130289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 Field Handling </a:t>
            </a:r>
          </a:p>
        </p:txBody>
      </p:sp>
      <p:sp>
        <p:nvSpPr>
          <p:cNvPr id="9" name="TextBox 8"/>
          <p:cNvSpPr txBox="1"/>
          <p:nvPr/>
        </p:nvSpPr>
        <p:spPr>
          <a:xfrm>
            <a:off x="971550" y="1417638"/>
            <a:ext cx="7188763" cy="1569660"/>
          </a:xfrm>
          <a:prstGeom prst="rect">
            <a:avLst/>
          </a:prstGeom>
          <a:noFill/>
        </p:spPr>
        <p:txBody>
          <a:bodyPr wrap="none" rtlCol="0">
            <a:spAutoFit/>
          </a:bodyPr>
          <a:lstStyle/>
          <a:p>
            <a:r>
              <a:rPr lang="en-US" sz="2400" dirty="0"/>
              <a:t>The IEEE 802.15.4 MAC frame has:</a:t>
            </a:r>
          </a:p>
          <a:p>
            <a:r>
              <a:rPr lang="en-US" sz="2400" dirty="0"/>
              <a:t>Provisions for sender and/or receiver addresses</a:t>
            </a:r>
          </a:p>
          <a:p>
            <a:r>
              <a:rPr lang="en-US" sz="2400" dirty="0"/>
              <a:t>Provisions for 16 (MIME) or 64 bit (6LoWPAN) addresses</a:t>
            </a:r>
          </a:p>
          <a:p>
            <a:r>
              <a:rPr lang="en-US" sz="2400" dirty="0"/>
              <a:t>Receiver Address = “all F” for broadcast frames</a:t>
            </a:r>
          </a:p>
        </p:txBody>
      </p:sp>
      <p:sp>
        <p:nvSpPr>
          <p:cNvPr id="19" name="TextBox 18"/>
          <p:cNvSpPr txBox="1"/>
          <p:nvPr/>
        </p:nvSpPr>
        <p:spPr>
          <a:xfrm>
            <a:off x="920109" y="3281220"/>
            <a:ext cx="7448642" cy="1938992"/>
          </a:xfrm>
          <a:prstGeom prst="rect">
            <a:avLst/>
          </a:prstGeom>
          <a:noFill/>
        </p:spPr>
        <p:txBody>
          <a:bodyPr wrap="none" rtlCol="0">
            <a:spAutoFit/>
          </a:bodyPr>
          <a:lstStyle/>
          <a:p>
            <a:r>
              <a:rPr lang="en-US" sz="2400" dirty="0"/>
              <a:t>CC2538 receiver can filter frames in function of addresses:</a:t>
            </a:r>
          </a:p>
          <a:p>
            <a:r>
              <a:rPr lang="en-US" sz="2400" dirty="0"/>
              <a:t>leave in Rx FIFO only  </a:t>
            </a:r>
          </a:p>
          <a:p>
            <a:r>
              <a:rPr lang="en-US" sz="2400" dirty="0"/>
              <a:t> - frames from specified sender</a:t>
            </a:r>
          </a:p>
          <a:p>
            <a:r>
              <a:rPr lang="en-US" sz="2400" dirty="0"/>
              <a:t> - frames with specified receiver address</a:t>
            </a:r>
          </a:p>
          <a:p>
            <a:r>
              <a:rPr lang="en-US" sz="2400" dirty="0"/>
              <a:t> - broadcast  frames </a:t>
            </a:r>
          </a:p>
        </p:txBody>
      </p:sp>
      <p:sp>
        <p:nvSpPr>
          <p:cNvPr id="3" name="Slide Number Placeholder 2"/>
          <p:cNvSpPr>
            <a:spLocks noGrp="1"/>
          </p:cNvSpPr>
          <p:nvPr>
            <p:ph type="sldNum" sz="quarter" idx="12"/>
          </p:nvPr>
        </p:nvSpPr>
        <p:spPr/>
        <p:txBody>
          <a:bodyPr/>
          <a:lstStyle/>
          <a:p>
            <a:fld id="{5889CBBA-8305-4466-BB85-F253002DC7EE}" type="slidenum">
              <a:rPr lang="en-US" smtClean="0"/>
              <a:t>10</a:t>
            </a:fld>
            <a:endParaRPr lang="en-US"/>
          </a:p>
        </p:txBody>
      </p:sp>
    </p:spTree>
    <p:extLst>
      <p:ext uri="{BB962C8B-B14F-4D97-AF65-F5344CB8AC3E}">
        <p14:creationId xmlns:p14="http://schemas.microsoft.com/office/powerpoint/2010/main" val="2531930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802-15-4  Frame Format </a:t>
            </a:r>
          </a:p>
        </p:txBody>
      </p:sp>
      <p:sp>
        <p:nvSpPr>
          <p:cNvPr id="26" name="Rectangle 25"/>
          <p:cNvSpPr/>
          <p:nvPr/>
        </p:nvSpPr>
        <p:spPr>
          <a:xfrm>
            <a:off x="3163330" y="1419834"/>
            <a:ext cx="5225094" cy="45093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kumimoji="0" lang="en-US" sz="2400" b="1" i="0" u="none" strike="noStrike" cap="none" normalizeH="0" baseline="0" dirty="0">
                <a:ln>
                  <a:noFill/>
                </a:ln>
                <a:solidFill>
                  <a:schemeClr val="tx1"/>
                </a:solidFill>
                <a:effectLst/>
                <a:latin typeface="Arial" pitchFamily="34" charset="0"/>
                <a:cs typeface="Arial" pitchFamily="34" charset="0"/>
              </a:rPr>
              <a:t>Frame Payload (&lt;=102 bytes)</a:t>
            </a:r>
          </a:p>
        </p:txBody>
      </p:sp>
      <p:sp>
        <p:nvSpPr>
          <p:cNvPr id="28" name="Rectangle 27"/>
          <p:cNvSpPr/>
          <p:nvPr/>
        </p:nvSpPr>
        <p:spPr>
          <a:xfrm>
            <a:off x="1697774" y="1417638"/>
            <a:ext cx="497961" cy="450937"/>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30" name="Rectangle 29"/>
          <p:cNvSpPr/>
          <p:nvPr/>
        </p:nvSpPr>
        <p:spPr>
          <a:xfrm>
            <a:off x="244757" y="5877272"/>
            <a:ext cx="8654485" cy="450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kumimoji="0" lang="en-US" sz="2400" b="1" i="0" u="none" strike="noStrike" cap="none" normalizeH="0" baseline="0" dirty="0">
                <a:ln>
                  <a:noFill/>
                </a:ln>
                <a:solidFill>
                  <a:schemeClr val="bg1"/>
                </a:solidFill>
                <a:effectLst/>
                <a:latin typeface="Arial" pitchFamily="34" charset="0"/>
                <a:cs typeface="Arial" pitchFamily="34" charset="0"/>
              </a:rPr>
              <a:t>PHY Protocol Data Unit (12 to 133 bytes) </a:t>
            </a:r>
          </a:p>
        </p:txBody>
      </p:sp>
      <p:grpSp>
        <p:nvGrpSpPr>
          <p:cNvPr id="64" name="Group 63"/>
          <p:cNvGrpSpPr/>
          <p:nvPr/>
        </p:nvGrpSpPr>
        <p:grpSpPr>
          <a:xfrm>
            <a:off x="257350" y="3970032"/>
            <a:ext cx="8654485" cy="450939"/>
            <a:chOff x="244757" y="3760421"/>
            <a:chExt cx="8654485" cy="450939"/>
          </a:xfrm>
        </p:grpSpPr>
        <p:sp>
          <p:nvSpPr>
            <p:cNvPr id="4" name="Rectangle 3"/>
            <p:cNvSpPr/>
            <p:nvPr/>
          </p:nvSpPr>
          <p:spPr>
            <a:xfrm>
              <a:off x="244757" y="3760423"/>
              <a:ext cx="726509" cy="450937"/>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31" name="Rectangle 30"/>
            <p:cNvSpPr/>
            <p:nvPr/>
          </p:nvSpPr>
          <p:spPr>
            <a:xfrm>
              <a:off x="1716331" y="3760423"/>
              <a:ext cx="7182911" cy="450937"/>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kumimoji="0" lang="en-US" sz="2400" b="1" i="0" u="none" strike="noStrike" cap="none" normalizeH="0" baseline="0" dirty="0">
                  <a:ln>
                    <a:noFill/>
                  </a:ln>
                  <a:solidFill>
                    <a:schemeClr val="bg1"/>
                  </a:solidFill>
                  <a:effectLst/>
                  <a:latin typeface="Arial" pitchFamily="34" charset="0"/>
                  <a:cs typeface="Arial" pitchFamily="34" charset="0"/>
                </a:rPr>
                <a:t>MAC Protocol Data Unit (6</a:t>
              </a:r>
              <a:r>
                <a:rPr kumimoji="0" lang="en-US" sz="2400" b="1" i="0" u="none" strike="noStrike" cap="none" normalizeH="0" dirty="0">
                  <a:ln>
                    <a:noFill/>
                  </a:ln>
                  <a:solidFill>
                    <a:schemeClr val="bg1"/>
                  </a:solidFill>
                  <a:effectLst/>
                  <a:latin typeface="Arial" pitchFamily="34" charset="0"/>
                  <a:cs typeface="Arial" pitchFamily="34" charset="0"/>
                </a:rPr>
                <a:t> to 127 bytes</a:t>
              </a:r>
              <a:r>
                <a:rPr kumimoji="0" lang="en-US" sz="2400" b="1" i="0" u="none" strike="noStrike" cap="none" normalizeH="0" baseline="0" dirty="0">
                  <a:ln>
                    <a:noFill/>
                  </a:ln>
                  <a:solidFill>
                    <a:schemeClr val="bg1"/>
                  </a:solidFill>
                  <a:effectLst/>
                  <a:latin typeface="Arial" pitchFamily="34" charset="0"/>
                  <a:cs typeface="Arial" pitchFamily="34" charset="0"/>
                </a:rPr>
                <a:t>) </a:t>
              </a:r>
            </a:p>
          </p:txBody>
        </p:sp>
        <p:sp>
          <p:nvSpPr>
            <p:cNvPr id="32" name="Rectangle 31"/>
            <p:cNvSpPr/>
            <p:nvPr/>
          </p:nvSpPr>
          <p:spPr>
            <a:xfrm>
              <a:off x="971267" y="3760422"/>
              <a:ext cx="363254" cy="450937"/>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kumimoji="0" lang="en-US" sz="600" b="0" i="0" u="none" strike="noStrike" cap="none" normalizeH="0" baseline="0" dirty="0">
                <a:ln>
                  <a:noFill/>
                </a:ln>
                <a:solidFill>
                  <a:schemeClr val="tx1"/>
                </a:solidFill>
                <a:effectLst/>
                <a:latin typeface="Arial" pitchFamily="34" charset="0"/>
                <a:cs typeface="Arial" pitchFamily="34" charset="0"/>
              </a:endParaRPr>
            </a:p>
          </p:txBody>
        </p:sp>
        <p:sp>
          <p:nvSpPr>
            <p:cNvPr id="33" name="Rectangle 32"/>
            <p:cNvSpPr/>
            <p:nvPr/>
          </p:nvSpPr>
          <p:spPr>
            <a:xfrm>
              <a:off x="1334521" y="3760421"/>
              <a:ext cx="363254" cy="450937"/>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grpSp>
      <p:sp>
        <p:nvSpPr>
          <p:cNvPr id="6" name="TextBox 5"/>
          <p:cNvSpPr txBox="1"/>
          <p:nvPr/>
        </p:nvSpPr>
        <p:spPr>
          <a:xfrm>
            <a:off x="1842458" y="4456591"/>
            <a:ext cx="2976969" cy="461665"/>
          </a:xfrm>
          <a:prstGeom prst="rect">
            <a:avLst/>
          </a:prstGeom>
          <a:noFill/>
        </p:spPr>
        <p:txBody>
          <a:bodyPr wrap="none" rtlCol="0">
            <a:spAutoFit/>
          </a:bodyPr>
          <a:lstStyle/>
          <a:p>
            <a:r>
              <a:rPr lang="en-US" sz="2400" b="1" dirty="0"/>
              <a:t>Frame Length (1 byte)</a:t>
            </a:r>
          </a:p>
        </p:txBody>
      </p:sp>
      <p:sp>
        <p:nvSpPr>
          <p:cNvPr id="34" name="TextBox 33"/>
          <p:cNvSpPr txBox="1"/>
          <p:nvPr/>
        </p:nvSpPr>
        <p:spPr>
          <a:xfrm>
            <a:off x="1842458" y="4874689"/>
            <a:ext cx="4323748" cy="461665"/>
          </a:xfrm>
          <a:prstGeom prst="rect">
            <a:avLst/>
          </a:prstGeom>
          <a:noFill/>
        </p:spPr>
        <p:txBody>
          <a:bodyPr wrap="none" rtlCol="0">
            <a:spAutoFit/>
          </a:bodyPr>
          <a:lstStyle/>
          <a:p>
            <a:r>
              <a:rPr lang="en-US" sz="2400" b="1" dirty="0"/>
              <a:t>Start of Frame Delimiter (1 byte)</a:t>
            </a:r>
          </a:p>
        </p:txBody>
      </p:sp>
      <p:sp>
        <p:nvSpPr>
          <p:cNvPr id="35" name="TextBox 34"/>
          <p:cNvSpPr txBox="1"/>
          <p:nvPr/>
        </p:nvSpPr>
        <p:spPr>
          <a:xfrm>
            <a:off x="1842458" y="5294701"/>
            <a:ext cx="2586542" cy="461665"/>
          </a:xfrm>
          <a:prstGeom prst="rect">
            <a:avLst/>
          </a:prstGeom>
          <a:noFill/>
        </p:spPr>
        <p:txBody>
          <a:bodyPr wrap="none" rtlCol="0">
            <a:spAutoFit/>
          </a:bodyPr>
          <a:lstStyle/>
          <a:p>
            <a:r>
              <a:rPr lang="en-US" sz="2400" b="1" dirty="0"/>
              <a:t>Preamble (4 bytes)</a:t>
            </a:r>
          </a:p>
        </p:txBody>
      </p:sp>
      <p:cxnSp>
        <p:nvCxnSpPr>
          <p:cNvPr id="9" name="Straight Arrow Connector 8"/>
          <p:cNvCxnSpPr>
            <a:endCxn id="6" idx="1"/>
          </p:cNvCxnSpPr>
          <p:nvPr/>
        </p:nvCxnSpPr>
        <p:spPr>
          <a:xfrm>
            <a:off x="1528741" y="4687423"/>
            <a:ext cx="313717"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33" idx="2"/>
          </p:cNvCxnSpPr>
          <p:nvPr/>
        </p:nvCxnSpPr>
        <p:spPr>
          <a:xfrm>
            <a:off x="1528741" y="4420969"/>
            <a:ext cx="0" cy="266455"/>
          </a:xfrm>
          <a:prstGeom prst="line">
            <a:avLst/>
          </a:prstGeom>
        </p:spPr>
        <p:style>
          <a:lnRef idx="1">
            <a:schemeClr val="accent1"/>
          </a:lnRef>
          <a:fillRef idx="0">
            <a:schemeClr val="accent1"/>
          </a:fillRef>
          <a:effectRef idx="0">
            <a:schemeClr val="accent1"/>
          </a:effectRef>
          <a:fontRef idx="minor">
            <a:schemeClr val="tx1"/>
          </a:fontRef>
        </p:style>
      </p:cxnSp>
      <p:grpSp>
        <p:nvGrpSpPr>
          <p:cNvPr id="38" name="Group 37"/>
          <p:cNvGrpSpPr/>
          <p:nvPr/>
        </p:nvGrpSpPr>
        <p:grpSpPr>
          <a:xfrm>
            <a:off x="1152894" y="4420970"/>
            <a:ext cx="689564" cy="684551"/>
            <a:chOff x="1509386" y="1979110"/>
            <a:chExt cx="326310" cy="369770"/>
          </a:xfrm>
        </p:grpSpPr>
        <p:cxnSp>
          <p:nvCxnSpPr>
            <p:cNvPr id="40" name="Straight Arrow Connector 39"/>
            <p:cNvCxnSpPr/>
            <p:nvPr/>
          </p:nvCxnSpPr>
          <p:spPr>
            <a:xfrm>
              <a:off x="1509386" y="2348880"/>
              <a:ext cx="32631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509386" y="1979110"/>
              <a:ext cx="0" cy="36977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608011" y="4420969"/>
            <a:ext cx="1224007" cy="1073088"/>
            <a:chOff x="1509386" y="1979110"/>
            <a:chExt cx="326310" cy="369770"/>
          </a:xfrm>
        </p:grpSpPr>
        <p:cxnSp>
          <p:nvCxnSpPr>
            <p:cNvPr id="46" name="Straight Arrow Connector 45"/>
            <p:cNvCxnSpPr/>
            <p:nvPr/>
          </p:nvCxnSpPr>
          <p:spPr>
            <a:xfrm>
              <a:off x="1509386" y="2348880"/>
              <a:ext cx="32631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509386" y="1979110"/>
              <a:ext cx="0" cy="36977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8" name="Rectangle 47"/>
          <p:cNvSpPr/>
          <p:nvPr/>
        </p:nvSpPr>
        <p:spPr>
          <a:xfrm>
            <a:off x="2195735" y="1419834"/>
            <a:ext cx="360041" cy="450937"/>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49" name="Rectangle 48"/>
          <p:cNvSpPr/>
          <p:nvPr/>
        </p:nvSpPr>
        <p:spPr>
          <a:xfrm>
            <a:off x="2556242" y="1417637"/>
            <a:ext cx="601724" cy="450937"/>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50" name="Rectangle 49"/>
          <p:cNvSpPr/>
          <p:nvPr/>
        </p:nvSpPr>
        <p:spPr>
          <a:xfrm>
            <a:off x="8383205" y="1419833"/>
            <a:ext cx="497961" cy="450937"/>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52" name="TextBox 51"/>
          <p:cNvSpPr txBox="1"/>
          <p:nvPr/>
        </p:nvSpPr>
        <p:spPr>
          <a:xfrm>
            <a:off x="3203438" y="2050454"/>
            <a:ext cx="4699876" cy="461665"/>
          </a:xfrm>
          <a:prstGeom prst="rect">
            <a:avLst/>
          </a:prstGeom>
          <a:noFill/>
        </p:spPr>
        <p:txBody>
          <a:bodyPr wrap="none" rtlCol="0">
            <a:spAutoFit/>
          </a:bodyPr>
          <a:lstStyle/>
          <a:p>
            <a:r>
              <a:rPr lang="en-US" sz="2400" b="1" dirty="0"/>
              <a:t>Address Information (0 to 20 bytes)</a:t>
            </a:r>
          </a:p>
        </p:txBody>
      </p:sp>
      <p:sp>
        <p:nvSpPr>
          <p:cNvPr id="53" name="TextBox 52"/>
          <p:cNvSpPr txBox="1"/>
          <p:nvPr/>
        </p:nvSpPr>
        <p:spPr>
          <a:xfrm>
            <a:off x="3197360" y="2471370"/>
            <a:ext cx="4260846" cy="461665"/>
          </a:xfrm>
          <a:prstGeom prst="rect">
            <a:avLst/>
          </a:prstGeom>
          <a:noFill/>
        </p:spPr>
        <p:txBody>
          <a:bodyPr wrap="none" rtlCol="0">
            <a:spAutoFit/>
          </a:bodyPr>
          <a:lstStyle/>
          <a:p>
            <a:r>
              <a:rPr lang="en-US" sz="2400" b="1" dirty="0"/>
              <a:t>Data Sequence Number (1 byte)</a:t>
            </a:r>
          </a:p>
        </p:txBody>
      </p:sp>
      <p:sp>
        <p:nvSpPr>
          <p:cNvPr id="54" name="TextBox 53"/>
          <p:cNvSpPr txBox="1"/>
          <p:nvPr/>
        </p:nvSpPr>
        <p:spPr>
          <a:xfrm>
            <a:off x="3203438" y="2922635"/>
            <a:ext cx="3859005" cy="461665"/>
          </a:xfrm>
          <a:prstGeom prst="rect">
            <a:avLst/>
          </a:prstGeom>
          <a:noFill/>
        </p:spPr>
        <p:txBody>
          <a:bodyPr wrap="none" rtlCol="0">
            <a:spAutoFit/>
          </a:bodyPr>
          <a:lstStyle/>
          <a:p>
            <a:r>
              <a:rPr lang="en-US" sz="2400" b="1" dirty="0"/>
              <a:t>Frame Control Field (2 bytes)</a:t>
            </a:r>
          </a:p>
        </p:txBody>
      </p:sp>
      <p:cxnSp>
        <p:nvCxnSpPr>
          <p:cNvPr id="62" name="Straight Arrow Connector 61"/>
          <p:cNvCxnSpPr>
            <a:endCxn id="52" idx="1"/>
          </p:cNvCxnSpPr>
          <p:nvPr/>
        </p:nvCxnSpPr>
        <p:spPr>
          <a:xfrm>
            <a:off x="2857104" y="2281286"/>
            <a:ext cx="346334"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49" idx="2"/>
          </p:cNvCxnSpPr>
          <p:nvPr/>
        </p:nvCxnSpPr>
        <p:spPr>
          <a:xfrm>
            <a:off x="2857104" y="1868574"/>
            <a:ext cx="0" cy="412712"/>
          </a:xfrm>
          <a:prstGeom prst="line">
            <a:avLst/>
          </a:prstGeom>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2375755" y="1870771"/>
            <a:ext cx="805446" cy="845396"/>
            <a:chOff x="1509386" y="1979110"/>
            <a:chExt cx="326310" cy="369770"/>
          </a:xfrm>
        </p:grpSpPr>
        <p:cxnSp>
          <p:nvCxnSpPr>
            <p:cNvPr id="60" name="Straight Arrow Connector 59"/>
            <p:cNvCxnSpPr/>
            <p:nvPr/>
          </p:nvCxnSpPr>
          <p:spPr>
            <a:xfrm>
              <a:off x="1509386" y="2348880"/>
              <a:ext cx="32631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1509386" y="1979110"/>
              <a:ext cx="0" cy="36977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1946754" y="1870771"/>
            <a:ext cx="1256684" cy="1282697"/>
            <a:chOff x="1509386" y="1979110"/>
            <a:chExt cx="326310" cy="369770"/>
          </a:xfrm>
        </p:grpSpPr>
        <p:cxnSp>
          <p:nvCxnSpPr>
            <p:cNvPr id="58" name="Straight Arrow Connector 57"/>
            <p:cNvCxnSpPr/>
            <p:nvPr/>
          </p:nvCxnSpPr>
          <p:spPr>
            <a:xfrm>
              <a:off x="1509386" y="2348880"/>
              <a:ext cx="32631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1509386" y="1979110"/>
              <a:ext cx="0" cy="36977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7" name="TextBox 66"/>
          <p:cNvSpPr txBox="1"/>
          <p:nvPr/>
        </p:nvSpPr>
        <p:spPr>
          <a:xfrm>
            <a:off x="3203438" y="3384300"/>
            <a:ext cx="4298484" cy="461665"/>
          </a:xfrm>
          <a:prstGeom prst="rect">
            <a:avLst/>
          </a:prstGeom>
          <a:noFill/>
        </p:spPr>
        <p:txBody>
          <a:bodyPr wrap="none" rtlCol="0">
            <a:spAutoFit/>
          </a:bodyPr>
          <a:lstStyle/>
          <a:p>
            <a:r>
              <a:rPr lang="en-US" sz="2400" b="1" u="sng" dirty="0"/>
              <a:t>F</a:t>
            </a:r>
            <a:r>
              <a:rPr lang="en-US" sz="2400" b="1" dirty="0"/>
              <a:t>rame </a:t>
            </a:r>
            <a:r>
              <a:rPr lang="en-US" sz="2400" b="1" u="sng" dirty="0"/>
              <a:t>C</a:t>
            </a:r>
            <a:r>
              <a:rPr lang="en-US" sz="2400" b="1" dirty="0"/>
              <a:t>heck </a:t>
            </a:r>
            <a:r>
              <a:rPr lang="en-US" sz="2400" b="1" u="sng" dirty="0"/>
              <a:t>S</a:t>
            </a:r>
            <a:r>
              <a:rPr lang="en-US" sz="2400" b="1" dirty="0"/>
              <a:t>equence (2 bytes)</a:t>
            </a:r>
          </a:p>
        </p:txBody>
      </p:sp>
      <p:grpSp>
        <p:nvGrpSpPr>
          <p:cNvPr id="68" name="Group 67"/>
          <p:cNvGrpSpPr/>
          <p:nvPr/>
        </p:nvGrpSpPr>
        <p:grpSpPr>
          <a:xfrm flipH="1">
            <a:off x="7408177" y="1885521"/>
            <a:ext cx="1224007" cy="1729612"/>
            <a:chOff x="1509386" y="1979110"/>
            <a:chExt cx="326310" cy="369770"/>
          </a:xfrm>
        </p:grpSpPr>
        <p:cxnSp>
          <p:nvCxnSpPr>
            <p:cNvPr id="69" name="Straight Arrow Connector 68"/>
            <p:cNvCxnSpPr/>
            <p:nvPr/>
          </p:nvCxnSpPr>
          <p:spPr>
            <a:xfrm>
              <a:off x="1509386" y="2348880"/>
              <a:ext cx="32631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1509386" y="1979110"/>
              <a:ext cx="0" cy="36977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 name="Slide Number Placeholder 2"/>
          <p:cNvSpPr>
            <a:spLocks noGrp="1"/>
          </p:cNvSpPr>
          <p:nvPr>
            <p:ph type="sldNum" sz="quarter" idx="12"/>
          </p:nvPr>
        </p:nvSpPr>
        <p:spPr/>
        <p:txBody>
          <a:bodyPr/>
          <a:lstStyle/>
          <a:p>
            <a:fld id="{5889CBBA-8305-4466-BB85-F253002DC7EE}" type="slidenum">
              <a:rPr lang="en-US" smtClean="0"/>
              <a:t>11</a:t>
            </a:fld>
            <a:endParaRPr lang="en-US"/>
          </a:p>
        </p:txBody>
      </p:sp>
    </p:spTree>
    <p:extLst>
      <p:ext uri="{BB962C8B-B14F-4D97-AF65-F5344CB8AC3E}">
        <p14:creationId xmlns:p14="http://schemas.microsoft.com/office/powerpoint/2010/main" val="3692301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World Verifications</a:t>
            </a:r>
          </a:p>
        </p:txBody>
      </p:sp>
      <p:sp>
        <p:nvSpPr>
          <p:cNvPr id="3" name="Slide Number Placeholder 2"/>
          <p:cNvSpPr>
            <a:spLocks noGrp="1"/>
          </p:cNvSpPr>
          <p:nvPr>
            <p:ph type="sldNum" sz="quarter" idx="12"/>
          </p:nvPr>
        </p:nvSpPr>
        <p:spPr/>
        <p:txBody>
          <a:bodyPr/>
          <a:lstStyle/>
          <a:p>
            <a:fld id="{5889CBBA-8305-4466-BB85-F253002DC7EE}" type="slidenum">
              <a:rPr lang="en-US" smtClean="0"/>
              <a:t>12</a:t>
            </a:fld>
            <a:endParaRPr lang="en-US"/>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1844" y="1401638"/>
            <a:ext cx="7380312" cy="4940539"/>
          </a:xfrm>
          <a:prstGeom prst="rect">
            <a:avLst/>
          </a:prstGeom>
        </p:spPr>
      </p:pic>
    </p:spTree>
    <p:extLst>
      <p:ext uri="{BB962C8B-B14F-4D97-AF65-F5344CB8AC3E}">
        <p14:creationId xmlns:p14="http://schemas.microsoft.com/office/powerpoint/2010/main" val="2150949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7803" y="280753"/>
            <a:ext cx="6707088" cy="1143000"/>
          </a:xfrm>
        </p:spPr>
        <p:txBody>
          <a:bodyPr>
            <a:normAutofit fontScale="90000"/>
          </a:bodyPr>
          <a:lstStyle/>
          <a:p>
            <a:r>
              <a:rPr lang="en-US" dirty="0"/>
              <a:t>Antenna radiation patterns</a:t>
            </a:r>
            <a:br>
              <a:rPr lang="en-US" dirty="0"/>
            </a:br>
            <a:r>
              <a:rPr lang="en-US" dirty="0"/>
              <a:t>(patterns with former </a:t>
            </a:r>
            <a:r>
              <a:rPr lang="en-US"/>
              <a:t>radio )</a:t>
            </a:r>
            <a:endParaRPr lang="en-US" dirty="0"/>
          </a:p>
        </p:txBody>
      </p:sp>
      <p:sp>
        <p:nvSpPr>
          <p:cNvPr id="3" name="Slide Number Placeholder 2"/>
          <p:cNvSpPr>
            <a:spLocks noGrp="1"/>
          </p:cNvSpPr>
          <p:nvPr>
            <p:ph type="sldNum" sz="quarter" idx="12"/>
          </p:nvPr>
        </p:nvSpPr>
        <p:spPr/>
        <p:txBody>
          <a:bodyPr/>
          <a:lstStyle/>
          <a:p>
            <a:fld id="{5889CBBA-8305-4466-BB85-F253002DC7EE}" type="slidenum">
              <a:rPr lang="en-US" smtClean="0"/>
              <a:t>13</a:t>
            </a:fld>
            <a:endParaRPr lang="en-US"/>
          </a:p>
        </p:txBody>
      </p:sp>
      <p:grpSp>
        <p:nvGrpSpPr>
          <p:cNvPr id="20" name="Group 19"/>
          <p:cNvGrpSpPr/>
          <p:nvPr/>
        </p:nvGrpSpPr>
        <p:grpSpPr>
          <a:xfrm>
            <a:off x="-272609" y="1679735"/>
            <a:ext cx="8959409" cy="4525963"/>
            <a:chOff x="-272609" y="1333938"/>
            <a:chExt cx="8959409" cy="4525963"/>
          </a:xfrm>
        </p:grpSpPr>
        <p:sp>
          <p:nvSpPr>
            <p:cNvPr id="7" name="TextBox 6"/>
            <p:cNvSpPr txBox="1"/>
            <p:nvPr/>
          </p:nvSpPr>
          <p:spPr>
            <a:xfrm>
              <a:off x="868476" y="1653945"/>
              <a:ext cx="3748142" cy="830997"/>
            </a:xfrm>
            <a:prstGeom prst="rect">
              <a:avLst/>
            </a:prstGeom>
            <a:noFill/>
          </p:spPr>
          <p:txBody>
            <a:bodyPr wrap="none" rtlCol="0">
              <a:spAutoFit/>
            </a:bodyPr>
            <a:lstStyle/>
            <a:p>
              <a:pPr algn="ctr"/>
              <a:r>
                <a:rPr lang="en-US" sz="2400" dirty="0"/>
                <a:t>Horizontal radiation diagram</a:t>
              </a:r>
              <a:br>
                <a:rPr lang="en-US" sz="2400" dirty="0"/>
              </a:br>
              <a:r>
                <a:rPr lang="en-US" sz="2400" dirty="0"/>
                <a:t>of build-in antenna</a:t>
              </a:r>
            </a:p>
          </p:txBody>
        </p:sp>
        <p:sp>
          <p:nvSpPr>
            <p:cNvPr id="8" name="TextBox 7"/>
            <p:cNvSpPr txBox="1"/>
            <p:nvPr/>
          </p:nvSpPr>
          <p:spPr>
            <a:xfrm>
              <a:off x="4744887" y="1679735"/>
              <a:ext cx="3941913" cy="830997"/>
            </a:xfrm>
            <a:prstGeom prst="rect">
              <a:avLst/>
            </a:prstGeom>
            <a:noFill/>
          </p:spPr>
          <p:txBody>
            <a:bodyPr wrap="none" rtlCol="0">
              <a:spAutoFit/>
            </a:bodyPr>
            <a:lstStyle/>
            <a:p>
              <a:pPr algn="ctr"/>
              <a:r>
                <a:rPr lang="en-US" sz="2400" dirty="0"/>
                <a:t>Vertical whip antenna</a:t>
              </a:r>
              <a:br>
                <a:rPr lang="en-US" sz="2400" dirty="0"/>
              </a:br>
              <a:r>
                <a:rPr lang="en-US" sz="2400" dirty="0"/>
                <a:t>Uniform radiation horizontally</a:t>
              </a:r>
            </a:p>
          </p:txBody>
        </p:sp>
        <p:grpSp>
          <p:nvGrpSpPr>
            <p:cNvPr id="19" name="Group 18"/>
            <p:cNvGrpSpPr/>
            <p:nvPr/>
          </p:nvGrpSpPr>
          <p:grpSpPr>
            <a:xfrm>
              <a:off x="5436096" y="3266889"/>
              <a:ext cx="2774372" cy="1520314"/>
              <a:chOff x="4892784" y="3213420"/>
              <a:chExt cx="2774372" cy="1520314"/>
            </a:xfrm>
          </p:grpSpPr>
          <p:grpSp>
            <p:nvGrpSpPr>
              <p:cNvPr id="9" name="Group 8"/>
              <p:cNvGrpSpPr/>
              <p:nvPr/>
            </p:nvGrpSpPr>
            <p:grpSpPr>
              <a:xfrm>
                <a:off x="4892784" y="3769806"/>
                <a:ext cx="124186" cy="706688"/>
                <a:chOff x="5927075" y="3429000"/>
                <a:chExt cx="165253" cy="845545"/>
              </a:xfrm>
            </p:grpSpPr>
            <p:cxnSp>
              <p:nvCxnSpPr>
                <p:cNvPr id="16" name="Straight Connector 15"/>
                <p:cNvCxnSpPr/>
                <p:nvPr/>
              </p:nvCxnSpPr>
              <p:spPr>
                <a:xfrm>
                  <a:off x="6004193" y="3429000"/>
                  <a:ext cx="0" cy="57012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927075" y="3999123"/>
                  <a:ext cx="165253" cy="275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Isosceles Triangle 9"/>
              <p:cNvSpPr/>
              <p:nvPr/>
            </p:nvSpPr>
            <p:spPr>
              <a:xfrm rot="16200000">
                <a:off x="5788691" y="2651914"/>
                <a:ext cx="1044650" cy="2712280"/>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rot="16200000">
                <a:off x="5813672" y="3822166"/>
                <a:ext cx="501337" cy="346938"/>
              </a:xfrm>
              <a:prstGeom prst="rect">
                <a:avLst/>
              </a:prstGeom>
              <a:noFill/>
            </p:spPr>
            <p:txBody>
              <a:bodyPr wrap="none" rtlCol="0">
                <a:spAutoFit/>
              </a:bodyPr>
              <a:lstStyle/>
              <a:p>
                <a:r>
                  <a:rPr lang="en-US" sz="2400" dirty="0"/>
                  <a:t>20°</a:t>
                </a:r>
              </a:p>
            </p:txBody>
          </p:sp>
          <p:sp>
            <p:nvSpPr>
              <p:cNvPr id="12" name="TextBox 11"/>
              <p:cNvSpPr txBox="1"/>
              <p:nvPr/>
            </p:nvSpPr>
            <p:spPr>
              <a:xfrm>
                <a:off x="6443684" y="3712236"/>
                <a:ext cx="1162771" cy="591636"/>
              </a:xfrm>
              <a:prstGeom prst="rect">
                <a:avLst/>
              </a:prstGeom>
              <a:noFill/>
            </p:spPr>
            <p:txBody>
              <a:bodyPr wrap="none" rtlCol="0">
                <a:spAutoFit/>
              </a:bodyPr>
              <a:lstStyle/>
              <a:p>
                <a:pPr algn="ctr"/>
                <a:r>
                  <a:rPr lang="en-US" sz="2000" i="1" dirty="0"/>
                  <a:t>Stable within</a:t>
                </a:r>
              </a:p>
              <a:p>
                <a:pPr algn="ctr"/>
                <a:r>
                  <a:rPr lang="en-US" sz="2000" i="1" dirty="0"/>
                  <a:t> +/- 2 dB</a:t>
                </a:r>
              </a:p>
            </p:txBody>
          </p:sp>
          <p:sp>
            <p:nvSpPr>
              <p:cNvPr id="13" name="TextBox 12"/>
              <p:cNvSpPr txBox="1"/>
              <p:nvPr/>
            </p:nvSpPr>
            <p:spPr>
              <a:xfrm rot="21012481">
                <a:off x="5503533" y="3213420"/>
                <a:ext cx="1616824" cy="334403"/>
              </a:xfrm>
              <a:prstGeom prst="rect">
                <a:avLst/>
              </a:prstGeom>
              <a:noFill/>
            </p:spPr>
            <p:txBody>
              <a:bodyPr wrap="none" rtlCol="0">
                <a:spAutoFit/>
              </a:bodyPr>
              <a:lstStyle/>
              <a:p>
                <a:r>
                  <a:rPr lang="en-US" sz="2000" i="1" dirty="0"/>
                  <a:t>Strong attenuation</a:t>
                </a:r>
              </a:p>
            </p:txBody>
          </p:sp>
          <p:sp>
            <p:nvSpPr>
              <p:cNvPr id="14" name="TextBox 13"/>
              <p:cNvSpPr txBox="1"/>
              <p:nvPr/>
            </p:nvSpPr>
            <p:spPr>
              <a:xfrm rot="597774">
                <a:off x="5503068" y="4399331"/>
                <a:ext cx="1616824" cy="334403"/>
              </a:xfrm>
              <a:prstGeom prst="rect">
                <a:avLst/>
              </a:prstGeom>
              <a:noFill/>
            </p:spPr>
            <p:txBody>
              <a:bodyPr wrap="none" rtlCol="0">
                <a:spAutoFit/>
              </a:bodyPr>
              <a:lstStyle/>
              <a:p>
                <a:r>
                  <a:rPr lang="en-US" sz="2000" i="1" dirty="0"/>
                  <a:t>Strong attenuation</a:t>
                </a:r>
              </a:p>
            </p:txBody>
          </p:sp>
        </p:grpSp>
        <p:graphicFrame>
          <p:nvGraphicFramePr>
            <p:cNvPr id="18" name="Content Placeholder 3"/>
            <p:cNvGraphicFramePr>
              <a:graphicFrameLocks/>
            </p:cNvGraphicFramePr>
            <p:nvPr>
              <p:extLst>
                <p:ext uri="{D42A27DB-BD31-4B8C-83A1-F6EECF244321}">
                  <p14:modId xmlns:p14="http://schemas.microsoft.com/office/powerpoint/2010/main" val="2767704274"/>
                </p:ext>
              </p:extLst>
            </p:nvPr>
          </p:nvGraphicFramePr>
          <p:xfrm>
            <a:off x="-272609" y="1333938"/>
            <a:ext cx="8229600" cy="4525963"/>
          </p:xfrm>
          <a:graphic>
            <a:graphicData uri="http://schemas.openxmlformats.org/drawingml/2006/chart">
              <c:chart xmlns:c="http://schemas.openxmlformats.org/drawingml/2006/chart" xmlns:r="http://schemas.openxmlformats.org/officeDocument/2006/relationships" r:id="rId3"/>
            </a:graphicData>
          </a:graphic>
        </p:graphicFrame>
      </p:grpSp>
    </p:spTree>
    <p:extLst>
      <p:ext uri="{BB962C8B-B14F-4D97-AF65-F5344CB8AC3E}">
        <p14:creationId xmlns:p14="http://schemas.microsoft.com/office/powerpoint/2010/main" val="2647347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900" dirty="0"/>
              <a:t>Contiki RDC &amp; MAC protocols</a:t>
            </a:r>
            <a:br>
              <a:rPr lang="en-US" sz="4900" dirty="0"/>
            </a:br>
            <a:r>
              <a:rPr lang="en-US" sz="2000" dirty="0"/>
              <a:t>Previous versions of Contiki</a:t>
            </a:r>
            <a:endParaRPr lang="en-US" dirty="0"/>
          </a:p>
        </p:txBody>
      </p:sp>
      <p:sp>
        <p:nvSpPr>
          <p:cNvPr id="3" name="Slide Number Placeholder 2"/>
          <p:cNvSpPr>
            <a:spLocks noGrp="1"/>
          </p:cNvSpPr>
          <p:nvPr>
            <p:ph type="sldNum" sz="quarter" idx="12"/>
          </p:nvPr>
        </p:nvSpPr>
        <p:spPr/>
        <p:txBody>
          <a:bodyPr/>
          <a:lstStyle/>
          <a:p>
            <a:fld id="{5889CBBA-8305-4466-BB85-F253002DC7EE}" type="slidenum">
              <a:rPr lang="en-US" smtClean="0"/>
              <a:t>14</a:t>
            </a:fld>
            <a:endParaRPr lang="en-US" dirty="0"/>
          </a:p>
        </p:txBody>
      </p:sp>
      <p:grpSp>
        <p:nvGrpSpPr>
          <p:cNvPr id="4" name="Group 3"/>
          <p:cNvGrpSpPr/>
          <p:nvPr/>
        </p:nvGrpSpPr>
        <p:grpSpPr>
          <a:xfrm>
            <a:off x="478513" y="1772816"/>
            <a:ext cx="7693887" cy="3330662"/>
            <a:chOff x="478513" y="1772816"/>
            <a:chExt cx="7693887" cy="3330662"/>
          </a:xfrm>
        </p:grpSpPr>
        <p:sp>
          <p:nvSpPr>
            <p:cNvPr id="6" name="Rectangle 5"/>
            <p:cNvSpPr/>
            <p:nvPr/>
          </p:nvSpPr>
          <p:spPr>
            <a:xfrm>
              <a:off x="914359" y="1772816"/>
              <a:ext cx="2880320" cy="720080"/>
            </a:xfrm>
            <a:prstGeom prst="rect">
              <a:avLst/>
            </a:prstGeom>
            <a:solidFill>
              <a:schemeClr val="accent6">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NullMAC</a:t>
              </a:r>
              <a:endParaRPr lang="en-US" sz="2400" b="1" dirty="0"/>
            </a:p>
          </p:txBody>
        </p:sp>
        <p:sp>
          <p:nvSpPr>
            <p:cNvPr id="56" name="Rectangle 55"/>
            <p:cNvSpPr/>
            <p:nvPr/>
          </p:nvSpPr>
          <p:spPr>
            <a:xfrm>
              <a:off x="5292080" y="1772816"/>
              <a:ext cx="2880320" cy="720080"/>
            </a:xfrm>
            <a:prstGeom prst="rect">
              <a:avLst/>
            </a:prstGeom>
            <a:solidFill>
              <a:schemeClr val="accent6">
                <a:lumMod val="75000"/>
              </a:schemeClr>
            </a:solid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CSMA</a:t>
              </a:r>
            </a:p>
          </p:txBody>
        </p:sp>
        <p:sp>
          <p:nvSpPr>
            <p:cNvPr id="57" name="Rectangle 56"/>
            <p:cNvSpPr/>
            <p:nvPr/>
          </p:nvSpPr>
          <p:spPr>
            <a:xfrm>
              <a:off x="478513" y="4383398"/>
              <a:ext cx="1610527" cy="720080"/>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t>NullRDC</a:t>
              </a:r>
              <a:endParaRPr lang="en-US" sz="2000" b="1" dirty="0"/>
            </a:p>
          </p:txBody>
        </p:sp>
        <p:sp>
          <p:nvSpPr>
            <p:cNvPr id="58" name="Rectangle 57"/>
            <p:cNvSpPr/>
            <p:nvPr/>
          </p:nvSpPr>
          <p:spPr>
            <a:xfrm>
              <a:off x="2220856" y="4383398"/>
              <a:ext cx="1610527" cy="720080"/>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LPP</a:t>
              </a:r>
            </a:p>
          </p:txBody>
        </p:sp>
        <p:sp>
          <p:nvSpPr>
            <p:cNvPr id="59" name="Rectangle 58"/>
            <p:cNvSpPr/>
            <p:nvPr/>
          </p:nvSpPr>
          <p:spPr>
            <a:xfrm>
              <a:off x="4021671" y="4383398"/>
              <a:ext cx="1610527" cy="720080"/>
            </a:xfrm>
            <a:prstGeom prst="rect">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X-MAC</a:t>
              </a:r>
            </a:p>
          </p:txBody>
        </p:sp>
        <p:sp>
          <p:nvSpPr>
            <p:cNvPr id="61" name="Rectangle 60"/>
            <p:cNvSpPr/>
            <p:nvPr/>
          </p:nvSpPr>
          <p:spPr>
            <a:xfrm>
              <a:off x="5926976" y="4365104"/>
              <a:ext cx="1610527" cy="720080"/>
            </a:xfrm>
            <a:prstGeom prst="rect">
              <a:avLst/>
            </a:prstGeom>
            <a:solidFill>
              <a:srgbClr val="00B050"/>
            </a:solid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t>ContikiMAC</a:t>
              </a:r>
              <a:endParaRPr lang="en-US" sz="2000" b="1" dirty="0"/>
            </a:p>
          </p:txBody>
        </p:sp>
        <p:cxnSp>
          <p:nvCxnSpPr>
            <p:cNvPr id="28" name="Straight Connector 27"/>
            <p:cNvCxnSpPr>
              <a:stCxn id="56" idx="2"/>
              <a:endCxn id="61" idx="0"/>
            </p:cNvCxnSpPr>
            <p:nvPr/>
          </p:nvCxnSpPr>
          <p:spPr>
            <a:xfrm>
              <a:off x="6732240" y="2492896"/>
              <a:ext cx="0" cy="1872208"/>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56" idx="2"/>
              <a:endCxn id="59" idx="0"/>
            </p:cNvCxnSpPr>
            <p:nvPr/>
          </p:nvCxnSpPr>
          <p:spPr>
            <a:xfrm flipH="1">
              <a:off x="4826935" y="2492896"/>
              <a:ext cx="1905305" cy="1890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6" idx="2"/>
              <a:endCxn id="58" idx="0"/>
            </p:cNvCxnSpPr>
            <p:nvPr/>
          </p:nvCxnSpPr>
          <p:spPr>
            <a:xfrm flipH="1">
              <a:off x="3026120" y="2492896"/>
              <a:ext cx="3706120" cy="1890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56" idx="2"/>
              <a:endCxn id="57" idx="0"/>
            </p:cNvCxnSpPr>
            <p:nvPr/>
          </p:nvCxnSpPr>
          <p:spPr>
            <a:xfrm flipH="1">
              <a:off x="1283777" y="2492896"/>
              <a:ext cx="5448463" cy="1890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6" idx="2"/>
              <a:endCxn id="57" idx="0"/>
            </p:cNvCxnSpPr>
            <p:nvPr/>
          </p:nvCxnSpPr>
          <p:spPr>
            <a:xfrm flipH="1">
              <a:off x="1283777" y="2492896"/>
              <a:ext cx="1070742" cy="1890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6" idx="2"/>
              <a:endCxn id="58" idx="0"/>
            </p:cNvCxnSpPr>
            <p:nvPr/>
          </p:nvCxnSpPr>
          <p:spPr>
            <a:xfrm>
              <a:off x="2354519" y="2492896"/>
              <a:ext cx="671601" cy="1890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6" idx="2"/>
              <a:endCxn id="59" idx="0"/>
            </p:cNvCxnSpPr>
            <p:nvPr/>
          </p:nvCxnSpPr>
          <p:spPr>
            <a:xfrm>
              <a:off x="2354519" y="2492896"/>
              <a:ext cx="2472416" cy="1890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6" idx="2"/>
              <a:endCxn id="61" idx="0"/>
            </p:cNvCxnSpPr>
            <p:nvPr/>
          </p:nvCxnSpPr>
          <p:spPr>
            <a:xfrm>
              <a:off x="2354519" y="2492896"/>
              <a:ext cx="4377721" cy="1872208"/>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4818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995" y="548680"/>
            <a:ext cx="8229600" cy="936104"/>
          </a:xfrm>
        </p:spPr>
        <p:txBody>
          <a:bodyPr>
            <a:normAutofit fontScale="90000"/>
          </a:bodyPr>
          <a:lstStyle/>
          <a:p>
            <a:r>
              <a:rPr lang="en-US" sz="4900" dirty="0"/>
              <a:t>Contiki CSMA MAC driver </a:t>
            </a:r>
            <a:r>
              <a:rPr lang="en-US" sz="2700" dirty="0"/>
              <a:t>(simplified)</a:t>
            </a:r>
            <a:r>
              <a:rPr lang="en-US" sz="1300" dirty="0"/>
              <a:t> </a:t>
            </a:r>
            <a:r>
              <a:rPr lang="en-US" sz="2700" dirty="0" err="1"/>
              <a:t>contiki</a:t>
            </a:r>
            <a:r>
              <a:rPr lang="en-US" sz="2700" dirty="0"/>
              <a:t>-ng/</a:t>
            </a:r>
            <a:r>
              <a:rPr lang="en-US" sz="2700" dirty="0" err="1"/>
              <a:t>os</a:t>
            </a:r>
            <a:r>
              <a:rPr lang="en-US" sz="2700" dirty="0"/>
              <a:t>/net/mac/</a:t>
            </a:r>
            <a:r>
              <a:rPr lang="en-US" sz="2700" dirty="0" err="1"/>
              <a:t>csma</a:t>
            </a:r>
            <a:r>
              <a:rPr lang="en-US" sz="2700" dirty="0"/>
              <a:t>/</a:t>
            </a:r>
            <a:r>
              <a:rPr lang="en-US" sz="2700" dirty="0" err="1"/>
              <a:t>csma.c</a:t>
            </a:r>
            <a:endParaRPr lang="en-US" dirty="0"/>
          </a:p>
        </p:txBody>
      </p:sp>
      <p:sp>
        <p:nvSpPr>
          <p:cNvPr id="8" name="Flowchart: Decision 7"/>
          <p:cNvSpPr/>
          <p:nvPr/>
        </p:nvSpPr>
        <p:spPr>
          <a:xfrm>
            <a:off x="673411" y="2916365"/>
            <a:ext cx="1656183" cy="65574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broadcast ?</a:t>
            </a:r>
          </a:p>
        </p:txBody>
      </p:sp>
      <p:sp>
        <p:nvSpPr>
          <p:cNvPr id="9" name="TextBox 8"/>
          <p:cNvSpPr txBox="1"/>
          <p:nvPr/>
        </p:nvSpPr>
        <p:spPr>
          <a:xfrm>
            <a:off x="2263847" y="2967239"/>
            <a:ext cx="702308" cy="276999"/>
          </a:xfrm>
          <a:prstGeom prst="rect">
            <a:avLst/>
          </a:prstGeom>
          <a:noFill/>
        </p:spPr>
        <p:txBody>
          <a:bodyPr wrap="none" rtlCol="0">
            <a:spAutoFit/>
          </a:bodyPr>
          <a:lstStyle/>
          <a:p>
            <a:r>
              <a:rPr lang="en-US" sz="1200" b="1" dirty="0" err="1"/>
              <a:t>Dest</a:t>
            </a:r>
            <a:r>
              <a:rPr lang="en-US" sz="1200" b="1" dirty="0"/>
              <a:t> = n</a:t>
            </a:r>
          </a:p>
        </p:txBody>
      </p:sp>
      <p:sp>
        <p:nvSpPr>
          <p:cNvPr id="10" name="Flowchart: Decision 9"/>
          <p:cNvSpPr/>
          <p:nvPr/>
        </p:nvSpPr>
        <p:spPr>
          <a:xfrm>
            <a:off x="2162684" y="3408957"/>
            <a:ext cx="1656185" cy="61206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 queue n full?</a:t>
            </a:r>
          </a:p>
        </p:txBody>
      </p:sp>
      <p:sp>
        <p:nvSpPr>
          <p:cNvPr id="11" name="TextBox 10"/>
          <p:cNvSpPr txBox="1"/>
          <p:nvPr/>
        </p:nvSpPr>
        <p:spPr>
          <a:xfrm>
            <a:off x="2594732" y="4021024"/>
            <a:ext cx="448144" cy="276999"/>
          </a:xfrm>
          <a:prstGeom prst="rect">
            <a:avLst/>
          </a:prstGeom>
          <a:noFill/>
        </p:spPr>
        <p:txBody>
          <a:bodyPr wrap="square" rtlCol="0">
            <a:spAutoFit/>
          </a:bodyPr>
          <a:lstStyle/>
          <a:p>
            <a:r>
              <a:rPr lang="en-US" sz="1200" b="1" dirty="0"/>
              <a:t>YES</a:t>
            </a:r>
          </a:p>
        </p:txBody>
      </p:sp>
      <p:sp>
        <p:nvSpPr>
          <p:cNvPr id="12" name="Flowchart: Process 11"/>
          <p:cNvSpPr/>
          <p:nvPr/>
        </p:nvSpPr>
        <p:spPr>
          <a:xfrm>
            <a:off x="808976" y="4331215"/>
            <a:ext cx="1368152"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send</a:t>
            </a:r>
          </a:p>
        </p:txBody>
      </p:sp>
      <p:cxnSp>
        <p:nvCxnSpPr>
          <p:cNvPr id="14" name="Straight Connector 13"/>
          <p:cNvCxnSpPr>
            <a:stCxn id="8" idx="2"/>
            <a:endCxn id="12" idx="0"/>
          </p:cNvCxnSpPr>
          <p:nvPr/>
        </p:nvCxnSpPr>
        <p:spPr>
          <a:xfrm flipH="1">
            <a:off x="1493052" y="3572111"/>
            <a:ext cx="8451" cy="759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3"/>
          </p:cNvCxnSpPr>
          <p:nvPr/>
        </p:nvCxnSpPr>
        <p:spPr>
          <a:xfrm flipV="1">
            <a:off x="2329594" y="3242250"/>
            <a:ext cx="661183" cy="1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10" idx="0"/>
          </p:cNvCxnSpPr>
          <p:nvPr/>
        </p:nvCxnSpPr>
        <p:spPr>
          <a:xfrm>
            <a:off x="2989081" y="3261724"/>
            <a:ext cx="1696" cy="147233"/>
          </a:xfrm>
          <a:prstGeom prst="line">
            <a:avLst/>
          </a:prstGeom>
        </p:spPr>
        <p:style>
          <a:lnRef idx="1">
            <a:schemeClr val="accent1"/>
          </a:lnRef>
          <a:fillRef idx="0">
            <a:schemeClr val="accent1"/>
          </a:fillRef>
          <a:effectRef idx="0">
            <a:schemeClr val="accent1"/>
          </a:effectRef>
          <a:fontRef idx="minor">
            <a:schemeClr val="tx1"/>
          </a:fontRef>
        </p:style>
      </p:cxnSp>
      <p:sp>
        <p:nvSpPr>
          <p:cNvPr id="19" name="Flowchart: Process 18"/>
          <p:cNvSpPr/>
          <p:nvPr/>
        </p:nvSpPr>
        <p:spPr>
          <a:xfrm>
            <a:off x="2267743" y="4331215"/>
            <a:ext cx="1442675"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drop</a:t>
            </a:r>
          </a:p>
        </p:txBody>
      </p:sp>
      <p:sp>
        <p:nvSpPr>
          <p:cNvPr id="23" name="TextBox 22"/>
          <p:cNvSpPr txBox="1"/>
          <p:nvPr/>
        </p:nvSpPr>
        <p:spPr>
          <a:xfrm>
            <a:off x="3798043" y="3441013"/>
            <a:ext cx="389850" cy="276999"/>
          </a:xfrm>
          <a:prstGeom prst="rect">
            <a:avLst/>
          </a:prstGeom>
          <a:noFill/>
        </p:spPr>
        <p:txBody>
          <a:bodyPr wrap="none" rtlCol="0">
            <a:spAutoFit/>
          </a:bodyPr>
          <a:lstStyle/>
          <a:p>
            <a:r>
              <a:rPr lang="en-US" sz="1200" b="1" dirty="0"/>
              <a:t>NO</a:t>
            </a:r>
          </a:p>
        </p:txBody>
      </p:sp>
      <p:sp>
        <p:nvSpPr>
          <p:cNvPr id="24" name="Flowchart: Process 23"/>
          <p:cNvSpPr/>
          <p:nvPr/>
        </p:nvSpPr>
        <p:spPr>
          <a:xfrm>
            <a:off x="3798043" y="4331215"/>
            <a:ext cx="1389251"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Add to queue n</a:t>
            </a:r>
          </a:p>
        </p:txBody>
      </p:sp>
      <p:cxnSp>
        <p:nvCxnSpPr>
          <p:cNvPr id="26" name="Straight Connector 25"/>
          <p:cNvCxnSpPr>
            <a:stCxn id="10" idx="3"/>
          </p:cNvCxnSpPr>
          <p:nvPr/>
        </p:nvCxnSpPr>
        <p:spPr>
          <a:xfrm>
            <a:off x="3818869" y="3714991"/>
            <a:ext cx="673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24" idx="0"/>
          </p:cNvCxnSpPr>
          <p:nvPr/>
        </p:nvCxnSpPr>
        <p:spPr>
          <a:xfrm>
            <a:off x="4492669" y="3736600"/>
            <a:ext cx="0" cy="594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0" idx="2"/>
            <a:endCxn id="19" idx="0"/>
          </p:cNvCxnSpPr>
          <p:nvPr/>
        </p:nvCxnSpPr>
        <p:spPr>
          <a:xfrm flipH="1">
            <a:off x="2989081" y="4021025"/>
            <a:ext cx="1696" cy="310190"/>
          </a:xfrm>
          <a:prstGeom prst="line">
            <a:avLst/>
          </a:prstGeom>
        </p:spPr>
        <p:style>
          <a:lnRef idx="1">
            <a:schemeClr val="accent1"/>
          </a:lnRef>
          <a:fillRef idx="0">
            <a:schemeClr val="accent1"/>
          </a:fillRef>
          <a:effectRef idx="0">
            <a:schemeClr val="accent1"/>
          </a:effectRef>
          <a:fontRef idx="minor">
            <a:schemeClr val="tx1"/>
          </a:fontRef>
        </p:style>
      </p:cxnSp>
      <p:sp>
        <p:nvSpPr>
          <p:cNvPr id="31" name="Flowchart: Process 30"/>
          <p:cNvSpPr/>
          <p:nvPr/>
        </p:nvSpPr>
        <p:spPr>
          <a:xfrm>
            <a:off x="6269684" y="3598171"/>
            <a:ext cx="2190748"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send packet p  from queue </a:t>
            </a:r>
            <a:r>
              <a:rPr lang="en-US" sz="1200" b="1" dirty="0" err="1"/>
              <a:t>i</a:t>
            </a:r>
            <a:endParaRPr lang="en-US" sz="1200" b="1" dirty="0"/>
          </a:p>
        </p:txBody>
      </p:sp>
      <p:sp>
        <p:nvSpPr>
          <p:cNvPr id="37" name="Flowchart: Decision 36"/>
          <p:cNvSpPr/>
          <p:nvPr/>
        </p:nvSpPr>
        <p:spPr>
          <a:xfrm>
            <a:off x="6608972" y="4540852"/>
            <a:ext cx="1512168" cy="4320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 </a:t>
            </a:r>
            <a:r>
              <a:rPr lang="en-US" sz="1200" b="1" dirty="0" err="1"/>
              <a:t>Ack</a:t>
            </a:r>
            <a:r>
              <a:rPr lang="en-US" sz="1200" b="1" dirty="0"/>
              <a:t> ?</a:t>
            </a:r>
          </a:p>
        </p:txBody>
      </p:sp>
      <p:sp>
        <p:nvSpPr>
          <p:cNvPr id="38" name="Flowchart: Alternate Process 37"/>
          <p:cNvSpPr/>
          <p:nvPr/>
        </p:nvSpPr>
        <p:spPr>
          <a:xfrm>
            <a:off x="673411" y="2107645"/>
            <a:ext cx="1656183" cy="36004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Send packet</a:t>
            </a:r>
          </a:p>
        </p:txBody>
      </p:sp>
      <p:sp>
        <p:nvSpPr>
          <p:cNvPr id="39" name="Flowchart: Alternate Process 38"/>
          <p:cNvSpPr/>
          <p:nvPr/>
        </p:nvSpPr>
        <p:spPr>
          <a:xfrm>
            <a:off x="2267744" y="5475491"/>
            <a:ext cx="1442674" cy="36004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Return</a:t>
            </a:r>
          </a:p>
        </p:txBody>
      </p:sp>
      <p:cxnSp>
        <p:nvCxnSpPr>
          <p:cNvPr id="55" name="Straight Connector 54"/>
          <p:cNvCxnSpPr>
            <a:stCxn id="12" idx="2"/>
            <a:endCxn id="39" idx="0"/>
          </p:cNvCxnSpPr>
          <p:nvPr/>
        </p:nvCxnSpPr>
        <p:spPr>
          <a:xfrm>
            <a:off x="1493052" y="4651414"/>
            <a:ext cx="1496029" cy="824077"/>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19" idx="2"/>
            <a:endCxn id="39" idx="0"/>
          </p:cNvCxnSpPr>
          <p:nvPr/>
        </p:nvCxnSpPr>
        <p:spPr>
          <a:xfrm>
            <a:off x="2989081" y="4651414"/>
            <a:ext cx="0" cy="824077"/>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24" idx="2"/>
            <a:endCxn id="39" idx="0"/>
          </p:cNvCxnSpPr>
          <p:nvPr/>
        </p:nvCxnSpPr>
        <p:spPr>
          <a:xfrm flipH="1">
            <a:off x="2989081" y="4651414"/>
            <a:ext cx="1503588" cy="824077"/>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38" idx="2"/>
            <a:endCxn id="8" idx="0"/>
          </p:cNvCxnSpPr>
          <p:nvPr/>
        </p:nvCxnSpPr>
        <p:spPr>
          <a:xfrm>
            <a:off x="1501503" y="2467685"/>
            <a:ext cx="0" cy="44868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1053359" y="3557017"/>
            <a:ext cx="448144" cy="276999"/>
          </a:xfrm>
          <a:prstGeom prst="rect">
            <a:avLst/>
          </a:prstGeom>
          <a:noFill/>
        </p:spPr>
        <p:txBody>
          <a:bodyPr wrap="square" rtlCol="0">
            <a:spAutoFit/>
          </a:bodyPr>
          <a:lstStyle/>
          <a:p>
            <a:r>
              <a:rPr lang="en-US" sz="1200" b="1" dirty="0"/>
              <a:t>YES</a:t>
            </a:r>
          </a:p>
        </p:txBody>
      </p:sp>
      <p:sp>
        <p:nvSpPr>
          <p:cNvPr id="84" name="TextBox 83"/>
          <p:cNvSpPr txBox="1"/>
          <p:nvPr/>
        </p:nvSpPr>
        <p:spPr>
          <a:xfrm>
            <a:off x="6423846" y="1843646"/>
            <a:ext cx="1609928" cy="369332"/>
          </a:xfrm>
          <a:prstGeom prst="rect">
            <a:avLst/>
          </a:prstGeom>
          <a:noFill/>
        </p:spPr>
        <p:txBody>
          <a:bodyPr wrap="none" rtlCol="0">
            <a:spAutoFit/>
          </a:bodyPr>
          <a:lstStyle/>
          <a:p>
            <a:r>
              <a:rPr lang="en-US" i="1" dirty="0">
                <a:solidFill>
                  <a:srgbClr val="0070C0"/>
                </a:solidFill>
              </a:rPr>
              <a:t>Sending thread</a:t>
            </a:r>
          </a:p>
        </p:txBody>
      </p:sp>
      <p:sp>
        <p:nvSpPr>
          <p:cNvPr id="85" name="Flowchart: Process 84"/>
          <p:cNvSpPr/>
          <p:nvPr/>
        </p:nvSpPr>
        <p:spPr>
          <a:xfrm>
            <a:off x="6269683" y="2371826"/>
            <a:ext cx="2190749"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t>Iterate over queues</a:t>
            </a:r>
          </a:p>
        </p:txBody>
      </p:sp>
      <p:sp>
        <p:nvSpPr>
          <p:cNvPr id="86" name="Flowchart: Decision 85"/>
          <p:cNvSpPr/>
          <p:nvPr/>
        </p:nvSpPr>
        <p:spPr>
          <a:xfrm>
            <a:off x="6536964" y="2782690"/>
            <a:ext cx="1656185" cy="61206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 queue </a:t>
            </a:r>
            <a:r>
              <a:rPr lang="en-US" sz="1200" b="1" dirty="0" err="1"/>
              <a:t>i</a:t>
            </a:r>
            <a:r>
              <a:rPr lang="en-US" sz="1200" b="1" dirty="0"/>
              <a:t> empty ?</a:t>
            </a:r>
          </a:p>
        </p:txBody>
      </p:sp>
      <p:sp>
        <p:nvSpPr>
          <p:cNvPr id="87" name="Flowchart: Process 86"/>
          <p:cNvSpPr/>
          <p:nvPr/>
        </p:nvSpPr>
        <p:spPr>
          <a:xfrm>
            <a:off x="6269684" y="4115819"/>
            <a:ext cx="2190748"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Increment </a:t>
            </a:r>
            <a:r>
              <a:rPr lang="en-US" sz="1200" b="1" dirty="0" err="1"/>
              <a:t>tx</a:t>
            </a:r>
            <a:r>
              <a:rPr lang="en-US" sz="1200" b="1" dirty="0"/>
              <a:t> count packet p </a:t>
            </a:r>
          </a:p>
        </p:txBody>
      </p:sp>
      <p:cxnSp>
        <p:nvCxnSpPr>
          <p:cNvPr id="89" name="Straight Connector 88"/>
          <p:cNvCxnSpPr/>
          <p:nvPr/>
        </p:nvCxnSpPr>
        <p:spPr>
          <a:xfrm>
            <a:off x="5652120" y="2249184"/>
            <a:ext cx="1722906" cy="0"/>
          </a:xfrm>
          <a:prstGeom prst="line">
            <a:avLst/>
          </a:prstGeom>
        </p:spPr>
        <p:style>
          <a:lnRef idx="1">
            <a:schemeClr val="accent1"/>
          </a:lnRef>
          <a:fillRef idx="0">
            <a:schemeClr val="accent1"/>
          </a:fillRef>
          <a:effectRef idx="0">
            <a:schemeClr val="accent1"/>
          </a:effectRef>
          <a:fontRef idx="minor">
            <a:schemeClr val="tx1"/>
          </a:fontRef>
        </p:style>
      </p:cxnSp>
      <p:sp>
        <p:nvSpPr>
          <p:cNvPr id="90" name="Flowchart: Process 89"/>
          <p:cNvSpPr/>
          <p:nvPr/>
        </p:nvSpPr>
        <p:spPr>
          <a:xfrm>
            <a:off x="6279652" y="6093296"/>
            <a:ext cx="2190748"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remove packet p  from queue </a:t>
            </a:r>
            <a:r>
              <a:rPr lang="en-US" sz="1200" b="1" dirty="0" err="1"/>
              <a:t>i</a:t>
            </a:r>
            <a:endParaRPr lang="en-US" sz="1200" b="1" dirty="0"/>
          </a:p>
        </p:txBody>
      </p:sp>
      <p:sp>
        <p:nvSpPr>
          <p:cNvPr id="121" name="Flowchart: Process 120"/>
          <p:cNvSpPr/>
          <p:nvPr/>
        </p:nvSpPr>
        <p:spPr>
          <a:xfrm>
            <a:off x="5937850" y="5532084"/>
            <a:ext cx="1095374"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Random delay</a:t>
            </a:r>
          </a:p>
        </p:txBody>
      </p:sp>
      <p:cxnSp>
        <p:nvCxnSpPr>
          <p:cNvPr id="124" name="Straight Connector 123"/>
          <p:cNvCxnSpPr>
            <a:stCxn id="85" idx="2"/>
          </p:cNvCxnSpPr>
          <p:nvPr/>
        </p:nvCxnSpPr>
        <p:spPr>
          <a:xfrm>
            <a:off x="7365058" y="2692025"/>
            <a:ext cx="4984" cy="88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86" idx="2"/>
            <a:endCxn id="31" idx="0"/>
          </p:cNvCxnSpPr>
          <p:nvPr/>
        </p:nvCxnSpPr>
        <p:spPr>
          <a:xfrm>
            <a:off x="7365057" y="3394758"/>
            <a:ext cx="1" cy="203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Straight Connector 127"/>
          <p:cNvCxnSpPr>
            <a:stCxn id="31" idx="2"/>
            <a:endCxn id="87" idx="0"/>
          </p:cNvCxnSpPr>
          <p:nvPr/>
        </p:nvCxnSpPr>
        <p:spPr>
          <a:xfrm>
            <a:off x="7365058" y="3918370"/>
            <a:ext cx="0" cy="1974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Connector 129"/>
          <p:cNvCxnSpPr>
            <a:stCxn id="87" idx="2"/>
          </p:cNvCxnSpPr>
          <p:nvPr/>
        </p:nvCxnSpPr>
        <p:spPr>
          <a:xfrm>
            <a:off x="7365058" y="4436018"/>
            <a:ext cx="0" cy="2096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p:cNvCxnSpPr>
            <a:stCxn id="37" idx="2"/>
            <a:endCxn id="90" idx="0"/>
          </p:cNvCxnSpPr>
          <p:nvPr/>
        </p:nvCxnSpPr>
        <p:spPr>
          <a:xfrm>
            <a:off x="7365056" y="4972900"/>
            <a:ext cx="9970" cy="11203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a:stCxn id="90" idx="2"/>
          </p:cNvCxnSpPr>
          <p:nvPr/>
        </p:nvCxnSpPr>
        <p:spPr>
          <a:xfrm>
            <a:off x="7375026" y="6413495"/>
            <a:ext cx="0" cy="1838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5652120" y="2249184"/>
            <a:ext cx="0" cy="43481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p:cNvCxnSpPr>
            <a:endCxn id="86" idx="1"/>
          </p:cNvCxnSpPr>
          <p:nvPr/>
        </p:nvCxnSpPr>
        <p:spPr>
          <a:xfrm>
            <a:off x="5652120" y="3088724"/>
            <a:ext cx="884844" cy="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a:stCxn id="121" idx="0"/>
          </p:cNvCxnSpPr>
          <p:nvPr/>
        </p:nvCxnSpPr>
        <p:spPr>
          <a:xfrm flipV="1">
            <a:off x="6485537" y="5299821"/>
            <a:ext cx="0" cy="232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p:cNvCxnSpPr>
            <a:endCxn id="37" idx="1"/>
          </p:cNvCxnSpPr>
          <p:nvPr/>
        </p:nvCxnSpPr>
        <p:spPr>
          <a:xfrm>
            <a:off x="6474414" y="4756876"/>
            <a:ext cx="1345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5652120" y="6597352"/>
            <a:ext cx="1722906" cy="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a:stCxn id="85" idx="0"/>
          </p:cNvCxnSpPr>
          <p:nvPr/>
        </p:nvCxnSpPr>
        <p:spPr>
          <a:xfrm flipV="1">
            <a:off x="7365058" y="2249184"/>
            <a:ext cx="4984" cy="122642"/>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a:stCxn id="121" idx="2"/>
          </p:cNvCxnSpPr>
          <p:nvPr/>
        </p:nvCxnSpPr>
        <p:spPr>
          <a:xfrm>
            <a:off x="6485537" y="5852283"/>
            <a:ext cx="0" cy="1316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H="1">
            <a:off x="5663241" y="5983897"/>
            <a:ext cx="822296" cy="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TextBox 152"/>
          <p:cNvSpPr txBox="1"/>
          <p:nvPr/>
        </p:nvSpPr>
        <p:spPr>
          <a:xfrm>
            <a:off x="6423846" y="4479877"/>
            <a:ext cx="389850" cy="276999"/>
          </a:xfrm>
          <a:prstGeom prst="rect">
            <a:avLst/>
          </a:prstGeom>
          <a:noFill/>
        </p:spPr>
        <p:txBody>
          <a:bodyPr wrap="none" rtlCol="0">
            <a:spAutoFit/>
          </a:bodyPr>
          <a:lstStyle/>
          <a:p>
            <a:r>
              <a:rPr lang="en-US" sz="1200" b="1" dirty="0"/>
              <a:t>NO</a:t>
            </a:r>
          </a:p>
        </p:txBody>
      </p:sp>
      <p:sp>
        <p:nvSpPr>
          <p:cNvPr id="154" name="TextBox 153"/>
          <p:cNvSpPr txBox="1"/>
          <p:nvPr/>
        </p:nvSpPr>
        <p:spPr>
          <a:xfrm>
            <a:off x="7373607" y="3334375"/>
            <a:ext cx="389850" cy="276999"/>
          </a:xfrm>
          <a:prstGeom prst="rect">
            <a:avLst/>
          </a:prstGeom>
          <a:noFill/>
        </p:spPr>
        <p:txBody>
          <a:bodyPr wrap="none" rtlCol="0">
            <a:spAutoFit/>
          </a:bodyPr>
          <a:lstStyle/>
          <a:p>
            <a:r>
              <a:rPr lang="en-US" sz="1200" b="1" dirty="0"/>
              <a:t>NO</a:t>
            </a:r>
          </a:p>
        </p:txBody>
      </p:sp>
      <p:sp>
        <p:nvSpPr>
          <p:cNvPr id="156" name="TextBox 155"/>
          <p:cNvSpPr txBox="1"/>
          <p:nvPr/>
        </p:nvSpPr>
        <p:spPr>
          <a:xfrm>
            <a:off x="6225290" y="2823773"/>
            <a:ext cx="448144" cy="276999"/>
          </a:xfrm>
          <a:prstGeom prst="rect">
            <a:avLst/>
          </a:prstGeom>
          <a:noFill/>
        </p:spPr>
        <p:txBody>
          <a:bodyPr wrap="square" rtlCol="0">
            <a:spAutoFit/>
          </a:bodyPr>
          <a:lstStyle/>
          <a:p>
            <a:r>
              <a:rPr lang="en-US" sz="1200" b="1" dirty="0"/>
              <a:t>YES</a:t>
            </a:r>
          </a:p>
        </p:txBody>
      </p:sp>
      <p:sp>
        <p:nvSpPr>
          <p:cNvPr id="157" name="TextBox 156"/>
          <p:cNvSpPr txBox="1"/>
          <p:nvPr/>
        </p:nvSpPr>
        <p:spPr>
          <a:xfrm>
            <a:off x="6945291" y="5201951"/>
            <a:ext cx="448144" cy="276999"/>
          </a:xfrm>
          <a:prstGeom prst="rect">
            <a:avLst/>
          </a:prstGeom>
          <a:noFill/>
        </p:spPr>
        <p:txBody>
          <a:bodyPr wrap="square" rtlCol="0">
            <a:spAutoFit/>
          </a:bodyPr>
          <a:lstStyle/>
          <a:p>
            <a:r>
              <a:rPr lang="en-US" sz="1200" b="1" dirty="0"/>
              <a:t>YES</a:t>
            </a:r>
          </a:p>
        </p:txBody>
      </p:sp>
      <p:sp>
        <p:nvSpPr>
          <p:cNvPr id="58" name="Flowchart: Decision 57"/>
          <p:cNvSpPr/>
          <p:nvPr/>
        </p:nvSpPr>
        <p:spPr>
          <a:xfrm>
            <a:off x="5724168" y="4973279"/>
            <a:ext cx="1512168" cy="4320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 </a:t>
            </a:r>
            <a:r>
              <a:rPr lang="en-US" sz="1200" b="1" dirty="0" err="1"/>
              <a:t>tx</a:t>
            </a:r>
            <a:r>
              <a:rPr lang="en-US" sz="1200" b="1" dirty="0"/>
              <a:t>&gt;max</a:t>
            </a:r>
          </a:p>
        </p:txBody>
      </p:sp>
      <p:cxnSp>
        <p:nvCxnSpPr>
          <p:cNvPr id="20" name="Straight Connector 19"/>
          <p:cNvCxnSpPr>
            <a:endCxn id="58" idx="0"/>
          </p:cNvCxnSpPr>
          <p:nvPr/>
        </p:nvCxnSpPr>
        <p:spPr>
          <a:xfrm>
            <a:off x="6474414" y="4756876"/>
            <a:ext cx="5838" cy="2164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58" idx="3"/>
          </p:cNvCxnSpPr>
          <p:nvPr/>
        </p:nvCxnSpPr>
        <p:spPr>
          <a:xfrm>
            <a:off x="7236336" y="5189303"/>
            <a:ext cx="133706" cy="0"/>
          </a:xfrm>
          <a:prstGeom prst="line">
            <a:avLst/>
          </a:prstGeom>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7375026" y="4924952"/>
            <a:ext cx="448144" cy="276999"/>
          </a:xfrm>
          <a:prstGeom prst="rect">
            <a:avLst/>
          </a:prstGeom>
          <a:noFill/>
        </p:spPr>
        <p:txBody>
          <a:bodyPr wrap="square" rtlCol="0">
            <a:spAutoFit/>
          </a:bodyPr>
          <a:lstStyle/>
          <a:p>
            <a:r>
              <a:rPr lang="en-US" sz="1200" b="1" dirty="0"/>
              <a:t>YES</a:t>
            </a:r>
          </a:p>
        </p:txBody>
      </p:sp>
      <p:sp>
        <p:nvSpPr>
          <p:cNvPr id="64" name="TextBox 63"/>
          <p:cNvSpPr txBox="1"/>
          <p:nvPr/>
        </p:nvSpPr>
        <p:spPr>
          <a:xfrm>
            <a:off x="6030365" y="5307573"/>
            <a:ext cx="389850" cy="276999"/>
          </a:xfrm>
          <a:prstGeom prst="rect">
            <a:avLst/>
          </a:prstGeom>
          <a:noFill/>
        </p:spPr>
        <p:txBody>
          <a:bodyPr wrap="none" rtlCol="0">
            <a:spAutoFit/>
          </a:bodyPr>
          <a:lstStyle/>
          <a:p>
            <a:r>
              <a:rPr lang="en-US" sz="1200" b="1" dirty="0"/>
              <a:t>NO</a:t>
            </a:r>
          </a:p>
        </p:txBody>
      </p:sp>
    </p:spTree>
    <p:extLst>
      <p:ext uri="{BB962C8B-B14F-4D97-AF65-F5344CB8AC3E}">
        <p14:creationId xmlns:p14="http://schemas.microsoft.com/office/powerpoint/2010/main" val="3272813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47059"/>
            <a:ext cx="8229600" cy="1143000"/>
          </a:xfrm>
        </p:spPr>
        <p:txBody>
          <a:bodyPr>
            <a:normAutofit fontScale="90000"/>
          </a:bodyPr>
          <a:lstStyle/>
          <a:p>
            <a:r>
              <a:rPr lang="en-US" sz="4900" dirty="0" err="1"/>
              <a:t>Contiki</a:t>
            </a:r>
            <a:r>
              <a:rPr lang="en-US" sz="4900" dirty="0"/>
              <a:t> NULLMAC driver</a:t>
            </a:r>
            <a:br>
              <a:rPr lang="en-US" sz="2700" dirty="0"/>
            </a:br>
            <a:r>
              <a:rPr lang="en-US" sz="2700" dirty="0" err="1"/>
              <a:t>contiki</a:t>
            </a:r>
            <a:r>
              <a:rPr lang="en-US" sz="2700" dirty="0"/>
              <a:t>/core/net/mac/</a:t>
            </a:r>
            <a:r>
              <a:rPr lang="en-US" sz="2700" dirty="0" err="1"/>
              <a:t>nullmac.c</a:t>
            </a:r>
            <a:br>
              <a:rPr lang="en-US" sz="2700" dirty="0"/>
            </a:br>
            <a:endParaRPr lang="en-US" dirty="0"/>
          </a:p>
        </p:txBody>
      </p:sp>
      <p:sp>
        <p:nvSpPr>
          <p:cNvPr id="8" name="Flowchart: Process 7"/>
          <p:cNvSpPr/>
          <p:nvPr/>
        </p:nvSpPr>
        <p:spPr>
          <a:xfrm>
            <a:off x="3858329" y="3596321"/>
            <a:ext cx="1368152" cy="3201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send</a:t>
            </a:r>
          </a:p>
        </p:txBody>
      </p:sp>
      <p:sp>
        <p:nvSpPr>
          <p:cNvPr id="18" name="Flowchart: Alternate Process 17"/>
          <p:cNvSpPr/>
          <p:nvPr/>
        </p:nvSpPr>
        <p:spPr>
          <a:xfrm>
            <a:off x="3710418" y="2382329"/>
            <a:ext cx="1656183" cy="36004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Send packet</a:t>
            </a:r>
          </a:p>
        </p:txBody>
      </p:sp>
      <p:sp>
        <p:nvSpPr>
          <p:cNvPr id="19" name="Flowchart: Alternate Process 18"/>
          <p:cNvSpPr/>
          <p:nvPr/>
        </p:nvSpPr>
        <p:spPr>
          <a:xfrm>
            <a:off x="3817172" y="4869160"/>
            <a:ext cx="1442674" cy="36004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t>Return</a:t>
            </a:r>
          </a:p>
        </p:txBody>
      </p:sp>
      <p:cxnSp>
        <p:nvCxnSpPr>
          <p:cNvPr id="20" name="Straight Connector 19"/>
          <p:cNvCxnSpPr>
            <a:stCxn id="8" idx="2"/>
          </p:cNvCxnSpPr>
          <p:nvPr/>
        </p:nvCxnSpPr>
        <p:spPr>
          <a:xfrm flipH="1">
            <a:off x="4538509" y="3916520"/>
            <a:ext cx="3896" cy="95264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8" idx="0"/>
          </p:cNvCxnSpPr>
          <p:nvPr/>
        </p:nvCxnSpPr>
        <p:spPr>
          <a:xfrm>
            <a:off x="4542405" y="2621658"/>
            <a:ext cx="0" cy="974663"/>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943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a:t>RDC : Low Power Probing</a:t>
            </a:r>
            <a:br>
              <a:rPr lang="en-US" dirty="0"/>
            </a:br>
            <a:r>
              <a:rPr lang="en-US" sz="2700" dirty="0" err="1"/>
              <a:t>contiki</a:t>
            </a:r>
            <a:r>
              <a:rPr lang="en-US" sz="2700" dirty="0"/>
              <a:t>/core/net/mac/</a:t>
            </a:r>
            <a:r>
              <a:rPr lang="en-US" sz="2700" dirty="0" err="1"/>
              <a:t>lpp.c</a:t>
            </a:r>
            <a:endParaRPr lang="en-US" sz="2700" dirty="0"/>
          </a:p>
        </p:txBody>
      </p:sp>
      <p:sp>
        <p:nvSpPr>
          <p:cNvPr id="3" name="Slide Number Placeholder 2"/>
          <p:cNvSpPr>
            <a:spLocks noGrp="1"/>
          </p:cNvSpPr>
          <p:nvPr>
            <p:ph type="sldNum" sz="quarter" idx="12"/>
          </p:nvPr>
        </p:nvSpPr>
        <p:spPr/>
        <p:txBody>
          <a:bodyPr/>
          <a:lstStyle/>
          <a:p>
            <a:fld id="{5889CBBA-8305-4466-BB85-F253002DC7EE}" type="slidenum">
              <a:rPr lang="en-US" smtClean="0"/>
              <a:t>17</a:t>
            </a:fld>
            <a:endParaRPr lang="en-US"/>
          </a:p>
        </p:txBody>
      </p:sp>
      <p:sp>
        <p:nvSpPr>
          <p:cNvPr id="60" name="TextBox 59"/>
          <p:cNvSpPr txBox="1"/>
          <p:nvPr/>
        </p:nvSpPr>
        <p:spPr>
          <a:xfrm>
            <a:off x="585819" y="5229200"/>
            <a:ext cx="7776864" cy="1200329"/>
          </a:xfrm>
          <a:prstGeom prst="rect">
            <a:avLst/>
          </a:prstGeom>
          <a:noFill/>
        </p:spPr>
        <p:txBody>
          <a:bodyPr wrap="square" rtlCol="0">
            <a:spAutoFit/>
          </a:bodyPr>
          <a:lstStyle/>
          <a:p>
            <a:pPr marL="285750" indent="-285750">
              <a:buFont typeface="Arial" pitchFamily="34" charset="0"/>
              <a:buChar char="•"/>
            </a:pPr>
            <a:r>
              <a:rPr lang="en-US" b="1" dirty="0"/>
              <a:t>The sender spends energy while listening possibly for a full sleep period </a:t>
            </a:r>
            <a:br>
              <a:rPr lang="en-US" b="1" dirty="0"/>
            </a:br>
            <a:r>
              <a:rPr lang="en-US" b="1" dirty="0"/>
              <a:t>before it is allowed to send</a:t>
            </a:r>
          </a:p>
          <a:p>
            <a:pPr marL="285750" indent="-285750">
              <a:buFont typeface="Arial" pitchFamily="34" charset="0"/>
              <a:buChar char="•"/>
            </a:pPr>
            <a:r>
              <a:rPr lang="en-US" b="1" dirty="0"/>
              <a:t>The receiver has to broadcast its probe as it doesn’t know who is waiting to transmit a packet.</a:t>
            </a:r>
          </a:p>
        </p:txBody>
      </p:sp>
      <p:grpSp>
        <p:nvGrpSpPr>
          <p:cNvPr id="59" name="Group 58"/>
          <p:cNvGrpSpPr/>
          <p:nvPr/>
        </p:nvGrpSpPr>
        <p:grpSpPr>
          <a:xfrm>
            <a:off x="1162691" y="1417639"/>
            <a:ext cx="6888296" cy="580358"/>
            <a:chOff x="1162691" y="1417639"/>
            <a:chExt cx="6888296" cy="580358"/>
          </a:xfrm>
        </p:grpSpPr>
        <p:sp>
          <p:nvSpPr>
            <p:cNvPr id="25" name="Flowchart: Alternate Process 24"/>
            <p:cNvSpPr/>
            <p:nvPr/>
          </p:nvSpPr>
          <p:spPr>
            <a:xfrm>
              <a:off x="1162691" y="1417639"/>
              <a:ext cx="6888296" cy="580358"/>
            </a:xfrm>
            <a:prstGeom prst="flowChartAlternateProces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Process 8"/>
            <p:cNvSpPr/>
            <p:nvPr/>
          </p:nvSpPr>
          <p:spPr>
            <a:xfrm>
              <a:off x="6235209" y="1571684"/>
              <a:ext cx="1351388" cy="313106"/>
            </a:xfrm>
            <a:prstGeom prst="flowChartProcess">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6478701" y="1530847"/>
              <a:ext cx="893193" cy="338554"/>
            </a:xfrm>
            <a:prstGeom prst="rect">
              <a:avLst/>
            </a:prstGeom>
            <a:noFill/>
          </p:spPr>
          <p:txBody>
            <a:bodyPr wrap="none" rtlCol="0">
              <a:spAutoFit/>
            </a:bodyPr>
            <a:lstStyle/>
            <a:p>
              <a:r>
                <a:rPr lang="en-US" sz="1600" b="1" dirty="0" err="1"/>
                <a:t>Rx,Tx</a:t>
              </a:r>
              <a:r>
                <a:rPr lang="en-US" sz="1600" b="1" dirty="0"/>
                <a:t> on</a:t>
              </a:r>
            </a:p>
          </p:txBody>
        </p:sp>
        <p:sp>
          <p:nvSpPr>
            <p:cNvPr id="36" name="Flowchart: Process 35"/>
            <p:cNvSpPr/>
            <p:nvPr/>
          </p:nvSpPr>
          <p:spPr>
            <a:xfrm>
              <a:off x="4550321" y="1571684"/>
              <a:ext cx="1351388" cy="313106"/>
            </a:xfrm>
            <a:prstGeom prst="flowChartProcess">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4606839" y="1530847"/>
              <a:ext cx="1238352" cy="338554"/>
            </a:xfrm>
            <a:prstGeom prst="rect">
              <a:avLst/>
            </a:prstGeom>
            <a:noFill/>
          </p:spPr>
          <p:txBody>
            <a:bodyPr wrap="none" rtlCol="0">
              <a:spAutoFit/>
            </a:bodyPr>
            <a:lstStyle/>
            <a:p>
              <a:r>
                <a:rPr lang="en-US" sz="1600" b="1" dirty="0"/>
                <a:t>Rx on, </a:t>
              </a:r>
              <a:r>
                <a:rPr lang="en-US" sz="1600" b="1" dirty="0" err="1"/>
                <a:t>Tx</a:t>
              </a:r>
              <a:r>
                <a:rPr lang="en-US" sz="1600" b="1" dirty="0"/>
                <a:t> off</a:t>
              </a:r>
            </a:p>
          </p:txBody>
        </p:sp>
        <p:sp>
          <p:nvSpPr>
            <p:cNvPr id="24" name="TextBox 23"/>
            <p:cNvSpPr txBox="1"/>
            <p:nvPr/>
          </p:nvSpPr>
          <p:spPr>
            <a:xfrm>
              <a:off x="1331640" y="1507763"/>
              <a:ext cx="3162854" cy="400110"/>
            </a:xfrm>
            <a:prstGeom prst="rect">
              <a:avLst/>
            </a:prstGeom>
            <a:noFill/>
          </p:spPr>
          <p:txBody>
            <a:bodyPr wrap="none" rtlCol="0">
              <a:spAutoFit/>
            </a:bodyPr>
            <a:lstStyle/>
            <a:p>
              <a:r>
                <a:rPr lang="en-US" sz="2000" b="1" dirty="0"/>
                <a:t>Radio State representation :</a:t>
              </a:r>
            </a:p>
          </p:txBody>
        </p:sp>
      </p:grpSp>
      <p:grpSp>
        <p:nvGrpSpPr>
          <p:cNvPr id="4" name="Group 3"/>
          <p:cNvGrpSpPr/>
          <p:nvPr/>
        </p:nvGrpSpPr>
        <p:grpSpPr>
          <a:xfrm>
            <a:off x="584132" y="2200589"/>
            <a:ext cx="8074711" cy="2812587"/>
            <a:chOff x="584132" y="2200589"/>
            <a:chExt cx="8074711" cy="2812587"/>
          </a:xfrm>
        </p:grpSpPr>
        <p:sp>
          <p:nvSpPr>
            <p:cNvPr id="6" name="Rectangle 5"/>
            <p:cNvSpPr/>
            <p:nvPr/>
          </p:nvSpPr>
          <p:spPr>
            <a:xfrm>
              <a:off x="6532980" y="2331657"/>
              <a:ext cx="563695" cy="7566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970269" y="4109066"/>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6259750" y="3377708"/>
              <a:ext cx="921302"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532980" y="3686156"/>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970269" y="3641136"/>
              <a:ext cx="1275349" cy="461665"/>
            </a:xfrm>
            <a:prstGeom prst="rect">
              <a:avLst/>
            </a:prstGeom>
            <a:noFill/>
          </p:spPr>
          <p:txBody>
            <a:bodyPr wrap="none" rtlCol="0">
              <a:spAutoFit/>
            </a:bodyPr>
            <a:lstStyle/>
            <a:p>
              <a:r>
                <a:rPr lang="en-US" sz="2400" b="1" dirty="0"/>
                <a:t>Receiver</a:t>
              </a:r>
            </a:p>
          </p:txBody>
        </p:sp>
        <p:cxnSp>
          <p:nvCxnSpPr>
            <p:cNvPr id="13" name="Straight Arrow Connector 12"/>
            <p:cNvCxnSpPr/>
            <p:nvPr/>
          </p:nvCxnSpPr>
          <p:spPr>
            <a:xfrm>
              <a:off x="984858" y="3120454"/>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285024" y="2331657"/>
              <a:ext cx="3247956" cy="777519"/>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6523161" y="2661555"/>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984857" y="2637962"/>
              <a:ext cx="1080745" cy="461665"/>
            </a:xfrm>
            <a:prstGeom prst="rect">
              <a:avLst/>
            </a:prstGeom>
            <a:noFill/>
          </p:spPr>
          <p:txBody>
            <a:bodyPr wrap="none" rtlCol="0">
              <a:spAutoFit/>
            </a:bodyPr>
            <a:lstStyle/>
            <a:p>
              <a:r>
                <a:rPr lang="en-US" sz="2400" b="1" dirty="0"/>
                <a:t>Sender</a:t>
              </a:r>
            </a:p>
          </p:txBody>
        </p:sp>
        <p:sp>
          <p:nvSpPr>
            <p:cNvPr id="18" name="TextBox 17"/>
            <p:cNvSpPr txBox="1"/>
            <p:nvPr/>
          </p:nvSpPr>
          <p:spPr>
            <a:xfrm>
              <a:off x="7873154" y="2658789"/>
              <a:ext cx="292068" cy="461665"/>
            </a:xfrm>
            <a:prstGeom prst="rect">
              <a:avLst/>
            </a:prstGeom>
            <a:noFill/>
          </p:spPr>
          <p:txBody>
            <a:bodyPr wrap="none" rtlCol="0">
              <a:spAutoFit/>
            </a:bodyPr>
            <a:lstStyle/>
            <a:p>
              <a:r>
                <a:rPr lang="en-US" sz="2400" b="1" dirty="0"/>
                <a:t>t</a:t>
              </a:r>
            </a:p>
          </p:txBody>
        </p:sp>
        <p:cxnSp>
          <p:nvCxnSpPr>
            <p:cNvPr id="19" name="Straight Arrow Connector 18"/>
            <p:cNvCxnSpPr>
              <a:endCxn id="11" idx="0"/>
            </p:cNvCxnSpPr>
            <p:nvPr/>
          </p:nvCxnSpPr>
          <p:spPr>
            <a:xfrm>
              <a:off x="6676996" y="3130090"/>
              <a:ext cx="0" cy="55606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6270329" y="3659475"/>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p:nvPr/>
          </p:nvCxnSpPr>
          <p:spPr>
            <a:xfrm>
              <a:off x="6342337" y="3130090"/>
              <a:ext cx="0" cy="552995"/>
            </a:xfrm>
            <a:prstGeom prst="straightConnector1">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6952659" y="3666732"/>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p:nvPr/>
          </p:nvCxnSpPr>
          <p:spPr>
            <a:xfrm>
              <a:off x="7040699" y="3130090"/>
              <a:ext cx="0" cy="545559"/>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3609450" y="4189532"/>
              <a:ext cx="2130583" cy="369332"/>
            </a:xfrm>
            <a:prstGeom prst="rect">
              <a:avLst/>
            </a:prstGeom>
            <a:noFill/>
          </p:spPr>
          <p:txBody>
            <a:bodyPr wrap="none" rtlCol="0">
              <a:spAutoFit/>
            </a:bodyPr>
            <a:lstStyle/>
            <a:p>
              <a:r>
                <a:rPr lang="en-US" b="1" i="1" dirty="0">
                  <a:solidFill>
                    <a:srgbClr val="00B050"/>
                  </a:solidFill>
                </a:rPr>
                <a:t>Probe (broadcasted)</a:t>
              </a:r>
            </a:p>
          </p:txBody>
        </p:sp>
        <p:cxnSp>
          <p:nvCxnSpPr>
            <p:cNvPr id="37" name="Curved Connector 36"/>
            <p:cNvCxnSpPr>
              <a:stCxn id="5" idx="3"/>
              <a:endCxn id="32" idx="2"/>
            </p:cNvCxnSpPr>
            <p:nvPr/>
          </p:nvCxnSpPr>
          <p:spPr>
            <a:xfrm flipV="1">
              <a:off x="5740033" y="4091523"/>
              <a:ext cx="602304" cy="282675"/>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372722" y="2278179"/>
              <a:ext cx="1286121" cy="369332"/>
            </a:xfrm>
            <a:prstGeom prst="rect">
              <a:avLst/>
            </a:prstGeom>
            <a:noFill/>
          </p:spPr>
          <p:txBody>
            <a:bodyPr wrap="none" rtlCol="0">
              <a:spAutoFit/>
            </a:bodyPr>
            <a:lstStyle/>
            <a:p>
              <a:r>
                <a:rPr lang="en-US" b="1" dirty="0">
                  <a:solidFill>
                    <a:srgbClr val="FF0000"/>
                  </a:solidFill>
                </a:rPr>
                <a:t>Data Frame</a:t>
              </a:r>
            </a:p>
          </p:txBody>
        </p:sp>
        <p:cxnSp>
          <p:nvCxnSpPr>
            <p:cNvPr id="40" name="Curved Connector 39"/>
            <p:cNvCxnSpPr>
              <a:stCxn id="38" idx="1"/>
            </p:cNvCxnSpPr>
            <p:nvPr/>
          </p:nvCxnSpPr>
          <p:spPr>
            <a:xfrm rot="10800000" flipV="1">
              <a:off x="6802350" y="2462845"/>
              <a:ext cx="570372" cy="414734"/>
            </a:xfrm>
            <a:prstGeom prst="curvedConnector3">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6264101" y="4189385"/>
              <a:ext cx="529312" cy="369332"/>
            </a:xfrm>
            <a:prstGeom prst="rect">
              <a:avLst/>
            </a:prstGeom>
            <a:noFill/>
          </p:spPr>
          <p:txBody>
            <a:bodyPr wrap="none" rtlCol="0">
              <a:spAutoFit/>
            </a:bodyPr>
            <a:lstStyle/>
            <a:p>
              <a:r>
                <a:rPr lang="en-US" b="1" i="1" dirty="0" err="1">
                  <a:solidFill>
                    <a:srgbClr val="00B050"/>
                  </a:solidFill>
                </a:rPr>
                <a:t>Ack</a:t>
              </a:r>
              <a:endParaRPr lang="en-US" b="1" i="1" dirty="0">
                <a:solidFill>
                  <a:srgbClr val="00B050"/>
                </a:solidFill>
              </a:endParaRPr>
            </a:p>
          </p:txBody>
        </p:sp>
        <p:cxnSp>
          <p:nvCxnSpPr>
            <p:cNvPr id="42" name="Curved Connector 41"/>
            <p:cNvCxnSpPr>
              <a:stCxn id="41" idx="3"/>
              <a:endCxn id="34" idx="2"/>
            </p:cNvCxnSpPr>
            <p:nvPr/>
          </p:nvCxnSpPr>
          <p:spPr>
            <a:xfrm flipV="1">
              <a:off x="6793413" y="4098780"/>
              <a:ext cx="231254" cy="275271"/>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3126375" y="3163825"/>
              <a:ext cx="2515689" cy="646331"/>
            </a:xfrm>
            <a:prstGeom prst="rect">
              <a:avLst/>
            </a:prstGeom>
            <a:noFill/>
          </p:spPr>
          <p:txBody>
            <a:bodyPr wrap="none" rtlCol="0">
              <a:spAutoFit/>
            </a:bodyPr>
            <a:lstStyle/>
            <a:p>
              <a:pPr algn="r"/>
              <a:r>
                <a:rPr lang="en-US" b="1" dirty="0">
                  <a:solidFill>
                    <a:srgbClr val="00B050"/>
                  </a:solidFill>
                </a:rPr>
                <a:t>Receiver wakes up</a:t>
              </a:r>
            </a:p>
            <a:p>
              <a:pPr algn="r"/>
              <a:r>
                <a:rPr lang="en-US" b="1" dirty="0">
                  <a:solidFill>
                    <a:srgbClr val="00B050"/>
                  </a:solidFill>
                </a:rPr>
                <a:t>(periodically </a:t>
              </a:r>
              <a:r>
                <a:rPr lang="en-US" b="1" dirty="0" err="1">
                  <a:solidFill>
                    <a:srgbClr val="00B050"/>
                  </a:solidFill>
                </a:rPr>
                <a:t>schedulled</a:t>
              </a:r>
              <a:r>
                <a:rPr lang="en-US" b="1" dirty="0">
                  <a:solidFill>
                    <a:srgbClr val="00B050"/>
                  </a:solidFill>
                </a:rPr>
                <a:t>)</a:t>
              </a:r>
            </a:p>
          </p:txBody>
        </p:sp>
        <p:cxnSp>
          <p:nvCxnSpPr>
            <p:cNvPr id="48" name="Curved Connector 47"/>
            <p:cNvCxnSpPr>
              <a:stCxn id="46" idx="3"/>
              <a:endCxn id="10" idx="1"/>
            </p:cNvCxnSpPr>
            <p:nvPr/>
          </p:nvCxnSpPr>
          <p:spPr>
            <a:xfrm>
              <a:off x="5642064" y="3486991"/>
              <a:ext cx="617686" cy="250757"/>
            </a:xfrm>
            <a:prstGeom prst="curvedConnector3">
              <a:avLst>
                <a:gd name="adj1" fmla="val 50000"/>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84132" y="2200589"/>
              <a:ext cx="2242473" cy="369332"/>
            </a:xfrm>
            <a:prstGeom prst="rect">
              <a:avLst/>
            </a:prstGeom>
            <a:noFill/>
          </p:spPr>
          <p:txBody>
            <a:bodyPr wrap="none" rtlCol="0">
              <a:spAutoFit/>
            </a:bodyPr>
            <a:lstStyle/>
            <a:p>
              <a:r>
                <a:rPr lang="en-US" b="1" dirty="0">
                  <a:solidFill>
                    <a:srgbClr val="FF0000"/>
                  </a:solidFill>
                </a:rPr>
                <a:t>Sender wants to send</a:t>
              </a:r>
            </a:p>
          </p:txBody>
        </p:sp>
        <p:cxnSp>
          <p:nvCxnSpPr>
            <p:cNvPr id="53" name="Curved Connector 52"/>
            <p:cNvCxnSpPr>
              <a:stCxn id="50" idx="3"/>
              <a:endCxn id="14" idx="1"/>
            </p:cNvCxnSpPr>
            <p:nvPr/>
          </p:nvCxnSpPr>
          <p:spPr>
            <a:xfrm>
              <a:off x="2826605" y="2385255"/>
              <a:ext cx="458419" cy="335162"/>
            </a:xfrm>
            <a:prstGeom prst="curvedConnector3">
              <a:avLst>
                <a:gd name="adj1" fmla="val 50000"/>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2296572" y="3377708"/>
              <a:ext cx="494225"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2296573" y="3659475"/>
              <a:ext cx="112562"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Curved Connector 43"/>
            <p:cNvCxnSpPr>
              <a:stCxn id="5" idx="1"/>
              <a:endCxn id="52" idx="2"/>
            </p:cNvCxnSpPr>
            <p:nvPr/>
          </p:nvCxnSpPr>
          <p:spPr>
            <a:xfrm rot="10800000">
              <a:off x="2352854" y="4091524"/>
              <a:ext cx="1256596" cy="282675"/>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2296573" y="4118204"/>
              <a:ext cx="0" cy="89497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276139" y="4111378"/>
              <a:ext cx="0" cy="89497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2296573" y="4842371"/>
              <a:ext cx="3979566" cy="0"/>
            </a:xfrm>
            <a:prstGeom prst="straightConnector1">
              <a:avLst/>
            </a:prstGeom>
            <a:ln w="38100">
              <a:solidFill>
                <a:schemeClr val="tx2">
                  <a:lumMod val="40000"/>
                  <a:lumOff val="6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619538" y="4442261"/>
              <a:ext cx="1736501" cy="400110"/>
            </a:xfrm>
            <a:prstGeom prst="rect">
              <a:avLst/>
            </a:prstGeom>
            <a:noFill/>
          </p:spPr>
          <p:txBody>
            <a:bodyPr wrap="none" rtlCol="0">
              <a:spAutoFit/>
            </a:bodyPr>
            <a:lstStyle/>
            <a:p>
              <a:r>
                <a:rPr lang="en-US" sz="2000" b="1" i="1" dirty="0">
                  <a:solidFill>
                    <a:schemeClr val="tx2">
                      <a:lumMod val="40000"/>
                      <a:lumOff val="60000"/>
                    </a:schemeClr>
                  </a:solidFill>
                </a:rPr>
                <a:t>Typical</a:t>
              </a:r>
              <a:r>
                <a:rPr lang="en-US" sz="2000" b="1" dirty="0">
                  <a:solidFill>
                    <a:schemeClr val="tx2">
                      <a:lumMod val="40000"/>
                      <a:lumOff val="60000"/>
                    </a:schemeClr>
                  </a:solidFill>
                </a:rPr>
                <a:t> 125 </a:t>
              </a:r>
              <a:r>
                <a:rPr lang="en-US" sz="2000" b="1" dirty="0" err="1">
                  <a:solidFill>
                    <a:schemeClr val="tx2">
                      <a:lumMod val="40000"/>
                      <a:lumOff val="60000"/>
                    </a:schemeClr>
                  </a:solidFill>
                </a:rPr>
                <a:t>ms</a:t>
              </a:r>
              <a:endParaRPr lang="en-US" sz="2000" b="1" dirty="0">
                <a:solidFill>
                  <a:schemeClr val="tx2">
                    <a:lumMod val="40000"/>
                    <a:lumOff val="60000"/>
                  </a:schemeClr>
                </a:solidFill>
              </a:endParaRPr>
            </a:p>
          </p:txBody>
        </p:sp>
      </p:grpSp>
    </p:spTree>
    <p:extLst>
      <p:ext uri="{BB962C8B-B14F-4D97-AF65-F5344CB8AC3E}">
        <p14:creationId xmlns:p14="http://schemas.microsoft.com/office/powerpoint/2010/main" val="3888010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a:t>RDC : LPP Broadcasting</a:t>
            </a:r>
            <a:br>
              <a:rPr lang="en-US" dirty="0"/>
            </a:br>
            <a:r>
              <a:rPr lang="en-US" sz="2700" dirty="0" err="1"/>
              <a:t>contiki</a:t>
            </a:r>
            <a:r>
              <a:rPr lang="en-US" sz="2700" dirty="0"/>
              <a:t>/core/net/mac/</a:t>
            </a:r>
            <a:r>
              <a:rPr lang="en-US" sz="2700" dirty="0" err="1"/>
              <a:t>lpp.c</a:t>
            </a:r>
            <a:endParaRPr lang="en-US" sz="2700" dirty="0"/>
          </a:p>
        </p:txBody>
      </p:sp>
      <p:sp>
        <p:nvSpPr>
          <p:cNvPr id="3" name="Slide Number Placeholder 2"/>
          <p:cNvSpPr>
            <a:spLocks noGrp="1"/>
          </p:cNvSpPr>
          <p:nvPr>
            <p:ph type="sldNum" sz="quarter" idx="12"/>
          </p:nvPr>
        </p:nvSpPr>
        <p:spPr/>
        <p:txBody>
          <a:bodyPr/>
          <a:lstStyle/>
          <a:p>
            <a:fld id="{5889CBBA-8305-4466-BB85-F253002DC7EE}" type="slidenum">
              <a:rPr lang="en-US" smtClean="0"/>
              <a:t>18</a:t>
            </a:fld>
            <a:endParaRPr lang="en-US"/>
          </a:p>
        </p:txBody>
      </p:sp>
      <p:grpSp>
        <p:nvGrpSpPr>
          <p:cNvPr id="59" name="Group 58"/>
          <p:cNvGrpSpPr/>
          <p:nvPr/>
        </p:nvGrpSpPr>
        <p:grpSpPr>
          <a:xfrm>
            <a:off x="1162691" y="1417639"/>
            <a:ext cx="6888296" cy="580358"/>
            <a:chOff x="1162691" y="1417639"/>
            <a:chExt cx="6888296" cy="580358"/>
          </a:xfrm>
        </p:grpSpPr>
        <p:sp>
          <p:nvSpPr>
            <p:cNvPr id="25" name="Flowchart: Alternate Process 24"/>
            <p:cNvSpPr/>
            <p:nvPr/>
          </p:nvSpPr>
          <p:spPr>
            <a:xfrm>
              <a:off x="1162691" y="1417639"/>
              <a:ext cx="6888296" cy="580358"/>
            </a:xfrm>
            <a:prstGeom prst="flowChartAlternateProces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Process 8"/>
            <p:cNvSpPr/>
            <p:nvPr/>
          </p:nvSpPr>
          <p:spPr>
            <a:xfrm>
              <a:off x="6235209" y="1571684"/>
              <a:ext cx="1351388" cy="313106"/>
            </a:xfrm>
            <a:prstGeom prst="flowChartProcess">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6478701" y="1530847"/>
              <a:ext cx="893193" cy="338554"/>
            </a:xfrm>
            <a:prstGeom prst="rect">
              <a:avLst/>
            </a:prstGeom>
            <a:noFill/>
          </p:spPr>
          <p:txBody>
            <a:bodyPr wrap="none" rtlCol="0">
              <a:spAutoFit/>
            </a:bodyPr>
            <a:lstStyle/>
            <a:p>
              <a:r>
                <a:rPr lang="en-US" sz="1600" b="1" dirty="0" err="1"/>
                <a:t>Rx,Tx</a:t>
              </a:r>
              <a:r>
                <a:rPr lang="en-US" sz="1600" b="1" dirty="0"/>
                <a:t> on</a:t>
              </a:r>
            </a:p>
          </p:txBody>
        </p:sp>
        <p:sp>
          <p:nvSpPr>
            <p:cNvPr id="36" name="Flowchart: Process 35"/>
            <p:cNvSpPr/>
            <p:nvPr/>
          </p:nvSpPr>
          <p:spPr>
            <a:xfrm>
              <a:off x="4550321" y="1571684"/>
              <a:ext cx="1351388" cy="313106"/>
            </a:xfrm>
            <a:prstGeom prst="flowChartProcess">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4606839" y="1530847"/>
              <a:ext cx="1238352" cy="338554"/>
            </a:xfrm>
            <a:prstGeom prst="rect">
              <a:avLst/>
            </a:prstGeom>
            <a:noFill/>
          </p:spPr>
          <p:txBody>
            <a:bodyPr wrap="none" rtlCol="0">
              <a:spAutoFit/>
            </a:bodyPr>
            <a:lstStyle/>
            <a:p>
              <a:r>
                <a:rPr lang="en-US" sz="1600" b="1" dirty="0"/>
                <a:t>Rx on, </a:t>
              </a:r>
              <a:r>
                <a:rPr lang="en-US" sz="1600" b="1" dirty="0" err="1"/>
                <a:t>Tx</a:t>
              </a:r>
              <a:r>
                <a:rPr lang="en-US" sz="1600" b="1" dirty="0"/>
                <a:t> off</a:t>
              </a:r>
            </a:p>
          </p:txBody>
        </p:sp>
        <p:sp>
          <p:nvSpPr>
            <p:cNvPr id="24" name="TextBox 23"/>
            <p:cNvSpPr txBox="1"/>
            <p:nvPr/>
          </p:nvSpPr>
          <p:spPr>
            <a:xfrm>
              <a:off x="1331640" y="1507763"/>
              <a:ext cx="3162854" cy="400110"/>
            </a:xfrm>
            <a:prstGeom prst="rect">
              <a:avLst/>
            </a:prstGeom>
            <a:noFill/>
          </p:spPr>
          <p:txBody>
            <a:bodyPr wrap="none" rtlCol="0">
              <a:spAutoFit/>
            </a:bodyPr>
            <a:lstStyle/>
            <a:p>
              <a:r>
                <a:rPr lang="en-US" sz="2000" b="1" dirty="0"/>
                <a:t>Radio State representation :</a:t>
              </a:r>
            </a:p>
          </p:txBody>
        </p:sp>
      </p:grpSp>
      <p:cxnSp>
        <p:nvCxnSpPr>
          <p:cNvPr id="13" name="Straight Arrow Connector 12"/>
          <p:cNvCxnSpPr/>
          <p:nvPr/>
        </p:nvCxnSpPr>
        <p:spPr>
          <a:xfrm>
            <a:off x="539750" y="3120454"/>
            <a:ext cx="764595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285024" y="2548530"/>
            <a:ext cx="3979566" cy="56064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569133" y="2596525"/>
            <a:ext cx="1080745" cy="461665"/>
          </a:xfrm>
          <a:prstGeom prst="rect">
            <a:avLst/>
          </a:prstGeom>
          <a:noFill/>
        </p:spPr>
        <p:txBody>
          <a:bodyPr wrap="none" rtlCol="0">
            <a:spAutoFit/>
          </a:bodyPr>
          <a:lstStyle/>
          <a:p>
            <a:r>
              <a:rPr lang="en-US" sz="2400" b="1" dirty="0"/>
              <a:t>Sender</a:t>
            </a:r>
          </a:p>
        </p:txBody>
      </p:sp>
      <p:sp>
        <p:nvSpPr>
          <p:cNvPr id="18" name="TextBox 17"/>
          <p:cNvSpPr txBox="1"/>
          <p:nvPr/>
        </p:nvSpPr>
        <p:spPr>
          <a:xfrm>
            <a:off x="7873154" y="2658789"/>
            <a:ext cx="292068" cy="461665"/>
          </a:xfrm>
          <a:prstGeom prst="rect">
            <a:avLst/>
          </a:prstGeom>
          <a:noFill/>
        </p:spPr>
        <p:txBody>
          <a:bodyPr wrap="none" rtlCol="0">
            <a:spAutoFit/>
          </a:bodyPr>
          <a:lstStyle/>
          <a:p>
            <a:r>
              <a:rPr lang="en-US" sz="2400" b="1" dirty="0"/>
              <a:t>t</a:t>
            </a:r>
          </a:p>
        </p:txBody>
      </p:sp>
      <p:sp>
        <p:nvSpPr>
          <p:cNvPr id="50" name="TextBox 49"/>
          <p:cNvSpPr txBox="1"/>
          <p:nvPr/>
        </p:nvSpPr>
        <p:spPr>
          <a:xfrm>
            <a:off x="584132" y="2200589"/>
            <a:ext cx="2729465" cy="369332"/>
          </a:xfrm>
          <a:prstGeom prst="rect">
            <a:avLst/>
          </a:prstGeom>
          <a:noFill/>
        </p:spPr>
        <p:txBody>
          <a:bodyPr wrap="none" rtlCol="0">
            <a:spAutoFit/>
          </a:bodyPr>
          <a:lstStyle/>
          <a:p>
            <a:r>
              <a:rPr lang="en-US" b="1" dirty="0">
                <a:solidFill>
                  <a:srgbClr val="FF0000"/>
                </a:solidFill>
              </a:rPr>
              <a:t>Sender wants to broadcast</a:t>
            </a:r>
          </a:p>
        </p:txBody>
      </p:sp>
      <p:cxnSp>
        <p:nvCxnSpPr>
          <p:cNvPr id="53" name="Curved Connector 52"/>
          <p:cNvCxnSpPr>
            <a:stCxn id="50" idx="3"/>
            <a:endCxn id="14" idx="1"/>
          </p:cNvCxnSpPr>
          <p:nvPr/>
        </p:nvCxnSpPr>
        <p:spPr>
          <a:xfrm flipH="1">
            <a:off x="3285024" y="2385255"/>
            <a:ext cx="28573" cy="443598"/>
          </a:xfrm>
          <a:prstGeom prst="curvedConnector5">
            <a:avLst>
              <a:gd name="adj1" fmla="val -800056"/>
              <a:gd name="adj2" fmla="val 214726"/>
              <a:gd name="adj3" fmla="val 900056"/>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54545" y="4098780"/>
            <a:ext cx="7616574" cy="102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54545" y="3599699"/>
            <a:ext cx="1499770" cy="461665"/>
          </a:xfrm>
          <a:prstGeom prst="rect">
            <a:avLst/>
          </a:prstGeom>
          <a:noFill/>
        </p:spPr>
        <p:txBody>
          <a:bodyPr wrap="none" rtlCol="0">
            <a:spAutoFit/>
          </a:bodyPr>
          <a:lstStyle/>
          <a:p>
            <a:r>
              <a:rPr lang="en-US" sz="2400" b="1" dirty="0"/>
              <a:t>Receiver 1</a:t>
            </a:r>
          </a:p>
        </p:txBody>
      </p:sp>
      <p:grpSp>
        <p:nvGrpSpPr>
          <p:cNvPr id="26" name="Group 25"/>
          <p:cNvGrpSpPr/>
          <p:nvPr/>
        </p:nvGrpSpPr>
        <p:grpSpPr>
          <a:xfrm>
            <a:off x="2296572" y="3377708"/>
            <a:ext cx="494225" cy="720080"/>
            <a:chOff x="2296572" y="3377708"/>
            <a:chExt cx="494225" cy="720080"/>
          </a:xfrm>
        </p:grpSpPr>
        <p:sp>
          <p:nvSpPr>
            <p:cNvPr id="51" name="Rectangle 50"/>
            <p:cNvSpPr/>
            <p:nvPr/>
          </p:nvSpPr>
          <p:spPr>
            <a:xfrm>
              <a:off x="2296572" y="3377708"/>
              <a:ext cx="494225"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2296573" y="3659475"/>
              <a:ext cx="112562"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6" name="Straight Arrow Connector 55"/>
          <p:cNvCxnSpPr/>
          <p:nvPr/>
        </p:nvCxnSpPr>
        <p:spPr>
          <a:xfrm>
            <a:off x="2296573" y="4437112"/>
            <a:ext cx="3979566" cy="0"/>
          </a:xfrm>
          <a:prstGeom prst="straightConnector1">
            <a:avLst/>
          </a:prstGeom>
          <a:ln w="38100">
            <a:solidFill>
              <a:schemeClr val="tx2">
                <a:lumMod val="40000"/>
                <a:lumOff val="6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554545" y="5554785"/>
            <a:ext cx="7610677"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3138559" y="4853516"/>
            <a:ext cx="1499770" cy="461665"/>
          </a:xfrm>
          <a:prstGeom prst="rect">
            <a:avLst/>
          </a:prstGeom>
          <a:noFill/>
        </p:spPr>
        <p:txBody>
          <a:bodyPr wrap="none" rtlCol="0">
            <a:spAutoFit/>
          </a:bodyPr>
          <a:lstStyle/>
          <a:p>
            <a:r>
              <a:rPr lang="en-US" sz="2400" b="1" dirty="0"/>
              <a:t>Receiver 2</a:t>
            </a:r>
          </a:p>
        </p:txBody>
      </p:sp>
      <p:grpSp>
        <p:nvGrpSpPr>
          <p:cNvPr id="20" name="Group 19"/>
          <p:cNvGrpSpPr/>
          <p:nvPr/>
        </p:nvGrpSpPr>
        <p:grpSpPr>
          <a:xfrm>
            <a:off x="4923889" y="4823427"/>
            <a:ext cx="921302" cy="740496"/>
            <a:chOff x="6253853" y="4823427"/>
            <a:chExt cx="921302" cy="740496"/>
          </a:xfrm>
        </p:grpSpPr>
        <p:sp>
          <p:nvSpPr>
            <p:cNvPr id="61" name="Rectangle 60"/>
            <p:cNvSpPr/>
            <p:nvPr/>
          </p:nvSpPr>
          <p:spPr>
            <a:xfrm>
              <a:off x="6253853" y="4823427"/>
              <a:ext cx="921302"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6527083" y="5131875"/>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6264432" y="5105194"/>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6946762" y="5112451"/>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5" name="Straight Connector 74"/>
          <p:cNvCxnSpPr/>
          <p:nvPr/>
        </p:nvCxnSpPr>
        <p:spPr>
          <a:xfrm>
            <a:off x="4923889" y="5557097"/>
            <a:ext cx="0" cy="454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944323" y="5877272"/>
            <a:ext cx="3979566" cy="0"/>
          </a:xfrm>
          <a:prstGeom prst="straightConnector1">
            <a:avLst/>
          </a:prstGeom>
          <a:ln w="38100">
            <a:solidFill>
              <a:schemeClr val="tx2">
                <a:lumMod val="40000"/>
                <a:lumOff val="6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6522880" y="2593948"/>
            <a:ext cx="563695" cy="53376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523161" y="2661555"/>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259750" y="3377708"/>
            <a:ext cx="921302"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532980" y="3686156"/>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6270329" y="3659475"/>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6952659" y="3666732"/>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a:endCxn id="11" idx="0"/>
          </p:cNvCxnSpPr>
          <p:nvPr/>
        </p:nvCxnSpPr>
        <p:spPr>
          <a:xfrm>
            <a:off x="6676996" y="3130090"/>
            <a:ext cx="0" cy="55606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342337" y="3130090"/>
            <a:ext cx="0" cy="552995"/>
          </a:xfrm>
          <a:prstGeom prst="straightConnector1">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7040699" y="3130090"/>
            <a:ext cx="0" cy="545559"/>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9" name="Rectangle 78"/>
          <p:cNvSpPr/>
          <p:nvPr/>
        </p:nvSpPr>
        <p:spPr>
          <a:xfrm>
            <a:off x="5211785" y="2607054"/>
            <a:ext cx="563695" cy="53280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5189443" y="2661555"/>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p:cNvCxnSpPr>
            <a:endCxn id="62" idx="0"/>
          </p:cNvCxnSpPr>
          <p:nvPr/>
        </p:nvCxnSpPr>
        <p:spPr>
          <a:xfrm flipH="1">
            <a:off x="5341135" y="3130090"/>
            <a:ext cx="2143" cy="200178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endCxn id="64" idx="0"/>
          </p:cNvCxnSpPr>
          <p:nvPr/>
        </p:nvCxnSpPr>
        <p:spPr>
          <a:xfrm flipH="1">
            <a:off x="5006476" y="3130090"/>
            <a:ext cx="2143" cy="1975104"/>
          </a:xfrm>
          <a:prstGeom prst="straightConnector1">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5706981" y="3130090"/>
            <a:ext cx="0" cy="1964042"/>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940612" y="5544499"/>
            <a:ext cx="0" cy="454312"/>
          </a:xfrm>
          <a:prstGeom prst="line">
            <a:avLst/>
          </a:prstGeom>
        </p:spPr>
        <p:style>
          <a:lnRef idx="1">
            <a:schemeClr val="accent1"/>
          </a:lnRef>
          <a:fillRef idx="0">
            <a:schemeClr val="accent1"/>
          </a:fillRef>
          <a:effectRef idx="0">
            <a:schemeClr val="accent1"/>
          </a:effectRef>
          <a:fontRef idx="minor">
            <a:schemeClr val="tx1"/>
          </a:fontRef>
        </p:style>
      </p:cxnSp>
      <p:grpSp>
        <p:nvGrpSpPr>
          <p:cNvPr id="89" name="Group 88"/>
          <p:cNvGrpSpPr/>
          <p:nvPr/>
        </p:nvGrpSpPr>
        <p:grpSpPr>
          <a:xfrm>
            <a:off x="951192" y="4812365"/>
            <a:ext cx="494225" cy="720080"/>
            <a:chOff x="2296572" y="3377708"/>
            <a:chExt cx="494225" cy="720080"/>
          </a:xfrm>
        </p:grpSpPr>
        <p:sp>
          <p:nvSpPr>
            <p:cNvPr id="90" name="Rectangle 89"/>
            <p:cNvSpPr/>
            <p:nvPr/>
          </p:nvSpPr>
          <p:spPr>
            <a:xfrm>
              <a:off x="2296572" y="3377708"/>
              <a:ext cx="494225"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2296573" y="3659475"/>
              <a:ext cx="112562"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2" name="Straight Connector 91"/>
          <p:cNvCxnSpPr/>
          <p:nvPr/>
        </p:nvCxnSpPr>
        <p:spPr>
          <a:xfrm>
            <a:off x="6276139" y="4088811"/>
            <a:ext cx="0" cy="454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2296572" y="4109066"/>
            <a:ext cx="0" cy="454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a:off x="3285024" y="2385255"/>
            <a:ext cx="3979566" cy="0"/>
          </a:xfrm>
          <a:prstGeom prst="straightConnector1">
            <a:avLst/>
          </a:prstGeom>
          <a:ln w="381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7264590" y="2221620"/>
            <a:ext cx="0" cy="454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3285836" y="2158099"/>
            <a:ext cx="0" cy="454312"/>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4482042" y="2012088"/>
            <a:ext cx="1890005" cy="400110"/>
          </a:xfrm>
          <a:prstGeom prst="rect">
            <a:avLst/>
          </a:prstGeom>
          <a:noFill/>
        </p:spPr>
        <p:txBody>
          <a:bodyPr wrap="none" rtlCol="0">
            <a:spAutoFit/>
          </a:bodyPr>
          <a:lstStyle/>
          <a:p>
            <a:r>
              <a:rPr lang="en-US" sz="2000" b="1" dirty="0">
                <a:solidFill>
                  <a:srgbClr val="00B0F0"/>
                </a:solidFill>
              </a:rPr>
              <a:t>Wake-up period</a:t>
            </a:r>
          </a:p>
        </p:txBody>
      </p:sp>
      <p:sp>
        <p:nvSpPr>
          <p:cNvPr id="100" name="TextBox 99"/>
          <p:cNvSpPr txBox="1"/>
          <p:nvPr/>
        </p:nvSpPr>
        <p:spPr>
          <a:xfrm>
            <a:off x="3135206" y="4058107"/>
            <a:ext cx="1890005" cy="400110"/>
          </a:xfrm>
          <a:prstGeom prst="rect">
            <a:avLst/>
          </a:prstGeom>
          <a:noFill/>
        </p:spPr>
        <p:txBody>
          <a:bodyPr wrap="none" rtlCol="0">
            <a:spAutoFit/>
          </a:bodyPr>
          <a:lstStyle/>
          <a:p>
            <a:r>
              <a:rPr lang="en-US" sz="2000" b="1" dirty="0">
                <a:solidFill>
                  <a:srgbClr val="00B0F0"/>
                </a:solidFill>
              </a:rPr>
              <a:t>Wake-up period</a:t>
            </a:r>
          </a:p>
        </p:txBody>
      </p:sp>
      <p:sp>
        <p:nvSpPr>
          <p:cNvPr id="101" name="TextBox 100"/>
          <p:cNvSpPr txBox="1"/>
          <p:nvPr/>
        </p:nvSpPr>
        <p:spPr>
          <a:xfrm>
            <a:off x="1987248" y="5544499"/>
            <a:ext cx="1890005" cy="400110"/>
          </a:xfrm>
          <a:prstGeom prst="rect">
            <a:avLst/>
          </a:prstGeom>
          <a:noFill/>
        </p:spPr>
        <p:txBody>
          <a:bodyPr wrap="none" rtlCol="0">
            <a:spAutoFit/>
          </a:bodyPr>
          <a:lstStyle/>
          <a:p>
            <a:r>
              <a:rPr lang="en-US" sz="2000" b="1" dirty="0">
                <a:solidFill>
                  <a:srgbClr val="00B0F0"/>
                </a:solidFill>
              </a:rPr>
              <a:t>Wake-up period</a:t>
            </a:r>
          </a:p>
        </p:txBody>
      </p:sp>
    </p:spTree>
    <p:extLst>
      <p:ext uri="{BB962C8B-B14F-4D97-AF65-F5344CB8AC3E}">
        <p14:creationId xmlns:p14="http://schemas.microsoft.com/office/powerpoint/2010/main" val="378565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a:t>RDC : XMAC </a:t>
            </a:r>
            <a:r>
              <a:rPr lang="en-US" sz="2700" dirty="0"/>
              <a:t>(simplified)</a:t>
            </a:r>
            <a:br>
              <a:rPr lang="en-US" dirty="0"/>
            </a:br>
            <a:r>
              <a:rPr lang="en-US" sz="2700" dirty="0" err="1"/>
              <a:t>contiki</a:t>
            </a:r>
            <a:r>
              <a:rPr lang="en-US" sz="2700" dirty="0"/>
              <a:t>/core/net/mac/</a:t>
            </a:r>
            <a:r>
              <a:rPr lang="en-US" sz="2700" dirty="0" err="1"/>
              <a:t>xmac.c</a:t>
            </a:r>
            <a:endParaRPr lang="en-US" sz="3600" dirty="0"/>
          </a:p>
        </p:txBody>
      </p:sp>
      <p:sp>
        <p:nvSpPr>
          <p:cNvPr id="34" name="TextBox 33"/>
          <p:cNvSpPr txBox="1"/>
          <p:nvPr/>
        </p:nvSpPr>
        <p:spPr>
          <a:xfrm>
            <a:off x="517505" y="5342973"/>
            <a:ext cx="8363272" cy="1477328"/>
          </a:xfrm>
          <a:prstGeom prst="rect">
            <a:avLst/>
          </a:prstGeom>
          <a:noFill/>
        </p:spPr>
        <p:txBody>
          <a:bodyPr wrap="square" rtlCol="0">
            <a:spAutoFit/>
          </a:bodyPr>
          <a:lstStyle/>
          <a:p>
            <a:r>
              <a:rPr lang="en-US" b="1" dirty="0"/>
              <a:t>A random delay is inserted between probes to allow other candidate senders to try their chance, a fixed delay is used in </a:t>
            </a:r>
            <a:r>
              <a:rPr lang="en-US" b="1" dirty="0" err="1"/>
              <a:t>cxmac</a:t>
            </a:r>
            <a:r>
              <a:rPr lang="en-US" b="1" dirty="0"/>
              <a:t>.</a:t>
            </a:r>
          </a:p>
          <a:p>
            <a:r>
              <a:rPr lang="en-US" b="1" dirty="0"/>
              <a:t>Receiver should stay awake longer than the longest interval between probes</a:t>
            </a:r>
          </a:p>
          <a:p>
            <a:r>
              <a:rPr lang="en-US" b="1" dirty="0"/>
              <a:t>Sending frequent probes during a full sleep period uses a lot of energy!</a:t>
            </a:r>
          </a:p>
          <a:p>
            <a:endParaRPr lang="en-US" b="1" dirty="0"/>
          </a:p>
        </p:txBody>
      </p:sp>
      <p:sp>
        <p:nvSpPr>
          <p:cNvPr id="3" name="Slide Number Placeholder 2"/>
          <p:cNvSpPr>
            <a:spLocks noGrp="1"/>
          </p:cNvSpPr>
          <p:nvPr>
            <p:ph type="sldNum" sz="quarter" idx="12"/>
          </p:nvPr>
        </p:nvSpPr>
        <p:spPr/>
        <p:txBody>
          <a:bodyPr/>
          <a:lstStyle/>
          <a:p>
            <a:fld id="{5889CBBA-8305-4466-BB85-F253002DC7EE}" type="slidenum">
              <a:rPr lang="en-US" smtClean="0"/>
              <a:t>19</a:t>
            </a:fld>
            <a:endParaRPr lang="en-US"/>
          </a:p>
        </p:txBody>
      </p:sp>
      <p:grpSp>
        <p:nvGrpSpPr>
          <p:cNvPr id="6" name="Group 5"/>
          <p:cNvGrpSpPr/>
          <p:nvPr/>
        </p:nvGrpSpPr>
        <p:grpSpPr>
          <a:xfrm>
            <a:off x="696729" y="1417639"/>
            <a:ext cx="7744953" cy="3815350"/>
            <a:chOff x="696729" y="1417639"/>
            <a:chExt cx="7744953" cy="3815350"/>
          </a:xfrm>
        </p:grpSpPr>
        <p:sp>
          <p:nvSpPr>
            <p:cNvPr id="63" name="Rectangle 62"/>
            <p:cNvSpPr/>
            <p:nvPr/>
          </p:nvSpPr>
          <p:spPr>
            <a:xfrm>
              <a:off x="6210749" y="2438018"/>
              <a:ext cx="1375848"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a:off x="966732" y="4460274"/>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420351" y="3746367"/>
              <a:ext cx="995422"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6815535" y="4029777"/>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731128" y="3953181"/>
              <a:ext cx="1275349" cy="461665"/>
            </a:xfrm>
            <a:prstGeom prst="rect">
              <a:avLst/>
            </a:prstGeom>
            <a:noFill/>
          </p:spPr>
          <p:txBody>
            <a:bodyPr wrap="none" rtlCol="0">
              <a:spAutoFit/>
            </a:bodyPr>
            <a:lstStyle/>
            <a:p>
              <a:r>
                <a:rPr lang="en-US" sz="2400" b="1" dirty="0"/>
                <a:t>Receiver</a:t>
              </a:r>
            </a:p>
          </p:txBody>
        </p:sp>
        <p:cxnSp>
          <p:nvCxnSpPr>
            <p:cNvPr id="4" name="Straight Arrow Connector 3"/>
            <p:cNvCxnSpPr/>
            <p:nvPr/>
          </p:nvCxnSpPr>
          <p:spPr>
            <a:xfrm>
              <a:off x="981321" y="3172752"/>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805716" y="2737960"/>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696729" y="2677129"/>
              <a:ext cx="1080745" cy="461665"/>
            </a:xfrm>
            <a:prstGeom prst="rect">
              <a:avLst/>
            </a:prstGeom>
            <a:noFill/>
          </p:spPr>
          <p:txBody>
            <a:bodyPr wrap="none" rtlCol="0">
              <a:spAutoFit/>
            </a:bodyPr>
            <a:lstStyle/>
            <a:p>
              <a:r>
                <a:rPr lang="en-US" sz="2400" b="1" dirty="0"/>
                <a:t>Sender</a:t>
              </a:r>
            </a:p>
          </p:txBody>
        </p:sp>
        <p:sp>
          <p:nvSpPr>
            <p:cNvPr id="25" name="TextBox 24"/>
            <p:cNvSpPr txBox="1"/>
            <p:nvPr/>
          </p:nvSpPr>
          <p:spPr>
            <a:xfrm>
              <a:off x="7869617" y="2711087"/>
              <a:ext cx="292068" cy="461665"/>
            </a:xfrm>
            <a:prstGeom prst="rect">
              <a:avLst/>
            </a:prstGeom>
            <a:noFill/>
          </p:spPr>
          <p:txBody>
            <a:bodyPr wrap="none" rtlCol="0">
              <a:spAutoFit/>
            </a:bodyPr>
            <a:lstStyle/>
            <a:p>
              <a:r>
                <a:rPr lang="en-US" sz="2400" b="1" dirty="0"/>
                <a:t>t</a:t>
              </a:r>
            </a:p>
          </p:txBody>
        </p:sp>
        <p:cxnSp>
          <p:nvCxnSpPr>
            <p:cNvPr id="30" name="Straight Arrow Connector 29"/>
            <p:cNvCxnSpPr>
              <a:endCxn id="20" idx="0"/>
            </p:cNvCxnSpPr>
            <p:nvPr/>
          </p:nvCxnSpPr>
          <p:spPr>
            <a:xfrm>
              <a:off x="6959551" y="3174303"/>
              <a:ext cx="0" cy="85547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a:xfrm>
              <a:off x="5460502" y="2469606"/>
              <a:ext cx="465588" cy="720080"/>
              <a:chOff x="4233553" y="2431845"/>
              <a:chExt cx="465588" cy="720080"/>
            </a:xfrm>
          </p:grpSpPr>
          <p:sp>
            <p:nvSpPr>
              <p:cNvPr id="58" name="Rectangle 57"/>
              <p:cNvSpPr/>
              <p:nvPr/>
            </p:nvSpPr>
            <p:spPr>
              <a:xfrm>
                <a:off x="4233553" y="2431845"/>
                <a:ext cx="465588"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4248045" y="2719877"/>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Rectangle 61"/>
            <p:cNvSpPr/>
            <p:nvPr/>
          </p:nvSpPr>
          <p:spPr>
            <a:xfrm>
              <a:off x="6210749" y="2723917"/>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6420351" y="4021788"/>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p:nvPr/>
          </p:nvCxnSpPr>
          <p:spPr>
            <a:xfrm>
              <a:off x="6499282" y="3170008"/>
              <a:ext cx="0" cy="888001"/>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7271756" y="4058009"/>
              <a:ext cx="144016" cy="40381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Arrow Connector 66"/>
            <p:cNvCxnSpPr/>
            <p:nvPr/>
          </p:nvCxnSpPr>
          <p:spPr>
            <a:xfrm>
              <a:off x="7359796" y="3178925"/>
              <a:ext cx="0" cy="888001"/>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6295811" y="3170008"/>
              <a:ext cx="10357" cy="57635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981321" y="2089357"/>
              <a:ext cx="2655407" cy="369332"/>
            </a:xfrm>
            <a:prstGeom prst="rect">
              <a:avLst/>
            </a:prstGeom>
            <a:noFill/>
          </p:spPr>
          <p:txBody>
            <a:bodyPr wrap="none" rtlCol="0">
              <a:spAutoFit/>
            </a:bodyPr>
            <a:lstStyle/>
            <a:p>
              <a:r>
                <a:rPr lang="en-US" b="1" dirty="0">
                  <a:solidFill>
                    <a:srgbClr val="FF0000"/>
                  </a:solidFill>
                </a:rPr>
                <a:t>Sender wants to send to x</a:t>
              </a:r>
            </a:p>
          </p:txBody>
        </p:sp>
        <p:cxnSp>
          <p:nvCxnSpPr>
            <p:cNvPr id="38" name="Curved Connector 37"/>
            <p:cNvCxnSpPr>
              <a:stCxn id="37" idx="2"/>
              <a:endCxn id="79" idx="1"/>
            </p:cNvCxnSpPr>
            <p:nvPr/>
          </p:nvCxnSpPr>
          <p:spPr>
            <a:xfrm rot="16200000" flipH="1">
              <a:off x="2541908" y="2225805"/>
              <a:ext cx="349353" cy="815119"/>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832991" y="3284669"/>
              <a:ext cx="2185214" cy="369332"/>
            </a:xfrm>
            <a:prstGeom prst="rect">
              <a:avLst/>
            </a:prstGeom>
            <a:noFill/>
          </p:spPr>
          <p:txBody>
            <a:bodyPr wrap="none" rtlCol="0">
              <a:spAutoFit/>
            </a:bodyPr>
            <a:lstStyle/>
            <a:p>
              <a:pPr algn="r"/>
              <a:r>
                <a:rPr lang="en-US" b="1" i="1" dirty="0">
                  <a:solidFill>
                    <a:srgbClr val="00B050"/>
                  </a:solidFill>
                </a:rPr>
                <a:t>Probe with address x</a:t>
              </a:r>
            </a:p>
          </p:txBody>
        </p:sp>
        <p:cxnSp>
          <p:nvCxnSpPr>
            <p:cNvPr id="42" name="Curved Connector 41"/>
            <p:cNvCxnSpPr>
              <a:stCxn id="41" idx="3"/>
            </p:cNvCxnSpPr>
            <p:nvPr/>
          </p:nvCxnSpPr>
          <p:spPr>
            <a:xfrm flipV="1">
              <a:off x="3018205" y="3172753"/>
              <a:ext cx="200216" cy="296582"/>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177607" y="3278872"/>
              <a:ext cx="2515689" cy="646331"/>
            </a:xfrm>
            <a:prstGeom prst="rect">
              <a:avLst/>
            </a:prstGeom>
            <a:noFill/>
          </p:spPr>
          <p:txBody>
            <a:bodyPr wrap="none" rtlCol="0">
              <a:spAutoFit/>
            </a:bodyPr>
            <a:lstStyle/>
            <a:p>
              <a:pPr algn="r"/>
              <a:r>
                <a:rPr lang="en-US" b="1" dirty="0">
                  <a:solidFill>
                    <a:srgbClr val="00B050"/>
                  </a:solidFill>
                </a:rPr>
                <a:t>Receiver wakes up</a:t>
              </a:r>
            </a:p>
            <a:p>
              <a:pPr algn="r"/>
              <a:r>
                <a:rPr lang="en-US" b="1" dirty="0">
                  <a:solidFill>
                    <a:srgbClr val="00B050"/>
                  </a:solidFill>
                </a:rPr>
                <a:t>(periodically scheduled)</a:t>
              </a:r>
            </a:p>
          </p:txBody>
        </p:sp>
        <p:cxnSp>
          <p:nvCxnSpPr>
            <p:cNvPr id="46" name="Curved Connector 45"/>
            <p:cNvCxnSpPr>
              <a:stCxn id="45" idx="2"/>
              <a:endCxn id="89" idx="1"/>
            </p:cNvCxnSpPr>
            <p:nvPr/>
          </p:nvCxnSpPr>
          <p:spPr>
            <a:xfrm rot="16200000" flipH="1">
              <a:off x="5171875" y="3188779"/>
              <a:ext cx="168593" cy="1641439"/>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6035054" y="4674723"/>
              <a:ext cx="529312" cy="369332"/>
            </a:xfrm>
            <a:prstGeom prst="rect">
              <a:avLst/>
            </a:prstGeom>
            <a:noFill/>
          </p:spPr>
          <p:txBody>
            <a:bodyPr wrap="none" rtlCol="0">
              <a:spAutoFit/>
            </a:bodyPr>
            <a:lstStyle/>
            <a:p>
              <a:r>
                <a:rPr lang="en-US" b="1" i="1" dirty="0" err="1">
                  <a:solidFill>
                    <a:srgbClr val="00B050"/>
                  </a:solidFill>
                </a:rPr>
                <a:t>Ack</a:t>
              </a:r>
              <a:endParaRPr lang="en-US" b="1" i="1" dirty="0">
                <a:solidFill>
                  <a:srgbClr val="00B050"/>
                </a:solidFill>
              </a:endParaRPr>
            </a:p>
          </p:txBody>
        </p:sp>
        <p:cxnSp>
          <p:nvCxnSpPr>
            <p:cNvPr id="27" name="Curved Connector 26"/>
            <p:cNvCxnSpPr>
              <a:stCxn id="65" idx="3"/>
              <a:endCxn id="64" idx="2"/>
            </p:cNvCxnSpPr>
            <p:nvPr/>
          </p:nvCxnSpPr>
          <p:spPr>
            <a:xfrm flipH="1" flipV="1">
              <a:off x="6492359" y="4453836"/>
              <a:ext cx="72007" cy="405553"/>
            </a:xfrm>
            <a:prstGeom prst="curvedConnector4">
              <a:avLst>
                <a:gd name="adj1" fmla="val -317469"/>
                <a:gd name="adj2" fmla="val 72767"/>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7155561" y="2068686"/>
              <a:ext cx="1286121" cy="369332"/>
            </a:xfrm>
            <a:prstGeom prst="rect">
              <a:avLst/>
            </a:prstGeom>
            <a:noFill/>
          </p:spPr>
          <p:txBody>
            <a:bodyPr wrap="none" rtlCol="0">
              <a:spAutoFit/>
            </a:bodyPr>
            <a:lstStyle/>
            <a:p>
              <a:r>
                <a:rPr lang="en-US" b="1" dirty="0">
                  <a:solidFill>
                    <a:srgbClr val="FF0000"/>
                  </a:solidFill>
                </a:rPr>
                <a:t>Data Frame</a:t>
              </a:r>
            </a:p>
          </p:txBody>
        </p:sp>
        <p:cxnSp>
          <p:nvCxnSpPr>
            <p:cNvPr id="70" name="Curved Connector 69"/>
            <p:cNvCxnSpPr>
              <a:stCxn id="69" idx="1"/>
              <a:endCxn id="16" idx="0"/>
            </p:cNvCxnSpPr>
            <p:nvPr/>
          </p:nvCxnSpPr>
          <p:spPr>
            <a:xfrm rot="10800000" flipV="1">
              <a:off x="6949733" y="2253352"/>
              <a:ext cx="205829" cy="484608"/>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75" name="Group 74"/>
            <p:cNvGrpSpPr/>
            <p:nvPr/>
          </p:nvGrpSpPr>
          <p:grpSpPr>
            <a:xfrm>
              <a:off x="4606980" y="2460464"/>
              <a:ext cx="465588" cy="720080"/>
              <a:chOff x="4233553" y="2431845"/>
              <a:chExt cx="465588" cy="720080"/>
            </a:xfrm>
          </p:grpSpPr>
          <p:sp>
            <p:nvSpPr>
              <p:cNvPr id="76" name="Rectangle 75"/>
              <p:cNvSpPr/>
              <p:nvPr/>
            </p:nvSpPr>
            <p:spPr>
              <a:xfrm>
                <a:off x="4233553" y="2431845"/>
                <a:ext cx="465588"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4248045" y="2719877"/>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p:cNvGrpSpPr/>
            <p:nvPr/>
          </p:nvGrpSpPr>
          <p:grpSpPr>
            <a:xfrm>
              <a:off x="3124144" y="2448002"/>
              <a:ext cx="465588" cy="720080"/>
              <a:chOff x="4233553" y="2431845"/>
              <a:chExt cx="465588" cy="720080"/>
            </a:xfrm>
          </p:grpSpPr>
          <p:sp>
            <p:nvSpPr>
              <p:cNvPr id="79" name="Rectangle 78"/>
              <p:cNvSpPr/>
              <p:nvPr/>
            </p:nvSpPr>
            <p:spPr>
              <a:xfrm>
                <a:off x="4233553" y="2431845"/>
                <a:ext cx="465588"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4248045" y="2719877"/>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p:cNvGrpSpPr/>
            <p:nvPr/>
          </p:nvGrpSpPr>
          <p:grpSpPr>
            <a:xfrm>
              <a:off x="1162691" y="1417639"/>
              <a:ext cx="6888296" cy="580358"/>
              <a:chOff x="1162691" y="1417639"/>
              <a:chExt cx="6888296" cy="580358"/>
            </a:xfrm>
          </p:grpSpPr>
          <p:sp>
            <p:nvSpPr>
              <p:cNvPr id="82" name="Flowchart: Alternate Process 81"/>
              <p:cNvSpPr/>
              <p:nvPr/>
            </p:nvSpPr>
            <p:spPr>
              <a:xfrm>
                <a:off x="1162691" y="1417639"/>
                <a:ext cx="6888296" cy="580358"/>
              </a:xfrm>
              <a:prstGeom prst="flowChartAlternateProces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lowchart: Process 82"/>
              <p:cNvSpPr/>
              <p:nvPr/>
            </p:nvSpPr>
            <p:spPr>
              <a:xfrm>
                <a:off x="6235209" y="1571684"/>
                <a:ext cx="1351388" cy="313106"/>
              </a:xfrm>
              <a:prstGeom prst="flowChartProcess">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6478701" y="1530847"/>
                <a:ext cx="1127745" cy="338554"/>
              </a:xfrm>
              <a:prstGeom prst="rect">
                <a:avLst/>
              </a:prstGeom>
              <a:noFill/>
            </p:spPr>
            <p:txBody>
              <a:bodyPr wrap="none" rtlCol="0">
                <a:spAutoFit/>
              </a:bodyPr>
              <a:lstStyle/>
              <a:p>
                <a:r>
                  <a:rPr lang="en-US" sz="1600" b="1" dirty="0"/>
                  <a:t>Rx or Tx on</a:t>
                </a:r>
              </a:p>
            </p:txBody>
          </p:sp>
          <p:sp>
            <p:nvSpPr>
              <p:cNvPr id="85" name="Flowchart: Process 84"/>
              <p:cNvSpPr/>
              <p:nvPr/>
            </p:nvSpPr>
            <p:spPr>
              <a:xfrm>
                <a:off x="4550321" y="1571684"/>
                <a:ext cx="1351388" cy="313106"/>
              </a:xfrm>
              <a:prstGeom prst="flowChartProcess">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p:cNvSpPr txBox="1"/>
              <p:nvPr/>
            </p:nvSpPr>
            <p:spPr>
              <a:xfrm>
                <a:off x="4606839" y="1530847"/>
                <a:ext cx="1238352" cy="338554"/>
              </a:xfrm>
              <a:prstGeom prst="rect">
                <a:avLst/>
              </a:prstGeom>
              <a:noFill/>
            </p:spPr>
            <p:txBody>
              <a:bodyPr wrap="none" rtlCol="0">
                <a:spAutoFit/>
              </a:bodyPr>
              <a:lstStyle/>
              <a:p>
                <a:r>
                  <a:rPr lang="en-US" sz="1600" b="1" dirty="0"/>
                  <a:t>Rx on, </a:t>
                </a:r>
                <a:r>
                  <a:rPr lang="en-US" sz="1600" b="1" dirty="0" err="1"/>
                  <a:t>Tx</a:t>
                </a:r>
                <a:r>
                  <a:rPr lang="en-US" sz="1600" b="1" dirty="0"/>
                  <a:t> off</a:t>
                </a:r>
              </a:p>
            </p:txBody>
          </p:sp>
          <p:sp>
            <p:nvSpPr>
              <p:cNvPr id="87" name="TextBox 86"/>
              <p:cNvSpPr txBox="1"/>
              <p:nvPr/>
            </p:nvSpPr>
            <p:spPr>
              <a:xfrm>
                <a:off x="1331640" y="1507763"/>
                <a:ext cx="3162854" cy="400110"/>
              </a:xfrm>
              <a:prstGeom prst="rect">
                <a:avLst/>
              </a:prstGeom>
              <a:noFill/>
            </p:spPr>
            <p:txBody>
              <a:bodyPr wrap="none" rtlCol="0">
                <a:spAutoFit/>
              </a:bodyPr>
              <a:lstStyle/>
              <a:p>
                <a:r>
                  <a:rPr lang="en-US" sz="2000" b="1" dirty="0"/>
                  <a:t>Radio State representation :</a:t>
                </a:r>
              </a:p>
            </p:txBody>
          </p:sp>
        </p:grpSp>
        <p:sp>
          <p:nvSpPr>
            <p:cNvPr id="88" name="Rectangle 87"/>
            <p:cNvSpPr/>
            <p:nvPr/>
          </p:nvSpPr>
          <p:spPr>
            <a:xfrm>
              <a:off x="2093781" y="3733756"/>
              <a:ext cx="819285" cy="72008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6076891" y="3733756"/>
              <a:ext cx="343460" cy="72008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Curved Connector 89"/>
            <p:cNvCxnSpPr>
              <a:stCxn id="45" idx="2"/>
              <a:endCxn id="88" idx="3"/>
            </p:cNvCxnSpPr>
            <p:nvPr/>
          </p:nvCxnSpPr>
          <p:spPr>
            <a:xfrm rot="5400000">
              <a:off x="3589963" y="3248306"/>
              <a:ext cx="168593" cy="1522386"/>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2097325" y="4338017"/>
              <a:ext cx="0" cy="8949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6076891" y="4331191"/>
              <a:ext cx="0" cy="8949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a:off x="2097325" y="5062184"/>
              <a:ext cx="3979566" cy="0"/>
            </a:xfrm>
            <a:prstGeom prst="straightConnector1">
              <a:avLst/>
            </a:prstGeom>
            <a:ln w="38100">
              <a:solidFill>
                <a:schemeClr val="tx2">
                  <a:lumMod val="40000"/>
                  <a:lumOff val="6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3420290" y="4662074"/>
              <a:ext cx="1736501" cy="400110"/>
            </a:xfrm>
            <a:prstGeom prst="rect">
              <a:avLst/>
            </a:prstGeom>
            <a:noFill/>
          </p:spPr>
          <p:txBody>
            <a:bodyPr wrap="none" rtlCol="0">
              <a:spAutoFit/>
            </a:bodyPr>
            <a:lstStyle/>
            <a:p>
              <a:r>
                <a:rPr lang="en-US" sz="2000" b="1" i="1" dirty="0">
                  <a:solidFill>
                    <a:schemeClr val="tx2">
                      <a:lumMod val="40000"/>
                      <a:lumOff val="60000"/>
                    </a:schemeClr>
                  </a:solidFill>
                </a:rPr>
                <a:t>Typical</a:t>
              </a:r>
              <a:r>
                <a:rPr lang="en-US" sz="2000" b="1" dirty="0">
                  <a:solidFill>
                    <a:schemeClr val="tx2">
                      <a:lumMod val="40000"/>
                      <a:lumOff val="60000"/>
                    </a:schemeClr>
                  </a:solidFill>
                </a:rPr>
                <a:t> 125 </a:t>
              </a:r>
              <a:r>
                <a:rPr lang="en-US" sz="2000" b="1" dirty="0" err="1">
                  <a:solidFill>
                    <a:schemeClr val="tx2">
                      <a:lumMod val="40000"/>
                      <a:lumOff val="60000"/>
                    </a:schemeClr>
                  </a:solidFill>
                </a:rPr>
                <a:t>ms</a:t>
              </a:r>
              <a:endParaRPr lang="en-US" sz="2000" b="1" dirty="0">
                <a:solidFill>
                  <a:schemeClr val="tx2">
                    <a:lumMod val="40000"/>
                    <a:lumOff val="60000"/>
                  </a:schemeClr>
                </a:solidFill>
              </a:endParaRPr>
            </a:p>
          </p:txBody>
        </p:sp>
        <p:grpSp>
          <p:nvGrpSpPr>
            <p:cNvPr id="95" name="Group 94"/>
            <p:cNvGrpSpPr/>
            <p:nvPr/>
          </p:nvGrpSpPr>
          <p:grpSpPr>
            <a:xfrm>
              <a:off x="4021474" y="2469606"/>
              <a:ext cx="465588" cy="720080"/>
              <a:chOff x="4233553" y="2431845"/>
              <a:chExt cx="465588" cy="720080"/>
            </a:xfrm>
          </p:grpSpPr>
          <p:sp>
            <p:nvSpPr>
              <p:cNvPr id="96" name="Rectangle 95"/>
              <p:cNvSpPr/>
              <p:nvPr/>
            </p:nvSpPr>
            <p:spPr>
              <a:xfrm>
                <a:off x="4233553" y="2431845"/>
                <a:ext cx="465588"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4248045" y="2719877"/>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484896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TextShape 1"/>
          <p:cNvSpPr txBox="1"/>
          <p:nvPr/>
        </p:nvSpPr>
        <p:spPr>
          <a:xfrm>
            <a:off x="457200" y="274680"/>
            <a:ext cx="8229240" cy="1142640"/>
          </a:xfrm>
          <a:prstGeom prst="rect">
            <a:avLst/>
          </a:prstGeom>
        </p:spPr>
        <p:txBody>
          <a:bodyPr anchor="ctr"/>
          <a:lstStyle/>
          <a:p>
            <a:pPr algn="ctr">
              <a:lnSpc>
                <a:spcPct val="100000"/>
              </a:lnSpc>
            </a:pPr>
            <a:r>
              <a:rPr lang="en-US" sz="4900" dirty="0">
                <a:solidFill>
                  <a:srgbClr val="000000"/>
                </a:solidFill>
                <a:latin typeface="Calibri"/>
              </a:rPr>
              <a:t>XMAC</a:t>
            </a:r>
            <a:r>
              <a:rPr lang="en-US" sz="4400" dirty="0">
                <a:solidFill>
                  <a:srgbClr val="000000"/>
                </a:solidFill>
                <a:latin typeface="Calibri"/>
              </a:rPr>
              <a:t>
</a:t>
            </a:r>
            <a:r>
              <a:rPr lang="en-US" sz="3100" dirty="0">
                <a:solidFill>
                  <a:srgbClr val="000000"/>
                </a:solidFill>
                <a:latin typeface="Calibri"/>
              </a:rPr>
              <a:t>Broadcasting a frame</a:t>
            </a:r>
            <a:endParaRPr dirty="0"/>
          </a:p>
        </p:txBody>
      </p:sp>
      <p:sp>
        <p:nvSpPr>
          <p:cNvPr id="564" name="CustomShape 18"/>
          <p:cNvSpPr/>
          <p:nvPr/>
        </p:nvSpPr>
        <p:spPr>
          <a:xfrm>
            <a:off x="478780" y="4682160"/>
            <a:ext cx="8362800" cy="1728248"/>
          </a:xfrm>
          <a:prstGeom prst="rect">
            <a:avLst/>
          </a:prstGeom>
        </p:spPr>
        <p:txBody>
          <a:bodyPr lIns="90000" tIns="45000" rIns="90000" bIns="45000"/>
          <a:lstStyle/>
          <a:p>
            <a:pPr>
              <a:lnSpc>
                <a:spcPct val="100000"/>
              </a:lnSpc>
            </a:pPr>
            <a:r>
              <a:rPr lang="en-US" sz="2400" b="1" dirty="0">
                <a:solidFill>
                  <a:srgbClr val="000000"/>
                </a:solidFill>
                <a:latin typeface="Calibri"/>
              </a:rPr>
              <a:t>The transmitter sends repeatedly its frame, during a period that exceeds the interval between receiver wake-ups.</a:t>
            </a:r>
            <a:endParaRPr dirty="0"/>
          </a:p>
          <a:p>
            <a:pPr>
              <a:lnSpc>
                <a:spcPct val="100000"/>
              </a:lnSpc>
            </a:pPr>
            <a:r>
              <a:rPr lang="en-US" sz="2400" b="1" dirty="0">
                <a:solidFill>
                  <a:srgbClr val="000000"/>
                </a:solidFill>
                <a:latin typeface="Calibri"/>
              </a:rPr>
              <a:t>When the receiver detects radio activity, it remains awake.</a:t>
            </a:r>
            <a:endParaRPr dirty="0"/>
          </a:p>
          <a:p>
            <a:pPr>
              <a:lnSpc>
                <a:spcPct val="100000"/>
              </a:lnSpc>
            </a:pPr>
            <a:r>
              <a:rPr lang="en-US" sz="2400" b="1" dirty="0">
                <a:solidFill>
                  <a:srgbClr val="000000"/>
                </a:solidFill>
                <a:latin typeface="Calibri"/>
              </a:rPr>
              <a:t>After receiving a complete frame the receiver returns to sleep.</a:t>
            </a:r>
            <a:endParaRPr dirty="0"/>
          </a:p>
        </p:txBody>
      </p:sp>
      <p:sp>
        <p:nvSpPr>
          <p:cNvPr id="584" name="TextShape 38"/>
          <p:cNvSpPr txBox="1"/>
          <p:nvPr/>
        </p:nvSpPr>
        <p:spPr>
          <a:xfrm>
            <a:off x="0" y="0"/>
            <a:ext cx="360" cy="360"/>
          </a:xfrm>
          <a:prstGeom prst="rect">
            <a:avLst/>
          </a:prstGeom>
        </p:spPr>
        <p:txBody>
          <a:bodyPr lIns="90000" tIns="45000" rIns="90000" bIns="45000"/>
          <a:lstStyle/>
          <a:p>
            <a:pPr>
              <a:lnSpc>
                <a:spcPct val="100000"/>
              </a:lnSpc>
            </a:pPr>
            <a:fld id="{71311141-11A1-4121-91C1-51E17191E171}" type="slidenum">
              <a:rPr lang="en-US">
                <a:solidFill>
                  <a:srgbClr val="000000"/>
                </a:solidFill>
                <a:latin typeface="Calibri"/>
              </a:rPr>
              <a:t>20</a:t>
            </a:fld>
            <a:endParaRPr/>
          </a:p>
        </p:txBody>
      </p:sp>
      <p:sp>
        <p:nvSpPr>
          <p:cNvPr id="553" name="CustomShape 7"/>
          <p:cNvSpPr/>
          <p:nvPr/>
        </p:nvSpPr>
        <p:spPr>
          <a:xfrm>
            <a:off x="943020" y="3148374"/>
            <a:ext cx="7200360" cy="360"/>
          </a:xfrm>
          <a:prstGeom prst="straightConnector1">
            <a:avLst/>
          </a:prstGeom>
          <a:ln w="38160">
            <a:solidFill>
              <a:srgbClr val="4A7EBB"/>
            </a:solidFill>
            <a:round/>
            <a:tailEnd type="triangle" w="med" len="med"/>
          </a:ln>
        </p:spPr>
      </p:sp>
      <p:sp>
        <p:nvSpPr>
          <p:cNvPr id="554" name="CustomShape 8"/>
          <p:cNvSpPr/>
          <p:nvPr/>
        </p:nvSpPr>
        <p:spPr>
          <a:xfrm>
            <a:off x="2020139" y="2428374"/>
            <a:ext cx="3502815" cy="719640"/>
          </a:xfrm>
          <a:prstGeom prst="rect">
            <a:avLst/>
          </a:prstGeom>
          <a:solidFill>
            <a:srgbClr val="FAC090"/>
          </a:solidFill>
        </p:spPr>
      </p:sp>
      <p:sp>
        <p:nvSpPr>
          <p:cNvPr id="555" name="CustomShape 9"/>
          <p:cNvSpPr/>
          <p:nvPr/>
        </p:nvSpPr>
        <p:spPr>
          <a:xfrm>
            <a:off x="2095020" y="2716374"/>
            <a:ext cx="287640" cy="431640"/>
          </a:xfrm>
          <a:prstGeom prst="rect">
            <a:avLst/>
          </a:prstGeom>
          <a:solidFill>
            <a:srgbClr val="FF0000"/>
          </a:solidFill>
          <a:ln w="25560">
            <a:solidFill>
              <a:srgbClr val="3A5F8B"/>
            </a:solidFill>
            <a:round/>
          </a:ln>
        </p:spPr>
      </p:sp>
      <p:sp>
        <p:nvSpPr>
          <p:cNvPr id="556" name="CustomShape 10"/>
          <p:cNvSpPr/>
          <p:nvPr/>
        </p:nvSpPr>
        <p:spPr>
          <a:xfrm>
            <a:off x="2535660" y="2716374"/>
            <a:ext cx="287640" cy="431640"/>
          </a:xfrm>
          <a:prstGeom prst="rect">
            <a:avLst/>
          </a:prstGeom>
          <a:solidFill>
            <a:srgbClr val="FF0000"/>
          </a:solidFill>
          <a:ln w="25560">
            <a:solidFill>
              <a:srgbClr val="3A5F8B"/>
            </a:solidFill>
            <a:round/>
          </a:ln>
        </p:spPr>
      </p:sp>
      <p:sp>
        <p:nvSpPr>
          <p:cNvPr id="557" name="CustomShape 11"/>
          <p:cNvSpPr/>
          <p:nvPr/>
        </p:nvSpPr>
        <p:spPr>
          <a:xfrm>
            <a:off x="2975940" y="2716374"/>
            <a:ext cx="287640" cy="431640"/>
          </a:xfrm>
          <a:prstGeom prst="rect">
            <a:avLst/>
          </a:prstGeom>
          <a:solidFill>
            <a:srgbClr val="FF0000"/>
          </a:solidFill>
          <a:ln w="25560">
            <a:solidFill>
              <a:srgbClr val="3A5F8B"/>
            </a:solidFill>
            <a:round/>
          </a:ln>
        </p:spPr>
      </p:sp>
      <p:sp>
        <p:nvSpPr>
          <p:cNvPr id="558" name="CustomShape 12"/>
          <p:cNvSpPr/>
          <p:nvPr/>
        </p:nvSpPr>
        <p:spPr>
          <a:xfrm>
            <a:off x="3416580" y="2716374"/>
            <a:ext cx="287640" cy="431640"/>
          </a:xfrm>
          <a:prstGeom prst="rect">
            <a:avLst/>
          </a:prstGeom>
          <a:solidFill>
            <a:srgbClr val="FF0000"/>
          </a:solidFill>
          <a:ln w="25560">
            <a:solidFill>
              <a:srgbClr val="3A5F8B"/>
            </a:solidFill>
            <a:round/>
          </a:ln>
        </p:spPr>
      </p:sp>
      <p:sp>
        <p:nvSpPr>
          <p:cNvPr id="559" name="CustomShape 13"/>
          <p:cNvSpPr/>
          <p:nvPr/>
        </p:nvSpPr>
        <p:spPr>
          <a:xfrm>
            <a:off x="3856860" y="2716374"/>
            <a:ext cx="287640" cy="431640"/>
          </a:xfrm>
          <a:prstGeom prst="rect">
            <a:avLst/>
          </a:prstGeom>
          <a:solidFill>
            <a:srgbClr val="FF0000"/>
          </a:solidFill>
          <a:ln w="25560">
            <a:solidFill>
              <a:srgbClr val="3A5F8B"/>
            </a:solidFill>
            <a:round/>
          </a:ln>
        </p:spPr>
      </p:sp>
      <p:sp>
        <p:nvSpPr>
          <p:cNvPr id="560" name="CustomShape 14"/>
          <p:cNvSpPr/>
          <p:nvPr/>
        </p:nvSpPr>
        <p:spPr>
          <a:xfrm>
            <a:off x="4297140" y="2716374"/>
            <a:ext cx="287640" cy="431640"/>
          </a:xfrm>
          <a:prstGeom prst="rect">
            <a:avLst/>
          </a:prstGeom>
          <a:solidFill>
            <a:srgbClr val="FF0000"/>
          </a:solidFill>
          <a:ln w="25560">
            <a:solidFill>
              <a:srgbClr val="3A5F8B"/>
            </a:solidFill>
            <a:round/>
          </a:ln>
        </p:spPr>
      </p:sp>
      <p:sp>
        <p:nvSpPr>
          <p:cNvPr id="561" name="CustomShape 15"/>
          <p:cNvSpPr/>
          <p:nvPr/>
        </p:nvSpPr>
        <p:spPr>
          <a:xfrm>
            <a:off x="783900" y="2665974"/>
            <a:ext cx="1398960" cy="456120"/>
          </a:xfrm>
          <a:prstGeom prst="rect">
            <a:avLst/>
          </a:prstGeom>
        </p:spPr>
        <p:txBody>
          <a:bodyPr wrap="none" lIns="90000" tIns="45000" rIns="90000" bIns="45000"/>
          <a:lstStyle/>
          <a:p>
            <a:pPr>
              <a:lnSpc>
                <a:spcPct val="100000"/>
              </a:lnSpc>
            </a:pPr>
            <a:r>
              <a:rPr lang="en-US" sz="2400" b="1">
                <a:solidFill>
                  <a:srgbClr val="000000"/>
                </a:solidFill>
                <a:latin typeface="Calibri"/>
              </a:rPr>
              <a:t>Sender</a:t>
            </a:r>
            <a:endParaRPr/>
          </a:p>
        </p:txBody>
      </p:sp>
      <p:sp>
        <p:nvSpPr>
          <p:cNvPr id="562" name="CustomShape 16"/>
          <p:cNvSpPr/>
          <p:nvPr/>
        </p:nvSpPr>
        <p:spPr>
          <a:xfrm>
            <a:off x="7814340" y="2686854"/>
            <a:ext cx="325800" cy="456120"/>
          </a:xfrm>
          <a:prstGeom prst="rect">
            <a:avLst/>
          </a:prstGeom>
        </p:spPr>
        <p:txBody>
          <a:bodyPr wrap="none" lIns="90000" tIns="45000" rIns="90000" bIns="45000"/>
          <a:lstStyle/>
          <a:p>
            <a:pPr>
              <a:lnSpc>
                <a:spcPct val="100000"/>
              </a:lnSpc>
            </a:pPr>
            <a:r>
              <a:rPr lang="en-US" sz="2400" b="1">
                <a:solidFill>
                  <a:srgbClr val="000000"/>
                </a:solidFill>
                <a:latin typeface="Calibri"/>
              </a:rPr>
              <a:t>t</a:t>
            </a:r>
            <a:endParaRPr/>
          </a:p>
        </p:txBody>
      </p:sp>
      <p:sp>
        <p:nvSpPr>
          <p:cNvPr id="565" name="CustomShape 19"/>
          <p:cNvSpPr/>
          <p:nvPr/>
        </p:nvSpPr>
        <p:spPr>
          <a:xfrm>
            <a:off x="4723380" y="2716374"/>
            <a:ext cx="287640" cy="431640"/>
          </a:xfrm>
          <a:prstGeom prst="rect">
            <a:avLst/>
          </a:prstGeom>
          <a:solidFill>
            <a:srgbClr val="FF0000"/>
          </a:solidFill>
          <a:ln w="25560">
            <a:solidFill>
              <a:srgbClr val="3A5F8B"/>
            </a:solidFill>
            <a:round/>
          </a:ln>
        </p:spPr>
      </p:sp>
      <p:sp>
        <p:nvSpPr>
          <p:cNvPr id="566" name="CustomShape 20"/>
          <p:cNvSpPr/>
          <p:nvPr/>
        </p:nvSpPr>
        <p:spPr>
          <a:xfrm>
            <a:off x="3119940" y="2343054"/>
            <a:ext cx="337320" cy="237240"/>
          </a:xfrm>
          <a:prstGeom prst="rect">
            <a:avLst/>
          </a:prstGeom>
        </p:spPr>
      </p:sp>
      <p:sp>
        <p:nvSpPr>
          <p:cNvPr id="567" name="CustomShape 21"/>
          <p:cNvSpPr/>
          <p:nvPr/>
        </p:nvSpPr>
        <p:spPr>
          <a:xfrm>
            <a:off x="3119940" y="2680374"/>
            <a:ext cx="337320" cy="237240"/>
          </a:xfrm>
          <a:prstGeom prst="rect">
            <a:avLst/>
          </a:prstGeom>
        </p:spPr>
      </p:sp>
      <p:sp>
        <p:nvSpPr>
          <p:cNvPr id="568" name="CustomShape 22"/>
          <p:cNvSpPr/>
          <p:nvPr/>
        </p:nvSpPr>
        <p:spPr>
          <a:xfrm>
            <a:off x="3119940" y="3022014"/>
            <a:ext cx="337320" cy="237240"/>
          </a:xfrm>
          <a:prstGeom prst="rect">
            <a:avLst/>
          </a:prstGeom>
        </p:spPr>
      </p:sp>
      <p:sp>
        <p:nvSpPr>
          <p:cNvPr id="573" name="CustomShape 27"/>
          <p:cNvSpPr/>
          <p:nvPr/>
        </p:nvSpPr>
        <p:spPr>
          <a:xfrm>
            <a:off x="6148980" y="2359974"/>
            <a:ext cx="337320" cy="237240"/>
          </a:xfrm>
          <a:prstGeom prst="rect">
            <a:avLst/>
          </a:prstGeom>
        </p:spPr>
      </p:sp>
      <p:sp>
        <p:nvSpPr>
          <p:cNvPr id="574" name="CustomShape 28"/>
          <p:cNvSpPr/>
          <p:nvPr/>
        </p:nvSpPr>
        <p:spPr>
          <a:xfrm>
            <a:off x="6148980" y="2697654"/>
            <a:ext cx="337320" cy="237240"/>
          </a:xfrm>
          <a:prstGeom prst="rect">
            <a:avLst/>
          </a:prstGeom>
        </p:spPr>
      </p:sp>
      <p:sp>
        <p:nvSpPr>
          <p:cNvPr id="575" name="CustomShape 29"/>
          <p:cNvSpPr/>
          <p:nvPr/>
        </p:nvSpPr>
        <p:spPr>
          <a:xfrm>
            <a:off x="6148980" y="3039294"/>
            <a:ext cx="337320" cy="237240"/>
          </a:xfrm>
          <a:prstGeom prst="rect">
            <a:avLst/>
          </a:prstGeom>
        </p:spPr>
      </p:sp>
      <p:grpSp>
        <p:nvGrpSpPr>
          <p:cNvPr id="4" name="Group 3"/>
          <p:cNvGrpSpPr/>
          <p:nvPr/>
        </p:nvGrpSpPr>
        <p:grpSpPr>
          <a:xfrm>
            <a:off x="786927" y="2990442"/>
            <a:ext cx="7353213" cy="1210680"/>
            <a:chOff x="775407" y="3333774"/>
            <a:chExt cx="7353213" cy="1210680"/>
          </a:xfrm>
        </p:grpSpPr>
        <p:sp>
          <p:nvSpPr>
            <p:cNvPr id="549" name="CustomShape 3"/>
            <p:cNvSpPr/>
            <p:nvPr/>
          </p:nvSpPr>
          <p:spPr>
            <a:xfrm>
              <a:off x="928260" y="4436094"/>
              <a:ext cx="7200360" cy="360"/>
            </a:xfrm>
            <a:prstGeom prst="straightConnector1">
              <a:avLst/>
            </a:prstGeom>
            <a:ln w="38160">
              <a:solidFill>
                <a:srgbClr val="4A7EBB"/>
              </a:solidFill>
              <a:round/>
              <a:tailEnd type="triangle" w="med" len="med"/>
            </a:ln>
          </p:spPr>
        </p:sp>
        <p:sp>
          <p:nvSpPr>
            <p:cNvPr id="550" name="CustomShape 4"/>
            <p:cNvSpPr/>
            <p:nvPr/>
          </p:nvSpPr>
          <p:spPr>
            <a:xfrm>
              <a:off x="3988620" y="3716094"/>
              <a:ext cx="590040" cy="719640"/>
            </a:xfrm>
            <a:prstGeom prst="rect">
              <a:avLst/>
            </a:prstGeom>
            <a:solidFill>
              <a:srgbClr val="C3D69B"/>
            </a:solidFill>
          </p:spPr>
        </p:sp>
        <p:sp>
          <p:nvSpPr>
            <p:cNvPr id="551" name="CustomShape 5"/>
            <p:cNvSpPr/>
            <p:nvPr/>
          </p:nvSpPr>
          <p:spPr>
            <a:xfrm>
              <a:off x="4291020" y="4004094"/>
              <a:ext cx="287640" cy="431640"/>
            </a:xfrm>
            <a:prstGeom prst="rect">
              <a:avLst/>
            </a:prstGeom>
            <a:solidFill>
              <a:srgbClr val="FF0000"/>
            </a:solidFill>
            <a:ln w="25560">
              <a:solidFill>
                <a:srgbClr val="3A5F8B"/>
              </a:solidFill>
              <a:round/>
            </a:ln>
          </p:spPr>
        </p:sp>
        <p:sp>
          <p:nvSpPr>
            <p:cNvPr id="552" name="CustomShape 6"/>
            <p:cNvSpPr/>
            <p:nvPr/>
          </p:nvSpPr>
          <p:spPr>
            <a:xfrm>
              <a:off x="775407" y="3820372"/>
              <a:ext cx="1671480" cy="456120"/>
            </a:xfrm>
            <a:prstGeom prst="rect">
              <a:avLst/>
            </a:prstGeom>
          </p:spPr>
          <p:txBody>
            <a:bodyPr wrap="none" lIns="90000" tIns="45000" rIns="90000" bIns="45000"/>
            <a:lstStyle/>
            <a:p>
              <a:pPr>
                <a:lnSpc>
                  <a:spcPct val="100000"/>
                </a:lnSpc>
              </a:pPr>
              <a:r>
                <a:rPr lang="en-US" sz="2400" b="1" dirty="0">
                  <a:solidFill>
                    <a:srgbClr val="000000"/>
                  </a:solidFill>
                  <a:latin typeface="Calibri"/>
                </a:rPr>
                <a:t>Receiver</a:t>
              </a:r>
              <a:endParaRPr dirty="0"/>
            </a:p>
          </p:txBody>
        </p:sp>
        <p:sp>
          <p:nvSpPr>
            <p:cNvPr id="569" name="CustomShape 23"/>
            <p:cNvSpPr/>
            <p:nvPr/>
          </p:nvSpPr>
          <p:spPr>
            <a:xfrm>
              <a:off x="3119940" y="3333774"/>
              <a:ext cx="337320" cy="237240"/>
            </a:xfrm>
            <a:prstGeom prst="rect">
              <a:avLst/>
            </a:prstGeom>
          </p:spPr>
        </p:sp>
        <p:sp>
          <p:nvSpPr>
            <p:cNvPr id="570" name="CustomShape 24"/>
            <p:cNvSpPr/>
            <p:nvPr/>
          </p:nvSpPr>
          <p:spPr>
            <a:xfrm>
              <a:off x="3119940" y="3636534"/>
              <a:ext cx="337320" cy="237240"/>
            </a:xfrm>
            <a:prstGeom prst="rect">
              <a:avLst/>
            </a:prstGeom>
          </p:spPr>
        </p:sp>
        <p:sp>
          <p:nvSpPr>
            <p:cNvPr id="571" name="CustomShape 25"/>
            <p:cNvSpPr/>
            <p:nvPr/>
          </p:nvSpPr>
          <p:spPr>
            <a:xfrm>
              <a:off x="3119940" y="3963414"/>
              <a:ext cx="337320" cy="237240"/>
            </a:xfrm>
            <a:prstGeom prst="rect">
              <a:avLst/>
            </a:prstGeom>
          </p:spPr>
        </p:sp>
        <p:sp>
          <p:nvSpPr>
            <p:cNvPr id="572" name="CustomShape 26"/>
            <p:cNvSpPr/>
            <p:nvPr/>
          </p:nvSpPr>
          <p:spPr>
            <a:xfrm>
              <a:off x="3119940" y="4290294"/>
              <a:ext cx="337320" cy="237240"/>
            </a:xfrm>
            <a:prstGeom prst="rect">
              <a:avLst/>
            </a:prstGeom>
          </p:spPr>
        </p:sp>
        <p:sp>
          <p:nvSpPr>
            <p:cNvPr id="576" name="CustomShape 30"/>
            <p:cNvSpPr/>
            <p:nvPr/>
          </p:nvSpPr>
          <p:spPr>
            <a:xfrm>
              <a:off x="6148980" y="3350694"/>
              <a:ext cx="337320" cy="237240"/>
            </a:xfrm>
            <a:prstGeom prst="rect">
              <a:avLst/>
            </a:prstGeom>
          </p:spPr>
        </p:sp>
        <p:sp>
          <p:nvSpPr>
            <p:cNvPr id="577" name="CustomShape 31"/>
            <p:cNvSpPr/>
            <p:nvPr/>
          </p:nvSpPr>
          <p:spPr>
            <a:xfrm>
              <a:off x="6148980" y="3653814"/>
              <a:ext cx="337320" cy="237240"/>
            </a:xfrm>
            <a:prstGeom prst="rect">
              <a:avLst/>
            </a:prstGeom>
          </p:spPr>
        </p:sp>
        <p:sp>
          <p:nvSpPr>
            <p:cNvPr id="578" name="CustomShape 32"/>
            <p:cNvSpPr/>
            <p:nvPr/>
          </p:nvSpPr>
          <p:spPr>
            <a:xfrm>
              <a:off x="6148980" y="3980334"/>
              <a:ext cx="337320" cy="237240"/>
            </a:xfrm>
            <a:prstGeom prst="rect">
              <a:avLst/>
            </a:prstGeom>
          </p:spPr>
        </p:sp>
        <p:sp>
          <p:nvSpPr>
            <p:cNvPr id="579" name="CustomShape 33"/>
            <p:cNvSpPr/>
            <p:nvPr/>
          </p:nvSpPr>
          <p:spPr>
            <a:xfrm>
              <a:off x="6148980" y="4307214"/>
              <a:ext cx="337320" cy="237240"/>
            </a:xfrm>
            <a:prstGeom prst="rect">
              <a:avLst/>
            </a:prstGeom>
          </p:spPr>
        </p:sp>
      </p:grpSp>
      <p:grpSp>
        <p:nvGrpSpPr>
          <p:cNvPr id="48" name="Group 47"/>
          <p:cNvGrpSpPr/>
          <p:nvPr/>
        </p:nvGrpSpPr>
        <p:grpSpPr>
          <a:xfrm>
            <a:off x="6691500" y="2258232"/>
            <a:ext cx="283336" cy="2524182"/>
            <a:chOff x="8293443" y="476672"/>
            <a:chExt cx="237588" cy="2284824"/>
          </a:xfrm>
          <a:solidFill>
            <a:schemeClr val="bg1"/>
          </a:solidFill>
        </p:grpSpPr>
        <p:sp>
          <p:nvSpPr>
            <p:cNvPr id="49" name="Double Wave 48"/>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uble Wave 49"/>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Double Wave 50"/>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ouble Wave 51"/>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ouble Wave 52"/>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Double Wave 53"/>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ouble Wave 54"/>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p:cNvGrpSpPr/>
          <p:nvPr/>
        </p:nvGrpSpPr>
        <p:grpSpPr>
          <a:xfrm>
            <a:off x="2026390" y="1924850"/>
            <a:ext cx="3099240" cy="531127"/>
            <a:chOff x="2011804" y="3766402"/>
            <a:chExt cx="3983277" cy="531127"/>
          </a:xfrm>
        </p:grpSpPr>
        <p:cxnSp>
          <p:nvCxnSpPr>
            <p:cNvPr id="56" name="Straight Connector 55"/>
            <p:cNvCxnSpPr/>
            <p:nvPr/>
          </p:nvCxnSpPr>
          <p:spPr>
            <a:xfrm>
              <a:off x="5995081" y="3843217"/>
              <a:ext cx="0" cy="454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2015515" y="4163392"/>
              <a:ext cx="3979566" cy="0"/>
            </a:xfrm>
            <a:prstGeom prst="straightConnector1">
              <a:avLst/>
            </a:prstGeom>
            <a:ln w="38100">
              <a:solidFill>
                <a:schemeClr val="tx2">
                  <a:lumMod val="40000"/>
                  <a:lumOff val="6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2011804" y="3830619"/>
              <a:ext cx="0" cy="454312"/>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545752" y="3766402"/>
              <a:ext cx="1890005" cy="400110"/>
            </a:xfrm>
            <a:prstGeom prst="rect">
              <a:avLst/>
            </a:prstGeom>
            <a:noFill/>
          </p:spPr>
          <p:txBody>
            <a:bodyPr wrap="none" rtlCol="0">
              <a:spAutoFit/>
            </a:bodyPr>
            <a:lstStyle/>
            <a:p>
              <a:r>
                <a:rPr lang="en-US" sz="2000" b="1" dirty="0">
                  <a:solidFill>
                    <a:srgbClr val="00B0F0"/>
                  </a:solidFill>
                </a:rPr>
                <a:t>Wake-up period</a:t>
              </a:r>
            </a:p>
          </p:txBody>
        </p:sp>
      </p:grpSp>
      <p:grpSp>
        <p:nvGrpSpPr>
          <p:cNvPr id="40" name="Group 39"/>
          <p:cNvGrpSpPr/>
          <p:nvPr/>
        </p:nvGrpSpPr>
        <p:grpSpPr>
          <a:xfrm>
            <a:off x="2780656" y="1408818"/>
            <a:ext cx="357840" cy="3172310"/>
            <a:chOff x="8293443" y="476672"/>
            <a:chExt cx="237588" cy="2284824"/>
          </a:xfrm>
          <a:solidFill>
            <a:schemeClr val="bg1"/>
          </a:solidFill>
        </p:grpSpPr>
        <p:sp>
          <p:nvSpPr>
            <p:cNvPr id="41" name="Double Wave 40"/>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uble Wave 41"/>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ouble Wave 42"/>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uble Wave 43"/>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uble Wave 44"/>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uble Wave 45"/>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uble Wave 46"/>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3" name="Straight Connector 62"/>
          <p:cNvCxnSpPr/>
          <p:nvPr/>
        </p:nvCxnSpPr>
        <p:spPr>
          <a:xfrm>
            <a:off x="4000140" y="4185115"/>
            <a:ext cx="0" cy="454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903787" y="4505290"/>
            <a:ext cx="3096353" cy="0"/>
          </a:xfrm>
          <a:prstGeom prst="straightConnector1">
            <a:avLst/>
          </a:prstGeom>
          <a:ln w="38100">
            <a:solidFill>
              <a:schemeClr val="tx2">
                <a:lumMod val="40000"/>
                <a:lumOff val="6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900900" y="4172517"/>
            <a:ext cx="0" cy="454312"/>
          </a:xfrm>
          <a:prstGeom prst="line">
            <a:avLst/>
          </a:prstGeom>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976812" y="4122088"/>
            <a:ext cx="1470543" cy="400110"/>
          </a:xfrm>
          <a:prstGeom prst="rect">
            <a:avLst/>
          </a:prstGeom>
          <a:noFill/>
        </p:spPr>
        <p:txBody>
          <a:bodyPr wrap="none" rtlCol="0">
            <a:spAutoFit/>
          </a:bodyPr>
          <a:lstStyle/>
          <a:p>
            <a:r>
              <a:rPr lang="en-US" sz="2000" b="1" dirty="0">
                <a:solidFill>
                  <a:srgbClr val="00B0F0"/>
                </a:solidFill>
              </a:rPr>
              <a:t>Wake-up period</a:t>
            </a:r>
          </a:p>
        </p:txBody>
      </p:sp>
      <p:sp>
        <p:nvSpPr>
          <p:cNvPr id="563" name="CustomShape 17"/>
          <p:cNvSpPr/>
          <p:nvPr/>
        </p:nvSpPr>
        <p:spPr>
          <a:xfrm>
            <a:off x="4284706" y="3170001"/>
            <a:ext cx="45719" cy="503528"/>
          </a:xfrm>
          <a:prstGeom prst="straightConnector1">
            <a:avLst/>
          </a:prstGeom>
          <a:ln w="28440">
            <a:solidFill>
              <a:srgbClr val="4A7EBB"/>
            </a:solidFill>
            <a:round/>
            <a:tailEnd type="triangle" w="med" len="med"/>
          </a:ln>
        </p:spPr>
      </p:sp>
      <p:sp>
        <p:nvSpPr>
          <p:cNvPr id="68" name="CustomShape 19"/>
          <p:cNvSpPr/>
          <p:nvPr/>
        </p:nvSpPr>
        <p:spPr>
          <a:xfrm>
            <a:off x="5154036" y="2716374"/>
            <a:ext cx="287640" cy="431640"/>
          </a:xfrm>
          <a:prstGeom prst="rect">
            <a:avLst/>
          </a:prstGeom>
          <a:solidFill>
            <a:srgbClr val="FF0000"/>
          </a:solidFill>
          <a:ln w="25560">
            <a:solidFill>
              <a:srgbClr val="3A5F8B"/>
            </a:solidFill>
            <a:round/>
          </a:ln>
        </p:spPr>
      </p:sp>
    </p:spTree>
    <p:extLst>
      <p:ext uri="{BB962C8B-B14F-4D97-AF65-F5344CB8AC3E}">
        <p14:creationId xmlns:p14="http://schemas.microsoft.com/office/powerpoint/2010/main" val="338179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Rectangle 88"/>
          <p:cNvSpPr/>
          <p:nvPr/>
        </p:nvSpPr>
        <p:spPr>
          <a:xfrm>
            <a:off x="4148300" y="4112473"/>
            <a:ext cx="578242" cy="72008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sz="4900" dirty="0"/>
              <a:t>RDC : </a:t>
            </a:r>
            <a:r>
              <a:rPr lang="en-US" sz="4900" dirty="0" err="1"/>
              <a:t>ContikiMAC</a:t>
            </a:r>
            <a:br>
              <a:rPr lang="en-US" sz="4900" dirty="0"/>
            </a:br>
            <a:r>
              <a:rPr lang="en-US" sz="3100" b="1" dirty="0"/>
              <a:t>1.</a:t>
            </a:r>
            <a:r>
              <a:rPr lang="en-US" b="1" dirty="0"/>
              <a:t> </a:t>
            </a:r>
            <a:r>
              <a:rPr lang="en-US" sz="3100" b="1" dirty="0"/>
              <a:t>Sending a frame with destination address</a:t>
            </a:r>
            <a:endParaRPr lang="en-US" b="1" dirty="0"/>
          </a:p>
        </p:txBody>
      </p:sp>
      <p:sp>
        <p:nvSpPr>
          <p:cNvPr id="3" name="Slide Number Placeholder 2"/>
          <p:cNvSpPr>
            <a:spLocks noGrp="1"/>
          </p:cNvSpPr>
          <p:nvPr>
            <p:ph type="sldNum" sz="quarter" idx="12"/>
          </p:nvPr>
        </p:nvSpPr>
        <p:spPr/>
        <p:txBody>
          <a:bodyPr/>
          <a:lstStyle/>
          <a:p>
            <a:fld id="{5889CBBA-8305-4466-BB85-F253002DC7EE}" type="slidenum">
              <a:rPr lang="en-US" smtClean="0"/>
              <a:t>21</a:t>
            </a:fld>
            <a:endParaRPr lang="en-US" dirty="0"/>
          </a:p>
        </p:txBody>
      </p:sp>
      <p:cxnSp>
        <p:nvCxnSpPr>
          <p:cNvPr id="22" name="Straight Arrow Connector 21"/>
          <p:cNvCxnSpPr/>
          <p:nvPr/>
        </p:nvCxnSpPr>
        <p:spPr>
          <a:xfrm flipH="1">
            <a:off x="4141005" y="3564569"/>
            <a:ext cx="1" cy="56744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1068494" y="4852091"/>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725452" y="4132011"/>
            <a:ext cx="296415" cy="720080"/>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4863264" y="4420043"/>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431216" y="4420043"/>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1510934" y="4364312"/>
            <a:ext cx="1485343" cy="461665"/>
          </a:xfrm>
          <a:prstGeom prst="rect">
            <a:avLst/>
          </a:prstGeom>
          <a:noFill/>
        </p:spPr>
        <p:txBody>
          <a:bodyPr wrap="none" rtlCol="0">
            <a:spAutoFit/>
          </a:bodyPr>
          <a:lstStyle/>
          <a:p>
            <a:r>
              <a:rPr lang="en-US" sz="2400" b="1" dirty="0"/>
              <a:t>Receiver x</a:t>
            </a:r>
          </a:p>
        </p:txBody>
      </p:sp>
      <p:cxnSp>
        <p:nvCxnSpPr>
          <p:cNvPr id="4" name="Straight Arrow Connector 3"/>
          <p:cNvCxnSpPr/>
          <p:nvPr/>
        </p:nvCxnSpPr>
        <p:spPr>
          <a:xfrm>
            <a:off x="1083083" y="3564569"/>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160171" y="2844489"/>
            <a:ext cx="2861698" cy="72008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235261" y="3132521"/>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675693" y="3132521"/>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116125" y="3132521"/>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556557" y="3132521"/>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996989" y="3132521"/>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4437421" y="3132521"/>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1083082" y="3082077"/>
            <a:ext cx="1080745" cy="461665"/>
          </a:xfrm>
          <a:prstGeom prst="rect">
            <a:avLst/>
          </a:prstGeom>
          <a:noFill/>
        </p:spPr>
        <p:txBody>
          <a:bodyPr wrap="none" rtlCol="0">
            <a:spAutoFit/>
          </a:bodyPr>
          <a:lstStyle/>
          <a:p>
            <a:r>
              <a:rPr lang="en-US" sz="2400" b="1" dirty="0"/>
              <a:t>Sender</a:t>
            </a:r>
          </a:p>
        </p:txBody>
      </p:sp>
      <p:sp>
        <p:nvSpPr>
          <p:cNvPr id="25" name="TextBox 24"/>
          <p:cNvSpPr txBox="1"/>
          <p:nvPr/>
        </p:nvSpPr>
        <p:spPr>
          <a:xfrm>
            <a:off x="7971379" y="3102904"/>
            <a:ext cx="292068" cy="461665"/>
          </a:xfrm>
          <a:prstGeom prst="rect">
            <a:avLst/>
          </a:prstGeom>
          <a:noFill/>
        </p:spPr>
        <p:txBody>
          <a:bodyPr wrap="none" rtlCol="0">
            <a:spAutoFit/>
          </a:bodyPr>
          <a:lstStyle/>
          <a:p>
            <a:r>
              <a:rPr lang="en-US" sz="2400" b="1" dirty="0"/>
              <a:t>t</a:t>
            </a:r>
          </a:p>
        </p:txBody>
      </p:sp>
      <p:cxnSp>
        <p:nvCxnSpPr>
          <p:cNvPr id="30" name="Straight Arrow Connector 29"/>
          <p:cNvCxnSpPr>
            <a:endCxn id="20" idx="0"/>
          </p:cNvCxnSpPr>
          <p:nvPr/>
        </p:nvCxnSpPr>
        <p:spPr>
          <a:xfrm>
            <a:off x="4575232" y="3564569"/>
            <a:ext cx="0" cy="85547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4917961" y="3564569"/>
            <a:ext cx="0" cy="855474"/>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1227148" y="4104458"/>
            <a:ext cx="0" cy="72008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1379548" y="4104458"/>
            <a:ext cx="0" cy="72008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6979404" y="4105568"/>
            <a:ext cx="0" cy="72008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7131804" y="4105568"/>
            <a:ext cx="0" cy="72008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1243917" y="5193453"/>
            <a:ext cx="2884919" cy="0"/>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1595650" y="4805939"/>
            <a:ext cx="1247457" cy="461665"/>
          </a:xfrm>
          <a:prstGeom prst="rect">
            <a:avLst/>
          </a:prstGeom>
          <a:noFill/>
        </p:spPr>
        <p:txBody>
          <a:bodyPr wrap="none" rtlCol="0">
            <a:spAutoFit/>
          </a:bodyPr>
          <a:lstStyle/>
          <a:p>
            <a:r>
              <a:rPr lang="en-US" sz="2400" b="1" dirty="0">
                <a:solidFill>
                  <a:schemeClr val="accent1">
                    <a:lumMod val="60000"/>
                    <a:lumOff val="40000"/>
                  </a:schemeClr>
                </a:solidFill>
              </a:rPr>
              <a:t>~125 </a:t>
            </a:r>
            <a:r>
              <a:rPr lang="en-US" sz="2400" b="1" dirty="0" err="1">
                <a:solidFill>
                  <a:schemeClr val="accent1">
                    <a:lumMod val="60000"/>
                    <a:lumOff val="40000"/>
                  </a:schemeClr>
                </a:solidFill>
              </a:rPr>
              <a:t>ms</a:t>
            </a:r>
            <a:endParaRPr lang="en-US" sz="2400" b="1" dirty="0">
              <a:solidFill>
                <a:schemeClr val="accent1">
                  <a:lumMod val="60000"/>
                  <a:lumOff val="40000"/>
                </a:schemeClr>
              </a:solidFill>
            </a:endParaRPr>
          </a:p>
        </p:txBody>
      </p:sp>
      <p:cxnSp>
        <p:nvCxnSpPr>
          <p:cNvPr id="67" name="Straight Connector 66"/>
          <p:cNvCxnSpPr/>
          <p:nvPr/>
        </p:nvCxnSpPr>
        <p:spPr>
          <a:xfrm>
            <a:off x="964329" y="4321282"/>
            <a:ext cx="1690966"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964329" y="4321282"/>
            <a:ext cx="308517" cy="0"/>
          </a:xfrm>
          <a:prstGeom prst="straightConnector1">
            <a:avLst/>
          </a:prstGeom>
          <a:ln w="28575">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a:off x="1380715" y="4321282"/>
            <a:ext cx="308517" cy="0"/>
          </a:xfrm>
          <a:prstGeom prst="straightConnector1">
            <a:avLst/>
          </a:prstGeom>
          <a:ln w="28575">
            <a:solidFill>
              <a:schemeClr val="accent3"/>
            </a:solidFill>
            <a:tailEnd type="arrow"/>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1490200" y="3928441"/>
            <a:ext cx="1173719" cy="461665"/>
          </a:xfrm>
          <a:prstGeom prst="rect">
            <a:avLst/>
          </a:prstGeom>
          <a:noFill/>
        </p:spPr>
        <p:txBody>
          <a:bodyPr wrap="none" rtlCol="0">
            <a:spAutoFit/>
          </a:bodyPr>
          <a:lstStyle/>
          <a:p>
            <a:r>
              <a:rPr lang="en-US" sz="2400" b="1" dirty="0">
                <a:solidFill>
                  <a:schemeClr val="accent3"/>
                </a:solidFill>
              </a:rPr>
              <a:t>~0.5 </a:t>
            </a:r>
            <a:r>
              <a:rPr lang="en-US" sz="2400" b="1" dirty="0" err="1">
                <a:solidFill>
                  <a:schemeClr val="accent3"/>
                </a:solidFill>
              </a:rPr>
              <a:t>ms</a:t>
            </a:r>
            <a:endParaRPr lang="en-US" sz="2400" b="1" dirty="0">
              <a:solidFill>
                <a:schemeClr val="accent3"/>
              </a:solidFill>
            </a:endParaRPr>
          </a:p>
        </p:txBody>
      </p:sp>
      <p:cxnSp>
        <p:nvCxnSpPr>
          <p:cNvPr id="73" name="Straight Connector 72"/>
          <p:cNvCxnSpPr/>
          <p:nvPr/>
        </p:nvCxnSpPr>
        <p:spPr>
          <a:xfrm>
            <a:off x="1227148" y="4852091"/>
            <a:ext cx="0" cy="418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4128836" y="4852091"/>
            <a:ext cx="0" cy="418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6979404" y="4864689"/>
            <a:ext cx="0" cy="418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4128836" y="5198547"/>
            <a:ext cx="2850568" cy="0"/>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4684511" y="4802746"/>
            <a:ext cx="1247457" cy="461665"/>
          </a:xfrm>
          <a:prstGeom prst="rect">
            <a:avLst/>
          </a:prstGeom>
          <a:noFill/>
        </p:spPr>
        <p:txBody>
          <a:bodyPr wrap="none" rtlCol="0">
            <a:spAutoFit/>
          </a:bodyPr>
          <a:lstStyle/>
          <a:p>
            <a:r>
              <a:rPr lang="en-US" sz="2400" b="1" dirty="0">
                <a:solidFill>
                  <a:schemeClr val="accent1">
                    <a:lumMod val="60000"/>
                    <a:lumOff val="40000"/>
                  </a:schemeClr>
                </a:solidFill>
              </a:rPr>
              <a:t>~125 </a:t>
            </a:r>
            <a:r>
              <a:rPr lang="en-US" sz="2400" b="1" dirty="0" err="1">
                <a:solidFill>
                  <a:schemeClr val="accent1">
                    <a:lumMod val="60000"/>
                    <a:lumOff val="40000"/>
                  </a:schemeClr>
                </a:solidFill>
              </a:rPr>
              <a:t>ms</a:t>
            </a:r>
            <a:endParaRPr lang="en-US" sz="2400" b="1" dirty="0">
              <a:solidFill>
                <a:schemeClr val="accent1">
                  <a:lumMod val="60000"/>
                  <a:lumOff val="40000"/>
                </a:schemeClr>
              </a:solidFill>
            </a:endParaRPr>
          </a:p>
        </p:txBody>
      </p:sp>
      <p:grpSp>
        <p:nvGrpSpPr>
          <p:cNvPr id="27" name="Group 26"/>
          <p:cNvGrpSpPr/>
          <p:nvPr/>
        </p:nvGrpSpPr>
        <p:grpSpPr>
          <a:xfrm>
            <a:off x="3088879" y="2771029"/>
            <a:ext cx="144016" cy="2524182"/>
            <a:chOff x="8293443" y="476672"/>
            <a:chExt cx="237588" cy="2284824"/>
          </a:xfrm>
          <a:solidFill>
            <a:schemeClr val="bg1"/>
          </a:solidFill>
        </p:grpSpPr>
        <p:sp>
          <p:nvSpPr>
            <p:cNvPr id="21" name="Double Wave 20"/>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uble Wave 31"/>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uble Wave 34"/>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uble Wave 35"/>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uble Wave 36"/>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uble Wave 37"/>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uble Wave 38"/>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p:cNvGrpSpPr/>
          <p:nvPr/>
        </p:nvGrpSpPr>
        <p:grpSpPr>
          <a:xfrm>
            <a:off x="6051684" y="2776124"/>
            <a:ext cx="174897" cy="2507030"/>
            <a:chOff x="8293443" y="476672"/>
            <a:chExt cx="237588" cy="2284824"/>
          </a:xfrm>
          <a:solidFill>
            <a:schemeClr val="bg1"/>
          </a:solidFill>
        </p:grpSpPr>
        <p:sp>
          <p:nvSpPr>
            <p:cNvPr id="41" name="Double Wave 40"/>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uble Wave 41"/>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ouble Wave 42"/>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uble Wave 43"/>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uble Wave 44"/>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uble Wave 45"/>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uble Wave 46"/>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TextBox 54"/>
          <p:cNvSpPr txBox="1"/>
          <p:nvPr/>
        </p:nvSpPr>
        <p:spPr>
          <a:xfrm>
            <a:off x="689198" y="2395240"/>
            <a:ext cx="2655407" cy="369332"/>
          </a:xfrm>
          <a:prstGeom prst="rect">
            <a:avLst/>
          </a:prstGeom>
          <a:noFill/>
        </p:spPr>
        <p:txBody>
          <a:bodyPr wrap="none" rtlCol="0">
            <a:spAutoFit/>
          </a:bodyPr>
          <a:lstStyle/>
          <a:p>
            <a:r>
              <a:rPr lang="en-US" b="1" dirty="0">
                <a:solidFill>
                  <a:srgbClr val="FF0000"/>
                </a:solidFill>
              </a:rPr>
              <a:t>Sender wants to send to x</a:t>
            </a:r>
          </a:p>
        </p:txBody>
      </p:sp>
      <p:cxnSp>
        <p:nvCxnSpPr>
          <p:cNvPr id="56" name="Curved Connector 55"/>
          <p:cNvCxnSpPr>
            <a:stCxn id="55" idx="2"/>
          </p:cNvCxnSpPr>
          <p:nvPr/>
        </p:nvCxnSpPr>
        <p:spPr>
          <a:xfrm rot="16200000" flipH="1">
            <a:off x="1927492" y="2853981"/>
            <a:ext cx="336734" cy="157915"/>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58" name="Group 57"/>
          <p:cNvGrpSpPr/>
          <p:nvPr/>
        </p:nvGrpSpPr>
        <p:grpSpPr>
          <a:xfrm>
            <a:off x="1154063" y="1732255"/>
            <a:ext cx="6888296" cy="580358"/>
            <a:chOff x="1162691" y="1417639"/>
            <a:chExt cx="6888296" cy="580358"/>
          </a:xfrm>
        </p:grpSpPr>
        <p:sp>
          <p:nvSpPr>
            <p:cNvPr id="59" name="Flowchart: Alternate Process 58"/>
            <p:cNvSpPr/>
            <p:nvPr/>
          </p:nvSpPr>
          <p:spPr>
            <a:xfrm>
              <a:off x="1162691" y="1417639"/>
              <a:ext cx="6888296" cy="580358"/>
            </a:xfrm>
            <a:prstGeom prst="flowChartAlternateProces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Process 59"/>
            <p:cNvSpPr/>
            <p:nvPr/>
          </p:nvSpPr>
          <p:spPr>
            <a:xfrm>
              <a:off x="6235209" y="1571684"/>
              <a:ext cx="1351388" cy="313106"/>
            </a:xfrm>
            <a:prstGeom prst="flowChartProcess">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p:cNvSpPr txBox="1"/>
            <p:nvPr/>
          </p:nvSpPr>
          <p:spPr>
            <a:xfrm>
              <a:off x="6203691" y="1538820"/>
              <a:ext cx="1353384" cy="338554"/>
            </a:xfrm>
            <a:prstGeom prst="rect">
              <a:avLst/>
            </a:prstGeom>
            <a:noFill/>
          </p:spPr>
          <p:txBody>
            <a:bodyPr wrap="none" rtlCol="0">
              <a:spAutoFit/>
            </a:bodyPr>
            <a:lstStyle/>
            <a:p>
              <a:r>
                <a:rPr lang="en-US" sz="1600" b="1" dirty="0"/>
                <a:t>on to Tx or Rx</a:t>
              </a:r>
            </a:p>
          </p:txBody>
        </p:sp>
        <p:sp>
          <p:nvSpPr>
            <p:cNvPr id="63" name="Flowchart: Process 62"/>
            <p:cNvSpPr/>
            <p:nvPr/>
          </p:nvSpPr>
          <p:spPr>
            <a:xfrm>
              <a:off x="4550321" y="1571684"/>
              <a:ext cx="1351388" cy="313106"/>
            </a:xfrm>
            <a:prstGeom prst="flowChartProcess">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4782015" y="1530847"/>
              <a:ext cx="888000" cy="338554"/>
            </a:xfrm>
            <a:prstGeom prst="rect">
              <a:avLst/>
            </a:prstGeom>
            <a:noFill/>
          </p:spPr>
          <p:txBody>
            <a:bodyPr wrap="none" rtlCol="0">
              <a:spAutoFit/>
            </a:bodyPr>
            <a:lstStyle/>
            <a:p>
              <a:r>
                <a:rPr lang="en-US" sz="1600" b="1" dirty="0"/>
                <a:t>on to Rx</a:t>
              </a:r>
            </a:p>
          </p:txBody>
        </p:sp>
        <p:sp>
          <p:nvSpPr>
            <p:cNvPr id="66" name="TextBox 65"/>
            <p:cNvSpPr txBox="1"/>
            <p:nvPr/>
          </p:nvSpPr>
          <p:spPr>
            <a:xfrm>
              <a:off x="1331640" y="1507763"/>
              <a:ext cx="3162854" cy="400110"/>
            </a:xfrm>
            <a:prstGeom prst="rect">
              <a:avLst/>
            </a:prstGeom>
            <a:noFill/>
          </p:spPr>
          <p:txBody>
            <a:bodyPr wrap="none" rtlCol="0">
              <a:spAutoFit/>
            </a:bodyPr>
            <a:lstStyle/>
            <a:p>
              <a:r>
                <a:rPr lang="en-US" sz="2000" b="1" dirty="0"/>
                <a:t>Radio State representation :</a:t>
              </a:r>
            </a:p>
          </p:txBody>
        </p:sp>
      </p:grpSp>
      <p:cxnSp>
        <p:nvCxnSpPr>
          <p:cNvPr id="71" name="Straight Connector 70"/>
          <p:cNvCxnSpPr/>
          <p:nvPr/>
        </p:nvCxnSpPr>
        <p:spPr>
          <a:xfrm flipV="1">
            <a:off x="4141006" y="4132011"/>
            <a:ext cx="0" cy="72008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48439" y="5445224"/>
            <a:ext cx="8640960" cy="1015663"/>
          </a:xfrm>
          <a:prstGeom prst="rect">
            <a:avLst/>
          </a:prstGeom>
          <a:noFill/>
        </p:spPr>
        <p:txBody>
          <a:bodyPr wrap="square" rtlCol="0">
            <a:spAutoFit/>
          </a:bodyPr>
          <a:lstStyle/>
          <a:p>
            <a:r>
              <a:rPr lang="en-US" sz="2000" b="1" dirty="0"/>
              <a:t>The sender sends repeatedly its frame during a full sleep period or until an Ack.</a:t>
            </a:r>
            <a:br>
              <a:rPr lang="en-US" sz="2000" b="1" dirty="0"/>
            </a:br>
            <a:r>
              <a:rPr lang="en-US" sz="2000" b="1" dirty="0"/>
              <a:t>The receiver checks, once per sleep period, for radio activity by a double Clear Channel Assessment (CCA)</a:t>
            </a:r>
          </a:p>
        </p:txBody>
      </p:sp>
      <p:sp>
        <p:nvSpPr>
          <p:cNvPr id="72" name="TextBox 71"/>
          <p:cNvSpPr txBox="1"/>
          <p:nvPr/>
        </p:nvSpPr>
        <p:spPr>
          <a:xfrm>
            <a:off x="5288469" y="4287847"/>
            <a:ext cx="529312" cy="369332"/>
          </a:xfrm>
          <a:prstGeom prst="rect">
            <a:avLst/>
          </a:prstGeom>
          <a:noFill/>
        </p:spPr>
        <p:txBody>
          <a:bodyPr wrap="none" rtlCol="0">
            <a:spAutoFit/>
          </a:bodyPr>
          <a:lstStyle/>
          <a:p>
            <a:r>
              <a:rPr lang="en-US" b="1" i="1" dirty="0" err="1">
                <a:solidFill>
                  <a:srgbClr val="00B050"/>
                </a:solidFill>
              </a:rPr>
              <a:t>Ack</a:t>
            </a:r>
            <a:endParaRPr lang="en-US" b="1" i="1" dirty="0">
              <a:solidFill>
                <a:srgbClr val="00B050"/>
              </a:solidFill>
            </a:endParaRPr>
          </a:p>
        </p:txBody>
      </p:sp>
      <p:cxnSp>
        <p:nvCxnSpPr>
          <p:cNvPr id="76" name="Curved Connector 75"/>
          <p:cNvCxnSpPr>
            <a:stCxn id="72" idx="1"/>
          </p:cNvCxnSpPr>
          <p:nvPr/>
        </p:nvCxnSpPr>
        <p:spPr>
          <a:xfrm rot="10800000" flipV="1">
            <a:off x="5021869" y="4472513"/>
            <a:ext cx="266601" cy="184666"/>
          </a:xfrm>
          <a:prstGeom prst="curvedConnector3">
            <a:avLst>
              <a:gd name="adj1" fmla="val 50000"/>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486287" y="3599329"/>
            <a:ext cx="567784" cy="369332"/>
          </a:xfrm>
          <a:prstGeom prst="rect">
            <a:avLst/>
          </a:prstGeom>
          <a:noFill/>
        </p:spPr>
        <p:txBody>
          <a:bodyPr wrap="none" rtlCol="0">
            <a:spAutoFit/>
          </a:bodyPr>
          <a:lstStyle/>
          <a:p>
            <a:r>
              <a:rPr lang="en-US" b="1" dirty="0">
                <a:solidFill>
                  <a:srgbClr val="00B050"/>
                </a:solidFill>
              </a:rPr>
              <a:t>CCA</a:t>
            </a:r>
          </a:p>
        </p:txBody>
      </p:sp>
      <p:sp>
        <p:nvSpPr>
          <p:cNvPr id="54" name="Flowchart: Process 53"/>
          <p:cNvSpPr/>
          <p:nvPr/>
        </p:nvSpPr>
        <p:spPr>
          <a:xfrm>
            <a:off x="1227148" y="4104458"/>
            <a:ext cx="153567" cy="808333"/>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Curved Connector 77"/>
          <p:cNvCxnSpPr>
            <a:stCxn id="26" idx="1"/>
            <a:endCxn id="54" idx="0"/>
          </p:cNvCxnSpPr>
          <p:nvPr/>
        </p:nvCxnSpPr>
        <p:spPr>
          <a:xfrm rot="10800000" flipV="1">
            <a:off x="1303933" y="3783994"/>
            <a:ext cx="1182355" cy="320463"/>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80" name="Curved Connector 79"/>
          <p:cNvCxnSpPr>
            <a:stCxn id="26" idx="3"/>
          </p:cNvCxnSpPr>
          <p:nvPr/>
        </p:nvCxnSpPr>
        <p:spPr>
          <a:xfrm>
            <a:off x="3054071" y="3783995"/>
            <a:ext cx="1074765" cy="411533"/>
          </a:xfrm>
          <a:prstGeom prst="curvedConnector3">
            <a:avLst>
              <a:gd name="adj1" fmla="val 50000"/>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6266672" y="3617165"/>
            <a:ext cx="567784" cy="369332"/>
          </a:xfrm>
          <a:prstGeom prst="rect">
            <a:avLst/>
          </a:prstGeom>
          <a:noFill/>
        </p:spPr>
        <p:txBody>
          <a:bodyPr wrap="none" rtlCol="0">
            <a:spAutoFit/>
          </a:bodyPr>
          <a:lstStyle/>
          <a:p>
            <a:r>
              <a:rPr lang="en-US" b="1" dirty="0">
                <a:solidFill>
                  <a:srgbClr val="00B050"/>
                </a:solidFill>
              </a:rPr>
              <a:t>CCA</a:t>
            </a:r>
          </a:p>
        </p:txBody>
      </p:sp>
      <p:cxnSp>
        <p:nvCxnSpPr>
          <p:cNvPr id="84" name="Curved Connector 83"/>
          <p:cNvCxnSpPr>
            <a:stCxn id="83" idx="3"/>
            <a:endCxn id="85" idx="0"/>
          </p:cNvCxnSpPr>
          <p:nvPr/>
        </p:nvCxnSpPr>
        <p:spPr>
          <a:xfrm>
            <a:off x="6834456" y="3801831"/>
            <a:ext cx="221148" cy="250239"/>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85" name="Flowchart: Process 84"/>
          <p:cNvSpPr/>
          <p:nvPr/>
        </p:nvSpPr>
        <p:spPr>
          <a:xfrm>
            <a:off x="6979404" y="4052070"/>
            <a:ext cx="152400" cy="800021"/>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1344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TextShape 1"/>
          <p:cNvSpPr txBox="1"/>
          <p:nvPr/>
        </p:nvSpPr>
        <p:spPr>
          <a:xfrm>
            <a:off x="457200" y="274680"/>
            <a:ext cx="8229240" cy="1142640"/>
          </a:xfrm>
          <a:prstGeom prst="rect">
            <a:avLst/>
          </a:prstGeom>
        </p:spPr>
        <p:txBody>
          <a:bodyPr anchor="ctr"/>
          <a:lstStyle/>
          <a:p>
            <a:pPr algn="ctr">
              <a:lnSpc>
                <a:spcPct val="100000"/>
              </a:lnSpc>
            </a:pPr>
            <a:r>
              <a:rPr lang="en-US" sz="4900">
                <a:solidFill>
                  <a:srgbClr val="000000"/>
                </a:solidFill>
                <a:latin typeface="Calibri"/>
              </a:rPr>
              <a:t>Contiki RDC MAC</a:t>
            </a:r>
            <a:r>
              <a:rPr lang="en-US" sz="4400">
                <a:solidFill>
                  <a:srgbClr val="000000"/>
                </a:solidFill>
                <a:latin typeface="Calibri"/>
              </a:rPr>
              <a:t>
</a:t>
            </a:r>
            <a:r>
              <a:rPr lang="en-US" sz="3100">
                <a:solidFill>
                  <a:srgbClr val="000000"/>
                </a:solidFill>
                <a:latin typeface="Calibri"/>
              </a:rPr>
              <a:t>Broadcasting a frame</a:t>
            </a:r>
            <a:endParaRPr/>
          </a:p>
        </p:txBody>
      </p:sp>
      <p:sp>
        <p:nvSpPr>
          <p:cNvPr id="548" name="CustomShape 2"/>
          <p:cNvSpPr/>
          <p:nvPr/>
        </p:nvSpPr>
        <p:spPr>
          <a:xfrm>
            <a:off x="4028040" y="2298960"/>
            <a:ext cx="360" cy="567000"/>
          </a:xfrm>
          <a:prstGeom prst="straightConnector1">
            <a:avLst/>
          </a:prstGeom>
          <a:ln w="28440">
            <a:solidFill>
              <a:srgbClr val="4A7EBB"/>
            </a:solidFill>
            <a:round/>
            <a:tailEnd type="triangle" w="med" len="med"/>
          </a:ln>
        </p:spPr>
      </p:sp>
      <p:sp>
        <p:nvSpPr>
          <p:cNvPr id="549" name="CustomShape 3"/>
          <p:cNvSpPr/>
          <p:nvPr/>
        </p:nvSpPr>
        <p:spPr>
          <a:xfrm>
            <a:off x="956880" y="3586680"/>
            <a:ext cx="7200360" cy="360"/>
          </a:xfrm>
          <a:prstGeom prst="straightConnector1">
            <a:avLst/>
          </a:prstGeom>
          <a:ln w="38160">
            <a:solidFill>
              <a:srgbClr val="4A7EBB"/>
            </a:solidFill>
            <a:round/>
            <a:tailEnd type="triangle" w="med" len="med"/>
          </a:ln>
        </p:spPr>
      </p:sp>
      <p:sp>
        <p:nvSpPr>
          <p:cNvPr id="550" name="CustomShape 4"/>
          <p:cNvSpPr/>
          <p:nvPr/>
        </p:nvSpPr>
        <p:spPr>
          <a:xfrm>
            <a:off x="4017240" y="2866680"/>
            <a:ext cx="590040" cy="719640"/>
          </a:xfrm>
          <a:prstGeom prst="rect">
            <a:avLst/>
          </a:prstGeom>
          <a:solidFill>
            <a:srgbClr val="C3D69B"/>
          </a:solidFill>
        </p:spPr>
      </p:sp>
      <p:sp>
        <p:nvSpPr>
          <p:cNvPr id="551" name="CustomShape 5"/>
          <p:cNvSpPr/>
          <p:nvPr/>
        </p:nvSpPr>
        <p:spPr>
          <a:xfrm>
            <a:off x="4319640" y="3154680"/>
            <a:ext cx="287640" cy="431640"/>
          </a:xfrm>
          <a:prstGeom prst="rect">
            <a:avLst/>
          </a:prstGeom>
          <a:solidFill>
            <a:srgbClr val="FF0000"/>
          </a:solidFill>
          <a:ln w="25560">
            <a:solidFill>
              <a:srgbClr val="3A5F8B"/>
            </a:solidFill>
            <a:round/>
          </a:ln>
        </p:spPr>
      </p:sp>
      <p:sp>
        <p:nvSpPr>
          <p:cNvPr id="552" name="CustomShape 6"/>
          <p:cNvSpPr/>
          <p:nvPr/>
        </p:nvSpPr>
        <p:spPr>
          <a:xfrm>
            <a:off x="1455480" y="2995560"/>
            <a:ext cx="1671480" cy="456120"/>
          </a:xfrm>
          <a:prstGeom prst="rect">
            <a:avLst/>
          </a:prstGeom>
        </p:spPr>
        <p:txBody>
          <a:bodyPr wrap="none" lIns="90000" tIns="45000" rIns="90000" bIns="45000"/>
          <a:lstStyle/>
          <a:p>
            <a:pPr>
              <a:lnSpc>
                <a:spcPct val="100000"/>
              </a:lnSpc>
            </a:pPr>
            <a:r>
              <a:rPr lang="en-US" sz="2400" b="1">
                <a:solidFill>
                  <a:srgbClr val="000000"/>
                </a:solidFill>
                <a:latin typeface="Calibri"/>
              </a:rPr>
              <a:t>Receiver</a:t>
            </a:r>
            <a:endParaRPr/>
          </a:p>
        </p:txBody>
      </p:sp>
      <p:sp>
        <p:nvSpPr>
          <p:cNvPr id="553" name="CustomShape 7"/>
          <p:cNvSpPr/>
          <p:nvPr/>
        </p:nvSpPr>
        <p:spPr>
          <a:xfrm>
            <a:off x="971640" y="2298960"/>
            <a:ext cx="7200360" cy="360"/>
          </a:xfrm>
          <a:prstGeom prst="straightConnector1">
            <a:avLst/>
          </a:prstGeom>
          <a:ln w="38160">
            <a:solidFill>
              <a:srgbClr val="4A7EBB"/>
            </a:solidFill>
            <a:round/>
            <a:tailEnd type="triangle" w="med" len="med"/>
          </a:ln>
        </p:spPr>
      </p:sp>
      <p:sp>
        <p:nvSpPr>
          <p:cNvPr id="554" name="CustomShape 8"/>
          <p:cNvSpPr/>
          <p:nvPr/>
        </p:nvSpPr>
        <p:spPr>
          <a:xfrm>
            <a:off x="2048760" y="1578960"/>
            <a:ext cx="3099240" cy="719640"/>
          </a:xfrm>
          <a:prstGeom prst="rect">
            <a:avLst/>
          </a:prstGeom>
          <a:solidFill>
            <a:srgbClr val="FAC090"/>
          </a:solidFill>
        </p:spPr>
      </p:sp>
      <p:sp>
        <p:nvSpPr>
          <p:cNvPr id="555" name="CustomShape 9"/>
          <p:cNvSpPr/>
          <p:nvPr/>
        </p:nvSpPr>
        <p:spPr>
          <a:xfrm>
            <a:off x="2123640" y="1866960"/>
            <a:ext cx="287640" cy="431640"/>
          </a:xfrm>
          <a:prstGeom prst="rect">
            <a:avLst/>
          </a:prstGeom>
          <a:solidFill>
            <a:srgbClr val="FF0000"/>
          </a:solidFill>
          <a:ln w="25560">
            <a:solidFill>
              <a:srgbClr val="3A5F8B"/>
            </a:solidFill>
            <a:round/>
          </a:ln>
        </p:spPr>
      </p:sp>
      <p:sp>
        <p:nvSpPr>
          <p:cNvPr id="556" name="CustomShape 10"/>
          <p:cNvSpPr/>
          <p:nvPr/>
        </p:nvSpPr>
        <p:spPr>
          <a:xfrm>
            <a:off x="2564280" y="1866960"/>
            <a:ext cx="287640" cy="431640"/>
          </a:xfrm>
          <a:prstGeom prst="rect">
            <a:avLst/>
          </a:prstGeom>
          <a:solidFill>
            <a:srgbClr val="FF0000"/>
          </a:solidFill>
          <a:ln w="25560">
            <a:solidFill>
              <a:srgbClr val="3A5F8B"/>
            </a:solidFill>
            <a:round/>
          </a:ln>
        </p:spPr>
      </p:sp>
      <p:sp>
        <p:nvSpPr>
          <p:cNvPr id="557" name="CustomShape 11"/>
          <p:cNvSpPr/>
          <p:nvPr/>
        </p:nvSpPr>
        <p:spPr>
          <a:xfrm>
            <a:off x="3004560" y="1866960"/>
            <a:ext cx="287640" cy="431640"/>
          </a:xfrm>
          <a:prstGeom prst="rect">
            <a:avLst/>
          </a:prstGeom>
          <a:solidFill>
            <a:srgbClr val="FF0000"/>
          </a:solidFill>
          <a:ln w="25560">
            <a:solidFill>
              <a:srgbClr val="3A5F8B"/>
            </a:solidFill>
            <a:round/>
          </a:ln>
        </p:spPr>
      </p:sp>
      <p:sp>
        <p:nvSpPr>
          <p:cNvPr id="558" name="CustomShape 12"/>
          <p:cNvSpPr/>
          <p:nvPr/>
        </p:nvSpPr>
        <p:spPr>
          <a:xfrm>
            <a:off x="3445200" y="1866960"/>
            <a:ext cx="287640" cy="431640"/>
          </a:xfrm>
          <a:prstGeom prst="rect">
            <a:avLst/>
          </a:prstGeom>
          <a:solidFill>
            <a:srgbClr val="FF0000"/>
          </a:solidFill>
          <a:ln w="25560">
            <a:solidFill>
              <a:srgbClr val="3A5F8B"/>
            </a:solidFill>
            <a:round/>
          </a:ln>
        </p:spPr>
      </p:sp>
      <p:sp>
        <p:nvSpPr>
          <p:cNvPr id="559" name="CustomShape 13"/>
          <p:cNvSpPr/>
          <p:nvPr/>
        </p:nvSpPr>
        <p:spPr>
          <a:xfrm>
            <a:off x="3885480" y="1866960"/>
            <a:ext cx="287640" cy="431640"/>
          </a:xfrm>
          <a:prstGeom prst="rect">
            <a:avLst/>
          </a:prstGeom>
          <a:solidFill>
            <a:srgbClr val="FF0000"/>
          </a:solidFill>
          <a:ln w="25560">
            <a:solidFill>
              <a:srgbClr val="3A5F8B"/>
            </a:solidFill>
            <a:round/>
          </a:ln>
        </p:spPr>
      </p:sp>
      <p:sp>
        <p:nvSpPr>
          <p:cNvPr id="560" name="CustomShape 14"/>
          <p:cNvSpPr/>
          <p:nvPr/>
        </p:nvSpPr>
        <p:spPr>
          <a:xfrm>
            <a:off x="4325760" y="1866960"/>
            <a:ext cx="287640" cy="431640"/>
          </a:xfrm>
          <a:prstGeom prst="rect">
            <a:avLst/>
          </a:prstGeom>
          <a:solidFill>
            <a:srgbClr val="FF0000"/>
          </a:solidFill>
          <a:ln w="25560">
            <a:solidFill>
              <a:srgbClr val="3A5F8B"/>
            </a:solidFill>
            <a:round/>
          </a:ln>
        </p:spPr>
      </p:sp>
      <p:sp>
        <p:nvSpPr>
          <p:cNvPr id="561" name="CustomShape 15"/>
          <p:cNvSpPr/>
          <p:nvPr/>
        </p:nvSpPr>
        <p:spPr>
          <a:xfrm>
            <a:off x="812520" y="1816560"/>
            <a:ext cx="1398960" cy="456120"/>
          </a:xfrm>
          <a:prstGeom prst="rect">
            <a:avLst/>
          </a:prstGeom>
        </p:spPr>
        <p:txBody>
          <a:bodyPr wrap="none" lIns="90000" tIns="45000" rIns="90000" bIns="45000"/>
          <a:lstStyle/>
          <a:p>
            <a:pPr>
              <a:lnSpc>
                <a:spcPct val="100000"/>
              </a:lnSpc>
            </a:pPr>
            <a:r>
              <a:rPr lang="en-US" sz="2400" b="1">
                <a:solidFill>
                  <a:srgbClr val="000000"/>
                </a:solidFill>
                <a:latin typeface="Calibri"/>
              </a:rPr>
              <a:t>Sender</a:t>
            </a:r>
            <a:endParaRPr/>
          </a:p>
        </p:txBody>
      </p:sp>
      <p:sp>
        <p:nvSpPr>
          <p:cNvPr id="562" name="CustomShape 16"/>
          <p:cNvSpPr/>
          <p:nvPr/>
        </p:nvSpPr>
        <p:spPr>
          <a:xfrm>
            <a:off x="7842960" y="1837440"/>
            <a:ext cx="325800" cy="456120"/>
          </a:xfrm>
          <a:prstGeom prst="rect">
            <a:avLst/>
          </a:prstGeom>
        </p:spPr>
        <p:txBody>
          <a:bodyPr wrap="none" lIns="90000" tIns="45000" rIns="90000" bIns="45000"/>
          <a:lstStyle/>
          <a:p>
            <a:pPr>
              <a:lnSpc>
                <a:spcPct val="100000"/>
              </a:lnSpc>
            </a:pPr>
            <a:r>
              <a:rPr lang="en-US" sz="2400" b="1">
                <a:solidFill>
                  <a:srgbClr val="000000"/>
                </a:solidFill>
                <a:latin typeface="Calibri"/>
              </a:rPr>
              <a:t>t</a:t>
            </a:r>
            <a:endParaRPr/>
          </a:p>
        </p:txBody>
      </p:sp>
      <p:sp>
        <p:nvSpPr>
          <p:cNvPr id="563" name="CustomShape 17"/>
          <p:cNvSpPr/>
          <p:nvPr/>
        </p:nvSpPr>
        <p:spPr>
          <a:xfrm>
            <a:off x="4463640" y="2298960"/>
            <a:ext cx="360" cy="855000"/>
          </a:xfrm>
          <a:prstGeom prst="straightConnector1">
            <a:avLst/>
          </a:prstGeom>
          <a:ln w="28440">
            <a:solidFill>
              <a:srgbClr val="4A7EBB"/>
            </a:solidFill>
            <a:round/>
            <a:tailEnd type="triangle" w="med" len="med"/>
          </a:ln>
        </p:spPr>
      </p:sp>
      <p:sp>
        <p:nvSpPr>
          <p:cNvPr id="564" name="CustomShape 18"/>
          <p:cNvSpPr/>
          <p:nvPr/>
        </p:nvSpPr>
        <p:spPr>
          <a:xfrm>
            <a:off x="457200" y="3933000"/>
            <a:ext cx="8362800" cy="3747240"/>
          </a:xfrm>
          <a:prstGeom prst="rect">
            <a:avLst/>
          </a:prstGeom>
        </p:spPr>
        <p:txBody>
          <a:bodyPr lIns="90000" tIns="45000" rIns="90000" bIns="45000"/>
          <a:lstStyle/>
          <a:p>
            <a:pPr>
              <a:lnSpc>
                <a:spcPct val="100000"/>
              </a:lnSpc>
            </a:pPr>
            <a:r>
              <a:rPr lang="en-US" sz="2400" b="1">
                <a:solidFill>
                  <a:srgbClr val="000000"/>
                </a:solidFill>
                <a:latin typeface="Calibri"/>
              </a:rPr>
              <a:t>The receiver wakes up briefly (&lt; 1 ms) a few times per second  for checking radio activity by means of two CCAs. </a:t>
            </a:r>
            <a:endParaRPr/>
          </a:p>
          <a:p>
            <a:pPr>
              <a:lnSpc>
                <a:spcPct val="100000"/>
              </a:lnSpc>
            </a:pPr>
            <a:r>
              <a:rPr lang="en-US" sz="2400" b="1">
                <a:solidFill>
                  <a:srgbClr val="000000"/>
                </a:solidFill>
                <a:latin typeface="Calibri"/>
              </a:rPr>
              <a:t>The transmitter sends repeatedly its frame, during a period that exceeds the interval between receiver wake-ups.</a:t>
            </a:r>
            <a:endParaRPr/>
          </a:p>
          <a:p>
            <a:pPr>
              <a:lnSpc>
                <a:spcPct val="100000"/>
              </a:lnSpc>
            </a:pPr>
            <a:r>
              <a:rPr lang="en-US" sz="2400" b="1">
                <a:solidFill>
                  <a:srgbClr val="000000"/>
                </a:solidFill>
                <a:latin typeface="Calibri"/>
              </a:rPr>
              <a:t>When the receiver detects radio activity, it remains awake.</a:t>
            </a:r>
            <a:endParaRPr/>
          </a:p>
          <a:p>
            <a:pPr>
              <a:lnSpc>
                <a:spcPct val="100000"/>
              </a:lnSpc>
            </a:pPr>
            <a:r>
              <a:rPr lang="en-US" sz="2400" b="1">
                <a:solidFill>
                  <a:srgbClr val="000000"/>
                </a:solidFill>
                <a:latin typeface="Calibri"/>
              </a:rPr>
              <a:t>After receiving a complete frame the receiver returns to sleep.</a:t>
            </a:r>
            <a:endParaRPr/>
          </a:p>
        </p:txBody>
      </p:sp>
      <p:sp>
        <p:nvSpPr>
          <p:cNvPr id="565" name="CustomShape 19"/>
          <p:cNvSpPr/>
          <p:nvPr/>
        </p:nvSpPr>
        <p:spPr>
          <a:xfrm>
            <a:off x="4752000" y="1866960"/>
            <a:ext cx="287640" cy="431640"/>
          </a:xfrm>
          <a:prstGeom prst="rect">
            <a:avLst/>
          </a:prstGeom>
          <a:solidFill>
            <a:srgbClr val="FF0000"/>
          </a:solidFill>
          <a:ln w="25560">
            <a:solidFill>
              <a:srgbClr val="3A5F8B"/>
            </a:solidFill>
            <a:round/>
          </a:ln>
        </p:spPr>
      </p:sp>
      <p:sp>
        <p:nvSpPr>
          <p:cNvPr id="566" name="CustomShape 20"/>
          <p:cNvSpPr/>
          <p:nvPr/>
        </p:nvSpPr>
        <p:spPr>
          <a:xfrm>
            <a:off x="3148560" y="1493640"/>
            <a:ext cx="337320" cy="237240"/>
          </a:xfrm>
          <a:prstGeom prst="rect">
            <a:avLst/>
          </a:prstGeom>
        </p:spPr>
      </p:sp>
      <p:sp>
        <p:nvSpPr>
          <p:cNvPr id="567" name="CustomShape 21"/>
          <p:cNvSpPr/>
          <p:nvPr/>
        </p:nvSpPr>
        <p:spPr>
          <a:xfrm>
            <a:off x="3148560" y="1830960"/>
            <a:ext cx="337320" cy="237240"/>
          </a:xfrm>
          <a:prstGeom prst="rect">
            <a:avLst/>
          </a:prstGeom>
        </p:spPr>
      </p:sp>
      <p:sp>
        <p:nvSpPr>
          <p:cNvPr id="568" name="CustomShape 22"/>
          <p:cNvSpPr/>
          <p:nvPr/>
        </p:nvSpPr>
        <p:spPr>
          <a:xfrm>
            <a:off x="3148560" y="2172600"/>
            <a:ext cx="337320" cy="237240"/>
          </a:xfrm>
          <a:prstGeom prst="rect">
            <a:avLst/>
          </a:prstGeom>
        </p:spPr>
      </p:sp>
      <p:sp>
        <p:nvSpPr>
          <p:cNvPr id="569" name="CustomShape 23"/>
          <p:cNvSpPr/>
          <p:nvPr/>
        </p:nvSpPr>
        <p:spPr>
          <a:xfrm>
            <a:off x="3148560" y="2484360"/>
            <a:ext cx="337320" cy="237240"/>
          </a:xfrm>
          <a:prstGeom prst="rect">
            <a:avLst/>
          </a:prstGeom>
        </p:spPr>
      </p:sp>
      <p:sp>
        <p:nvSpPr>
          <p:cNvPr id="570" name="CustomShape 24"/>
          <p:cNvSpPr/>
          <p:nvPr/>
        </p:nvSpPr>
        <p:spPr>
          <a:xfrm>
            <a:off x="3148560" y="2787120"/>
            <a:ext cx="337320" cy="237240"/>
          </a:xfrm>
          <a:prstGeom prst="rect">
            <a:avLst/>
          </a:prstGeom>
        </p:spPr>
      </p:sp>
      <p:sp>
        <p:nvSpPr>
          <p:cNvPr id="571" name="CustomShape 25"/>
          <p:cNvSpPr/>
          <p:nvPr/>
        </p:nvSpPr>
        <p:spPr>
          <a:xfrm>
            <a:off x="3148560" y="3114000"/>
            <a:ext cx="337320" cy="237240"/>
          </a:xfrm>
          <a:prstGeom prst="rect">
            <a:avLst/>
          </a:prstGeom>
        </p:spPr>
      </p:sp>
      <p:sp>
        <p:nvSpPr>
          <p:cNvPr id="572" name="CustomShape 26"/>
          <p:cNvSpPr/>
          <p:nvPr/>
        </p:nvSpPr>
        <p:spPr>
          <a:xfrm>
            <a:off x="3148560" y="3440880"/>
            <a:ext cx="337320" cy="237240"/>
          </a:xfrm>
          <a:prstGeom prst="rect">
            <a:avLst/>
          </a:prstGeom>
        </p:spPr>
      </p:sp>
      <p:sp>
        <p:nvSpPr>
          <p:cNvPr id="573" name="CustomShape 27"/>
          <p:cNvSpPr/>
          <p:nvPr/>
        </p:nvSpPr>
        <p:spPr>
          <a:xfrm>
            <a:off x="6177600" y="1510560"/>
            <a:ext cx="337320" cy="237240"/>
          </a:xfrm>
          <a:prstGeom prst="rect">
            <a:avLst/>
          </a:prstGeom>
        </p:spPr>
      </p:sp>
      <p:sp>
        <p:nvSpPr>
          <p:cNvPr id="574" name="CustomShape 28"/>
          <p:cNvSpPr/>
          <p:nvPr/>
        </p:nvSpPr>
        <p:spPr>
          <a:xfrm>
            <a:off x="6177600" y="1848240"/>
            <a:ext cx="337320" cy="237240"/>
          </a:xfrm>
          <a:prstGeom prst="rect">
            <a:avLst/>
          </a:prstGeom>
        </p:spPr>
      </p:sp>
      <p:sp>
        <p:nvSpPr>
          <p:cNvPr id="575" name="CustomShape 29"/>
          <p:cNvSpPr/>
          <p:nvPr/>
        </p:nvSpPr>
        <p:spPr>
          <a:xfrm>
            <a:off x="6177600" y="2189880"/>
            <a:ext cx="337320" cy="237240"/>
          </a:xfrm>
          <a:prstGeom prst="rect">
            <a:avLst/>
          </a:prstGeom>
        </p:spPr>
      </p:sp>
      <p:sp>
        <p:nvSpPr>
          <p:cNvPr id="576" name="CustomShape 30"/>
          <p:cNvSpPr/>
          <p:nvPr/>
        </p:nvSpPr>
        <p:spPr>
          <a:xfrm>
            <a:off x="6177600" y="2501280"/>
            <a:ext cx="337320" cy="237240"/>
          </a:xfrm>
          <a:prstGeom prst="rect">
            <a:avLst/>
          </a:prstGeom>
        </p:spPr>
      </p:sp>
      <p:sp>
        <p:nvSpPr>
          <p:cNvPr id="577" name="CustomShape 31"/>
          <p:cNvSpPr/>
          <p:nvPr/>
        </p:nvSpPr>
        <p:spPr>
          <a:xfrm>
            <a:off x="6177600" y="2804400"/>
            <a:ext cx="337320" cy="237240"/>
          </a:xfrm>
          <a:prstGeom prst="rect">
            <a:avLst/>
          </a:prstGeom>
        </p:spPr>
      </p:sp>
      <p:sp>
        <p:nvSpPr>
          <p:cNvPr id="578" name="CustomShape 32"/>
          <p:cNvSpPr/>
          <p:nvPr/>
        </p:nvSpPr>
        <p:spPr>
          <a:xfrm>
            <a:off x="6177600" y="3130920"/>
            <a:ext cx="337320" cy="237240"/>
          </a:xfrm>
          <a:prstGeom prst="rect">
            <a:avLst/>
          </a:prstGeom>
        </p:spPr>
      </p:sp>
      <p:sp>
        <p:nvSpPr>
          <p:cNvPr id="579" name="CustomShape 33"/>
          <p:cNvSpPr/>
          <p:nvPr/>
        </p:nvSpPr>
        <p:spPr>
          <a:xfrm>
            <a:off x="6177600" y="3457800"/>
            <a:ext cx="337320" cy="237240"/>
          </a:xfrm>
          <a:prstGeom prst="rect">
            <a:avLst/>
          </a:prstGeom>
        </p:spPr>
      </p:sp>
      <p:sp>
        <p:nvSpPr>
          <p:cNvPr id="580" name="Line 34"/>
          <p:cNvSpPr/>
          <p:nvPr/>
        </p:nvSpPr>
        <p:spPr>
          <a:xfrm flipV="1">
            <a:off x="1115280" y="2838960"/>
            <a:ext cx="0" cy="720000"/>
          </a:xfrm>
          <a:prstGeom prst="line">
            <a:avLst/>
          </a:prstGeom>
          <a:ln w="38160">
            <a:solidFill>
              <a:srgbClr val="C3D69B"/>
            </a:solidFill>
            <a:round/>
          </a:ln>
        </p:spPr>
      </p:sp>
      <p:sp>
        <p:nvSpPr>
          <p:cNvPr id="581" name="Line 35"/>
          <p:cNvSpPr/>
          <p:nvPr/>
        </p:nvSpPr>
        <p:spPr>
          <a:xfrm flipV="1">
            <a:off x="1267920" y="2838960"/>
            <a:ext cx="0" cy="720000"/>
          </a:xfrm>
          <a:prstGeom prst="line">
            <a:avLst/>
          </a:prstGeom>
          <a:ln w="38160">
            <a:solidFill>
              <a:srgbClr val="C3D69B"/>
            </a:solidFill>
            <a:round/>
          </a:ln>
        </p:spPr>
      </p:sp>
      <p:sp>
        <p:nvSpPr>
          <p:cNvPr id="582" name="Line 36"/>
          <p:cNvSpPr/>
          <p:nvPr/>
        </p:nvSpPr>
        <p:spPr>
          <a:xfrm flipV="1">
            <a:off x="6867720" y="2840040"/>
            <a:ext cx="0" cy="720000"/>
          </a:xfrm>
          <a:prstGeom prst="line">
            <a:avLst/>
          </a:prstGeom>
          <a:ln w="38160">
            <a:solidFill>
              <a:srgbClr val="C3D69B"/>
            </a:solidFill>
            <a:round/>
          </a:ln>
        </p:spPr>
      </p:sp>
      <p:sp>
        <p:nvSpPr>
          <p:cNvPr id="583" name="Line 37"/>
          <p:cNvSpPr/>
          <p:nvPr/>
        </p:nvSpPr>
        <p:spPr>
          <a:xfrm flipV="1">
            <a:off x="7020000" y="2840040"/>
            <a:ext cx="0" cy="720000"/>
          </a:xfrm>
          <a:prstGeom prst="line">
            <a:avLst/>
          </a:prstGeom>
          <a:ln w="38160">
            <a:solidFill>
              <a:srgbClr val="C3D69B"/>
            </a:solidFill>
            <a:round/>
          </a:ln>
        </p:spPr>
      </p:sp>
      <p:sp>
        <p:nvSpPr>
          <p:cNvPr id="584" name="TextShape 38"/>
          <p:cNvSpPr txBox="1"/>
          <p:nvPr/>
        </p:nvSpPr>
        <p:spPr>
          <a:xfrm>
            <a:off x="0" y="0"/>
            <a:ext cx="360" cy="360"/>
          </a:xfrm>
          <a:prstGeom prst="rect">
            <a:avLst/>
          </a:prstGeom>
        </p:spPr>
        <p:txBody>
          <a:bodyPr lIns="90000" tIns="45000" rIns="90000" bIns="45000"/>
          <a:lstStyle/>
          <a:p>
            <a:pPr>
              <a:lnSpc>
                <a:spcPct val="100000"/>
              </a:lnSpc>
            </a:pPr>
            <a:fld id="{71311141-11A1-4121-91C1-51E17191E171}" type="slidenum">
              <a:rPr lang="en-US">
                <a:solidFill>
                  <a:srgbClr val="000000"/>
                </a:solidFill>
                <a:latin typeface="Calibri"/>
              </a:rPr>
              <a:t>22</a:t>
            </a:fld>
            <a:endParaRPr/>
          </a:p>
        </p:txBody>
      </p:sp>
      <p:grpSp>
        <p:nvGrpSpPr>
          <p:cNvPr id="40" name="Group 39"/>
          <p:cNvGrpSpPr/>
          <p:nvPr/>
        </p:nvGrpSpPr>
        <p:grpSpPr>
          <a:xfrm>
            <a:off x="2855160" y="1408818"/>
            <a:ext cx="283336" cy="2524182"/>
            <a:chOff x="8293443" y="476672"/>
            <a:chExt cx="237588" cy="2284824"/>
          </a:xfrm>
          <a:solidFill>
            <a:schemeClr val="bg1"/>
          </a:solidFill>
        </p:grpSpPr>
        <p:sp>
          <p:nvSpPr>
            <p:cNvPr id="41" name="Double Wave 40"/>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uble Wave 41"/>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ouble Wave 42"/>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uble Wave 43"/>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uble Wave 44"/>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uble Wave 45"/>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uble Wave 46"/>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p:cNvGrpSpPr/>
          <p:nvPr/>
        </p:nvGrpSpPr>
        <p:grpSpPr>
          <a:xfrm>
            <a:off x="5691788" y="1408818"/>
            <a:ext cx="283336" cy="2524182"/>
            <a:chOff x="8293443" y="476672"/>
            <a:chExt cx="237588" cy="2284824"/>
          </a:xfrm>
          <a:solidFill>
            <a:schemeClr val="bg1"/>
          </a:solidFill>
        </p:grpSpPr>
        <p:sp>
          <p:nvSpPr>
            <p:cNvPr id="49" name="Double Wave 48"/>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uble Wave 49"/>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Double Wave 50"/>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ouble Wave 51"/>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ouble Wave 52"/>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Double Wave 53"/>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ouble Wave 54"/>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53523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027492" y="4540658"/>
            <a:ext cx="2937984" cy="830997"/>
          </a:xfrm>
          <a:prstGeom prst="rect">
            <a:avLst/>
          </a:prstGeom>
          <a:noFill/>
        </p:spPr>
        <p:txBody>
          <a:bodyPr wrap="none" rtlCol="0">
            <a:spAutoFit/>
          </a:bodyPr>
          <a:lstStyle/>
          <a:p>
            <a:r>
              <a:rPr lang="en-US" sz="2400" b="1" dirty="0"/>
              <a:t>Receiver wake up</a:t>
            </a:r>
          </a:p>
          <a:p>
            <a:r>
              <a:rPr lang="en-US" sz="2400" b="1" dirty="0"/>
              <a:t>Two CCAs are needed</a:t>
            </a:r>
          </a:p>
        </p:txBody>
      </p:sp>
      <p:cxnSp>
        <p:nvCxnSpPr>
          <p:cNvPr id="5" name="Straight Arrow Connector 4"/>
          <p:cNvCxnSpPr/>
          <p:nvPr/>
        </p:nvCxnSpPr>
        <p:spPr>
          <a:xfrm>
            <a:off x="960565" y="4952409"/>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4530712" y="4520361"/>
            <a:ext cx="288032" cy="432048"/>
          </a:xfrm>
          <a:prstGeom prst="rect">
            <a:avLst/>
          </a:prstGeom>
          <a:solidFill>
            <a:schemeClr val="accent3">
              <a:lumMod val="40000"/>
              <a:lumOff val="60000"/>
            </a:schemeClr>
          </a:solid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6258904" y="4527114"/>
            <a:ext cx="1756476" cy="43204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p:cNvCxnSpPr/>
          <p:nvPr/>
        </p:nvCxnSpPr>
        <p:spPr>
          <a:xfrm>
            <a:off x="4833557" y="4755588"/>
            <a:ext cx="1436551" cy="0"/>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392631" y="4293923"/>
            <a:ext cx="374590" cy="461665"/>
          </a:xfrm>
          <a:prstGeom prst="rect">
            <a:avLst/>
          </a:prstGeom>
          <a:noFill/>
        </p:spPr>
        <p:txBody>
          <a:bodyPr wrap="none" rtlCol="0">
            <a:spAutoFit/>
          </a:bodyPr>
          <a:lstStyle/>
          <a:p>
            <a:r>
              <a:rPr lang="en-US" sz="2400" b="1" dirty="0" err="1"/>
              <a:t>t</a:t>
            </a:r>
            <a:r>
              <a:rPr lang="en-US" sz="2400" b="1" baseline="-25000" dirty="0" err="1"/>
              <a:t>c</a:t>
            </a:r>
            <a:endParaRPr lang="en-US" sz="2400" b="1" baseline="-25000" dirty="0"/>
          </a:p>
        </p:txBody>
      </p:sp>
      <p:sp>
        <p:nvSpPr>
          <p:cNvPr id="66" name="Flowchart: Process 65"/>
          <p:cNvSpPr/>
          <p:nvPr/>
        </p:nvSpPr>
        <p:spPr>
          <a:xfrm>
            <a:off x="5394259" y="2404766"/>
            <a:ext cx="2621121" cy="577442"/>
          </a:xfrm>
          <a:prstGeom prst="flowChartProcess">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Process 6"/>
          <p:cNvSpPr/>
          <p:nvPr/>
        </p:nvSpPr>
        <p:spPr>
          <a:xfrm>
            <a:off x="999996" y="2404766"/>
            <a:ext cx="3271232" cy="577442"/>
          </a:xfrm>
          <a:prstGeom prst="flowChartProcess">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p:cNvCxnSpPr/>
          <p:nvPr/>
        </p:nvCxnSpPr>
        <p:spPr>
          <a:xfrm>
            <a:off x="999996" y="3003036"/>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60565" y="2982208"/>
            <a:ext cx="1080745" cy="461665"/>
          </a:xfrm>
          <a:prstGeom prst="rect">
            <a:avLst/>
          </a:prstGeom>
          <a:noFill/>
        </p:spPr>
        <p:txBody>
          <a:bodyPr wrap="none" rtlCol="0">
            <a:spAutoFit/>
          </a:bodyPr>
          <a:lstStyle/>
          <a:p>
            <a:r>
              <a:rPr lang="en-US" sz="2400" b="1" dirty="0"/>
              <a:t>Sender</a:t>
            </a:r>
          </a:p>
        </p:txBody>
      </p:sp>
      <p:cxnSp>
        <p:nvCxnSpPr>
          <p:cNvPr id="30" name="Straight Arrow Connector 29"/>
          <p:cNvCxnSpPr/>
          <p:nvPr/>
        </p:nvCxnSpPr>
        <p:spPr>
          <a:xfrm>
            <a:off x="4271228" y="2751376"/>
            <a:ext cx="1152129" cy="0"/>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5399110" y="2571937"/>
            <a:ext cx="2635216"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 frame</a:t>
            </a:r>
          </a:p>
        </p:txBody>
      </p:sp>
      <p:sp>
        <p:nvSpPr>
          <p:cNvPr id="35" name="TextBox 34"/>
          <p:cNvSpPr txBox="1"/>
          <p:nvPr/>
        </p:nvSpPr>
        <p:spPr>
          <a:xfrm>
            <a:off x="4676412" y="2289711"/>
            <a:ext cx="341760" cy="461665"/>
          </a:xfrm>
          <a:prstGeom prst="rect">
            <a:avLst/>
          </a:prstGeom>
          <a:noFill/>
        </p:spPr>
        <p:txBody>
          <a:bodyPr wrap="none" rtlCol="0">
            <a:spAutoFit/>
          </a:bodyPr>
          <a:lstStyle/>
          <a:p>
            <a:r>
              <a:rPr lang="en-US" sz="2400" b="1" dirty="0" err="1"/>
              <a:t>t</a:t>
            </a:r>
            <a:r>
              <a:rPr lang="en-US" sz="2400" b="1" baseline="-25000" dirty="0" err="1"/>
              <a:t>i</a:t>
            </a:r>
            <a:endParaRPr lang="en-US" sz="2400" b="1" baseline="-25000" dirty="0"/>
          </a:p>
        </p:txBody>
      </p:sp>
      <p:sp>
        <p:nvSpPr>
          <p:cNvPr id="51" name="TextBox 50"/>
          <p:cNvSpPr txBox="1"/>
          <p:nvPr/>
        </p:nvSpPr>
        <p:spPr>
          <a:xfrm>
            <a:off x="8015381" y="2557128"/>
            <a:ext cx="292068" cy="461665"/>
          </a:xfrm>
          <a:prstGeom prst="rect">
            <a:avLst/>
          </a:prstGeom>
          <a:noFill/>
        </p:spPr>
        <p:txBody>
          <a:bodyPr wrap="none" rtlCol="0">
            <a:spAutoFit/>
          </a:bodyPr>
          <a:lstStyle/>
          <a:p>
            <a:r>
              <a:rPr lang="en-US" sz="2400" b="1" dirty="0"/>
              <a:t>t</a:t>
            </a:r>
          </a:p>
        </p:txBody>
      </p:sp>
      <p:sp>
        <p:nvSpPr>
          <p:cNvPr id="3" name="Slide Number Placeholder 2"/>
          <p:cNvSpPr>
            <a:spLocks noGrp="1"/>
          </p:cNvSpPr>
          <p:nvPr>
            <p:ph type="sldNum" sz="quarter" idx="12"/>
          </p:nvPr>
        </p:nvSpPr>
        <p:spPr/>
        <p:txBody>
          <a:bodyPr/>
          <a:lstStyle/>
          <a:p>
            <a:fld id="{5889CBBA-8305-4466-BB85-F253002DC7EE}" type="slidenum">
              <a:rPr lang="en-US" smtClean="0"/>
              <a:t>23</a:t>
            </a:fld>
            <a:endParaRPr lang="en-US"/>
          </a:p>
        </p:txBody>
      </p:sp>
      <p:sp>
        <p:nvSpPr>
          <p:cNvPr id="6" name="Title 5"/>
          <p:cNvSpPr>
            <a:spLocks noGrp="1"/>
          </p:cNvSpPr>
          <p:nvPr>
            <p:ph type="title"/>
          </p:nvPr>
        </p:nvSpPr>
        <p:spPr>
          <a:xfrm>
            <a:off x="251520" y="274638"/>
            <a:ext cx="8712968" cy="1143000"/>
          </a:xfrm>
        </p:spPr>
        <p:txBody>
          <a:bodyPr>
            <a:normAutofit fontScale="90000"/>
          </a:bodyPr>
          <a:lstStyle/>
          <a:p>
            <a:r>
              <a:rPr lang="en-US" dirty="0"/>
              <a:t>RDC : </a:t>
            </a:r>
            <a:r>
              <a:rPr lang="en-US" dirty="0" err="1"/>
              <a:t>ContikiMAC</a:t>
            </a:r>
            <a:br>
              <a:rPr lang="en-US" sz="2200" dirty="0"/>
            </a:br>
            <a:r>
              <a:rPr lang="en-US" sz="3100" b="1" dirty="0"/>
              <a:t>3. Detecting frames by Clear Channel Assessments</a:t>
            </a:r>
            <a:endParaRPr lang="en-US" sz="3100" dirty="0"/>
          </a:p>
        </p:txBody>
      </p:sp>
      <p:grpSp>
        <p:nvGrpSpPr>
          <p:cNvPr id="42" name="Group 41"/>
          <p:cNvGrpSpPr/>
          <p:nvPr/>
        </p:nvGrpSpPr>
        <p:grpSpPr>
          <a:xfrm>
            <a:off x="1156273" y="1688736"/>
            <a:ext cx="6888296" cy="580358"/>
            <a:chOff x="1162691" y="1417639"/>
            <a:chExt cx="6888296" cy="580358"/>
          </a:xfrm>
        </p:grpSpPr>
        <p:sp>
          <p:nvSpPr>
            <p:cNvPr id="44" name="Flowchart: Alternate Process 43"/>
            <p:cNvSpPr/>
            <p:nvPr/>
          </p:nvSpPr>
          <p:spPr>
            <a:xfrm>
              <a:off x="1162691" y="1417639"/>
              <a:ext cx="6888296" cy="580358"/>
            </a:xfrm>
            <a:prstGeom prst="flowChartAlternateProces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lowchart: Process 44"/>
            <p:cNvSpPr/>
            <p:nvPr/>
          </p:nvSpPr>
          <p:spPr>
            <a:xfrm>
              <a:off x="6235209" y="1571684"/>
              <a:ext cx="1351388" cy="313106"/>
            </a:xfrm>
            <a:prstGeom prst="flowChartProcess">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478701" y="1530847"/>
              <a:ext cx="893193" cy="338554"/>
            </a:xfrm>
            <a:prstGeom prst="rect">
              <a:avLst/>
            </a:prstGeom>
            <a:noFill/>
          </p:spPr>
          <p:txBody>
            <a:bodyPr wrap="none" rtlCol="0">
              <a:spAutoFit/>
            </a:bodyPr>
            <a:lstStyle/>
            <a:p>
              <a:r>
                <a:rPr lang="en-US" sz="1600" b="1" dirty="0" err="1"/>
                <a:t>Rx,Tx</a:t>
              </a:r>
              <a:r>
                <a:rPr lang="en-US" sz="1600" b="1" dirty="0"/>
                <a:t> on</a:t>
              </a:r>
            </a:p>
          </p:txBody>
        </p:sp>
        <p:sp>
          <p:nvSpPr>
            <p:cNvPr id="55" name="Flowchart: Process 54"/>
            <p:cNvSpPr/>
            <p:nvPr/>
          </p:nvSpPr>
          <p:spPr>
            <a:xfrm>
              <a:off x="4550321" y="1571684"/>
              <a:ext cx="1351388" cy="313106"/>
            </a:xfrm>
            <a:prstGeom prst="flowChartProcess">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4606839" y="1530847"/>
              <a:ext cx="1238352" cy="338554"/>
            </a:xfrm>
            <a:prstGeom prst="rect">
              <a:avLst/>
            </a:prstGeom>
            <a:noFill/>
          </p:spPr>
          <p:txBody>
            <a:bodyPr wrap="none" rtlCol="0">
              <a:spAutoFit/>
            </a:bodyPr>
            <a:lstStyle/>
            <a:p>
              <a:r>
                <a:rPr lang="en-US" sz="1600" b="1" dirty="0"/>
                <a:t>Rx on, </a:t>
              </a:r>
              <a:r>
                <a:rPr lang="en-US" sz="1600" b="1" dirty="0" err="1"/>
                <a:t>Tx</a:t>
              </a:r>
              <a:r>
                <a:rPr lang="en-US" sz="1600" b="1" dirty="0"/>
                <a:t> off</a:t>
              </a:r>
            </a:p>
          </p:txBody>
        </p:sp>
        <p:sp>
          <p:nvSpPr>
            <p:cNvPr id="65" name="TextBox 64"/>
            <p:cNvSpPr txBox="1"/>
            <p:nvPr/>
          </p:nvSpPr>
          <p:spPr>
            <a:xfrm>
              <a:off x="1331640" y="1507763"/>
              <a:ext cx="3162854" cy="400110"/>
            </a:xfrm>
            <a:prstGeom prst="rect">
              <a:avLst/>
            </a:prstGeom>
            <a:noFill/>
          </p:spPr>
          <p:txBody>
            <a:bodyPr wrap="none" rtlCol="0">
              <a:spAutoFit/>
            </a:bodyPr>
            <a:lstStyle/>
            <a:p>
              <a:r>
                <a:rPr lang="en-US" sz="2000" b="1" dirty="0"/>
                <a:t>Radio State representation :</a:t>
              </a:r>
            </a:p>
          </p:txBody>
        </p:sp>
      </p:grpSp>
      <p:sp>
        <p:nvSpPr>
          <p:cNvPr id="67" name="Rectangle 66"/>
          <p:cNvSpPr/>
          <p:nvPr/>
        </p:nvSpPr>
        <p:spPr>
          <a:xfrm>
            <a:off x="999996" y="2550161"/>
            <a:ext cx="328555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 frame</a:t>
            </a:r>
          </a:p>
        </p:txBody>
      </p:sp>
      <p:sp>
        <p:nvSpPr>
          <p:cNvPr id="68" name="Rectangle 67"/>
          <p:cNvSpPr/>
          <p:nvPr/>
        </p:nvSpPr>
        <p:spPr>
          <a:xfrm>
            <a:off x="6283432" y="4520361"/>
            <a:ext cx="288032" cy="432048"/>
          </a:xfrm>
          <a:prstGeom prst="rect">
            <a:avLst/>
          </a:prstGeom>
          <a:solidFill>
            <a:schemeClr val="accent3">
              <a:lumMod val="40000"/>
              <a:lumOff val="60000"/>
            </a:schemeClr>
          </a:solid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p:cNvSpPr txBox="1"/>
          <p:nvPr/>
        </p:nvSpPr>
        <p:spPr>
          <a:xfrm>
            <a:off x="1027492" y="3670082"/>
            <a:ext cx="2593980" cy="830997"/>
          </a:xfrm>
          <a:prstGeom prst="rect">
            <a:avLst/>
          </a:prstGeom>
          <a:noFill/>
        </p:spPr>
        <p:txBody>
          <a:bodyPr wrap="none" rtlCol="0">
            <a:spAutoFit/>
          </a:bodyPr>
          <a:lstStyle/>
          <a:p>
            <a:r>
              <a:rPr lang="en-US" sz="2400" b="1" dirty="0"/>
              <a:t>Receiver wake up</a:t>
            </a:r>
          </a:p>
          <a:p>
            <a:r>
              <a:rPr lang="en-US" sz="2400" b="1" dirty="0"/>
              <a:t>One CCA is enough</a:t>
            </a:r>
          </a:p>
        </p:txBody>
      </p:sp>
      <p:cxnSp>
        <p:nvCxnSpPr>
          <p:cNvPr id="70" name="Straight Arrow Connector 69"/>
          <p:cNvCxnSpPr/>
          <p:nvPr/>
        </p:nvCxnSpPr>
        <p:spPr>
          <a:xfrm>
            <a:off x="943478" y="4092334"/>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2" name="Rectangle 71"/>
          <p:cNvSpPr/>
          <p:nvPr/>
        </p:nvSpPr>
        <p:spPr>
          <a:xfrm>
            <a:off x="3621472" y="3660286"/>
            <a:ext cx="4393908" cy="43204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3646000" y="3653533"/>
            <a:ext cx="277928" cy="432048"/>
          </a:xfrm>
          <a:prstGeom prst="rect">
            <a:avLst/>
          </a:prstGeom>
          <a:solidFill>
            <a:schemeClr val="accent3">
              <a:lumMod val="40000"/>
              <a:lumOff val="60000"/>
            </a:schemeClr>
          </a:solid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943479" y="5528438"/>
            <a:ext cx="7516954" cy="707886"/>
          </a:xfrm>
          <a:prstGeom prst="rect">
            <a:avLst/>
          </a:prstGeom>
          <a:noFill/>
        </p:spPr>
        <p:txBody>
          <a:bodyPr wrap="square" rtlCol="0">
            <a:spAutoFit/>
          </a:bodyPr>
          <a:lstStyle/>
          <a:p>
            <a:r>
              <a:rPr lang="en-US" sz="2000" b="1" dirty="0"/>
              <a:t>The time between the two CCAs (</a:t>
            </a:r>
            <a:r>
              <a:rPr lang="en-US" sz="2000" b="1" dirty="0" err="1"/>
              <a:t>t</a:t>
            </a:r>
            <a:r>
              <a:rPr lang="en-US" sz="2000" b="1" baseline="-25000" dirty="0" err="1"/>
              <a:t>c</a:t>
            </a:r>
            <a:r>
              <a:rPr lang="en-US" sz="2000" b="1" dirty="0"/>
              <a:t>) must be larger than the time between two frames (</a:t>
            </a:r>
            <a:r>
              <a:rPr lang="en-US" sz="2000" b="1" dirty="0" err="1"/>
              <a:t>t</a:t>
            </a:r>
            <a:r>
              <a:rPr lang="en-US" sz="2000" b="1" baseline="-25000" dirty="0" err="1"/>
              <a:t>i</a:t>
            </a:r>
            <a:r>
              <a:rPr lang="en-US" sz="2000" b="1" dirty="0"/>
              <a:t>) to avoid missing a frame.</a:t>
            </a:r>
          </a:p>
        </p:txBody>
      </p:sp>
      <p:cxnSp>
        <p:nvCxnSpPr>
          <p:cNvPr id="14" name="Straight Arrow Connector 13"/>
          <p:cNvCxnSpPr/>
          <p:nvPr/>
        </p:nvCxnSpPr>
        <p:spPr>
          <a:xfrm>
            <a:off x="3784964" y="3018793"/>
            <a:ext cx="0" cy="63474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4668742" y="2982209"/>
            <a:ext cx="5986" cy="1518870"/>
          </a:xfrm>
          <a:prstGeom prst="straightConnector1">
            <a:avLst/>
          </a:prstGeom>
          <a:ln w="38100">
            <a:prstDash val="dash"/>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6421462" y="3035493"/>
            <a:ext cx="0" cy="14655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2885084" y="3214550"/>
            <a:ext cx="567784" cy="369332"/>
          </a:xfrm>
          <a:prstGeom prst="rect">
            <a:avLst/>
          </a:prstGeom>
          <a:noFill/>
        </p:spPr>
        <p:txBody>
          <a:bodyPr wrap="none" rtlCol="0">
            <a:spAutoFit/>
          </a:bodyPr>
          <a:lstStyle/>
          <a:p>
            <a:r>
              <a:rPr lang="en-US" b="1" dirty="0">
                <a:solidFill>
                  <a:srgbClr val="00B050"/>
                </a:solidFill>
              </a:rPr>
              <a:t>CCA</a:t>
            </a:r>
          </a:p>
        </p:txBody>
      </p:sp>
      <p:cxnSp>
        <p:nvCxnSpPr>
          <p:cNvPr id="79" name="Curved Connector 78"/>
          <p:cNvCxnSpPr>
            <a:stCxn id="78" idx="3"/>
          </p:cNvCxnSpPr>
          <p:nvPr/>
        </p:nvCxnSpPr>
        <p:spPr>
          <a:xfrm>
            <a:off x="3452868" y="3399216"/>
            <a:ext cx="221148" cy="250239"/>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3810213" y="4085580"/>
            <a:ext cx="567784" cy="369332"/>
          </a:xfrm>
          <a:prstGeom prst="rect">
            <a:avLst/>
          </a:prstGeom>
          <a:noFill/>
        </p:spPr>
        <p:txBody>
          <a:bodyPr wrap="none" rtlCol="0">
            <a:spAutoFit/>
          </a:bodyPr>
          <a:lstStyle/>
          <a:p>
            <a:r>
              <a:rPr lang="en-US" b="1" dirty="0">
                <a:solidFill>
                  <a:srgbClr val="00B050"/>
                </a:solidFill>
              </a:rPr>
              <a:t>CCA</a:t>
            </a:r>
          </a:p>
        </p:txBody>
      </p:sp>
      <p:cxnSp>
        <p:nvCxnSpPr>
          <p:cNvPr id="81" name="Curved Connector 80"/>
          <p:cNvCxnSpPr>
            <a:stCxn id="80" idx="3"/>
          </p:cNvCxnSpPr>
          <p:nvPr/>
        </p:nvCxnSpPr>
        <p:spPr>
          <a:xfrm>
            <a:off x="4377997" y="4270246"/>
            <a:ext cx="221148" cy="250239"/>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5524274" y="4077166"/>
            <a:ext cx="567784" cy="369332"/>
          </a:xfrm>
          <a:prstGeom prst="rect">
            <a:avLst/>
          </a:prstGeom>
          <a:noFill/>
        </p:spPr>
        <p:txBody>
          <a:bodyPr wrap="none" rtlCol="0">
            <a:spAutoFit/>
          </a:bodyPr>
          <a:lstStyle/>
          <a:p>
            <a:r>
              <a:rPr lang="en-US" b="1" dirty="0">
                <a:solidFill>
                  <a:srgbClr val="00B050"/>
                </a:solidFill>
              </a:rPr>
              <a:t>CCA</a:t>
            </a:r>
          </a:p>
        </p:txBody>
      </p:sp>
      <p:cxnSp>
        <p:nvCxnSpPr>
          <p:cNvPr id="83" name="Curved Connector 82"/>
          <p:cNvCxnSpPr>
            <a:stCxn id="82" idx="3"/>
          </p:cNvCxnSpPr>
          <p:nvPr/>
        </p:nvCxnSpPr>
        <p:spPr>
          <a:xfrm>
            <a:off x="6092058" y="4261832"/>
            <a:ext cx="221148" cy="250239"/>
          </a:xfrm>
          <a:prstGeom prst="curvedConnector2">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1705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dirty="0"/>
              <a:t>RDC : </a:t>
            </a:r>
            <a:r>
              <a:rPr lang="en-US" sz="4800" dirty="0" err="1"/>
              <a:t>ContikiMAC</a:t>
            </a:r>
            <a:br>
              <a:rPr lang="en-US" sz="2200" dirty="0"/>
            </a:br>
            <a:r>
              <a:rPr lang="en-US" sz="3100" b="1" dirty="0"/>
              <a:t>4. Timing requirements</a:t>
            </a:r>
            <a:endParaRPr lang="en-US" b="1" dirty="0"/>
          </a:p>
        </p:txBody>
      </p:sp>
      <p:sp>
        <p:nvSpPr>
          <p:cNvPr id="34" name="TextBox 33"/>
          <p:cNvSpPr txBox="1"/>
          <p:nvPr/>
        </p:nvSpPr>
        <p:spPr>
          <a:xfrm>
            <a:off x="476821" y="4437112"/>
            <a:ext cx="8363272" cy="1200329"/>
          </a:xfrm>
          <a:prstGeom prst="rect">
            <a:avLst/>
          </a:prstGeom>
          <a:noFill/>
        </p:spPr>
        <p:txBody>
          <a:bodyPr wrap="square" rtlCol="0">
            <a:spAutoFit/>
          </a:bodyPr>
          <a:lstStyle/>
          <a:p>
            <a:r>
              <a:rPr lang="en-US" sz="2400" b="1" dirty="0" err="1"/>
              <a:t>t</a:t>
            </a:r>
            <a:r>
              <a:rPr lang="en-US" sz="2400" b="1" baseline="-25000" dirty="0" err="1"/>
              <a:t>i</a:t>
            </a:r>
            <a:r>
              <a:rPr lang="en-US" sz="2400" b="1" baseline="-25000" dirty="0"/>
              <a:t>  </a:t>
            </a:r>
            <a:r>
              <a:rPr lang="en-US" sz="2400" b="1" dirty="0"/>
              <a:t>&lt; </a:t>
            </a:r>
            <a:r>
              <a:rPr lang="en-US" sz="2400" b="1" dirty="0" err="1"/>
              <a:t>t</a:t>
            </a:r>
            <a:r>
              <a:rPr lang="en-US" sz="2400" b="1" baseline="-25000" dirty="0" err="1"/>
              <a:t>c</a:t>
            </a:r>
            <a:r>
              <a:rPr lang="en-US" sz="2400" b="1" baseline="-25000" dirty="0"/>
              <a:t>  </a:t>
            </a:r>
            <a:r>
              <a:rPr lang="en-US" sz="2400" b="1" dirty="0"/>
              <a:t>       (no frame should go undetected by 2 successive CCAs).</a:t>
            </a:r>
          </a:p>
          <a:p>
            <a:r>
              <a:rPr lang="en-US" sz="2400" b="1" dirty="0" err="1"/>
              <a:t>t</a:t>
            </a:r>
            <a:r>
              <a:rPr lang="en-US" sz="2400" b="1" baseline="-25000" dirty="0" err="1"/>
              <a:t>s</a:t>
            </a:r>
            <a:r>
              <a:rPr lang="en-US" sz="2400" b="1" baseline="-25000" dirty="0"/>
              <a:t>  </a:t>
            </a:r>
            <a:r>
              <a:rPr lang="en-US" sz="2400" b="1" dirty="0"/>
              <a:t>&gt; </a:t>
            </a:r>
            <a:r>
              <a:rPr lang="en-US" sz="2400" b="1" dirty="0" err="1"/>
              <a:t>t</a:t>
            </a:r>
            <a:r>
              <a:rPr lang="en-US" sz="2400" b="1" baseline="-25000" dirty="0" err="1"/>
              <a:t>c</a:t>
            </a:r>
            <a:r>
              <a:rPr lang="en-US" sz="2400" b="1" baseline="-25000" dirty="0"/>
              <a:t> </a:t>
            </a:r>
            <a:r>
              <a:rPr lang="en-US" sz="2400" b="1" dirty="0"/>
              <a:t>+ 2t</a:t>
            </a:r>
            <a:r>
              <a:rPr lang="en-US" sz="2400" b="1" baseline="-25000" dirty="0"/>
              <a:t>r </a:t>
            </a:r>
            <a:r>
              <a:rPr lang="en-US" sz="2400" b="1" dirty="0"/>
              <a:t>                             (shortest frame should be detectable).</a:t>
            </a:r>
          </a:p>
          <a:p>
            <a:r>
              <a:rPr lang="en-US" sz="2400" b="1" dirty="0"/>
              <a:t>t</a:t>
            </a:r>
            <a:r>
              <a:rPr lang="en-US" sz="2400" b="1" baseline="-25000" dirty="0"/>
              <a:t>a</a:t>
            </a:r>
            <a:r>
              <a:rPr lang="en-US" sz="2400" b="1" dirty="0"/>
              <a:t> + t</a:t>
            </a:r>
            <a:r>
              <a:rPr lang="en-US" sz="2400" b="1" baseline="-25000" dirty="0"/>
              <a:t>d</a:t>
            </a:r>
            <a:r>
              <a:rPr lang="en-US" sz="2400" b="1" dirty="0"/>
              <a:t> &lt; </a:t>
            </a:r>
            <a:r>
              <a:rPr lang="en-US" sz="2400" b="1" dirty="0" err="1"/>
              <a:t>t</a:t>
            </a:r>
            <a:r>
              <a:rPr lang="en-US" sz="2400" b="1" baseline="-25000" dirty="0" err="1"/>
              <a:t>i</a:t>
            </a:r>
            <a:r>
              <a:rPr lang="en-US" sz="2400" b="1" dirty="0"/>
              <a:t>                (</a:t>
            </a:r>
            <a:r>
              <a:rPr lang="en-US" sz="2400" b="1" dirty="0" err="1"/>
              <a:t>Ack</a:t>
            </a:r>
            <a:r>
              <a:rPr lang="en-US" sz="2400" b="1" dirty="0"/>
              <a:t> should preempt retransmission of frame).</a:t>
            </a:r>
          </a:p>
        </p:txBody>
      </p:sp>
      <p:sp>
        <p:nvSpPr>
          <p:cNvPr id="65" name="TextBox 64"/>
          <p:cNvSpPr txBox="1"/>
          <p:nvPr/>
        </p:nvSpPr>
        <p:spPr>
          <a:xfrm>
            <a:off x="2525646" y="5799018"/>
            <a:ext cx="4051687" cy="523220"/>
          </a:xfrm>
          <a:prstGeom prst="rect">
            <a:avLst/>
          </a:prstGeom>
          <a:solidFill>
            <a:srgbClr val="FFFF00"/>
          </a:solidFill>
          <a:ln>
            <a:solidFill>
              <a:schemeClr val="accent2">
                <a:lumMod val="40000"/>
                <a:lumOff val="60000"/>
              </a:schemeClr>
            </a:solidFill>
          </a:ln>
        </p:spPr>
        <p:txBody>
          <a:bodyPr wrap="none" rtlCol="0">
            <a:spAutoFit/>
          </a:bodyPr>
          <a:lstStyle/>
          <a:p>
            <a:r>
              <a:rPr lang="en-US" sz="2800" b="1" dirty="0"/>
              <a:t>t</a:t>
            </a:r>
            <a:r>
              <a:rPr lang="en-US" sz="2800" b="1" baseline="-25000" dirty="0"/>
              <a:t>a</a:t>
            </a:r>
            <a:r>
              <a:rPr lang="en-US" sz="2800" b="1" dirty="0"/>
              <a:t> + t</a:t>
            </a:r>
            <a:r>
              <a:rPr lang="en-US" sz="2800" b="1" baseline="-25000" dirty="0"/>
              <a:t>d</a:t>
            </a:r>
            <a:r>
              <a:rPr lang="en-US" sz="2800" b="1" dirty="0"/>
              <a:t> &lt; </a:t>
            </a:r>
            <a:r>
              <a:rPr lang="en-US" sz="2800" b="1" dirty="0" err="1"/>
              <a:t>t</a:t>
            </a:r>
            <a:r>
              <a:rPr lang="en-US" sz="2800" b="1" baseline="-25000" dirty="0" err="1"/>
              <a:t>i</a:t>
            </a:r>
            <a:r>
              <a:rPr lang="en-US" sz="2800" b="1" dirty="0"/>
              <a:t>  &lt; </a:t>
            </a:r>
            <a:r>
              <a:rPr lang="en-US" sz="2800" b="1" dirty="0" err="1"/>
              <a:t>t</a:t>
            </a:r>
            <a:r>
              <a:rPr lang="en-US" sz="2800" b="1" baseline="-25000" dirty="0" err="1"/>
              <a:t>c</a:t>
            </a:r>
            <a:r>
              <a:rPr lang="en-US" sz="2800" b="1" dirty="0"/>
              <a:t> &lt; </a:t>
            </a:r>
            <a:r>
              <a:rPr lang="en-US" sz="2800" b="1" dirty="0" err="1"/>
              <a:t>t</a:t>
            </a:r>
            <a:r>
              <a:rPr lang="en-US" sz="2800" b="1" baseline="-25000" dirty="0" err="1"/>
              <a:t>c</a:t>
            </a:r>
            <a:r>
              <a:rPr lang="en-US" sz="2800" b="1" baseline="-25000" dirty="0"/>
              <a:t> </a:t>
            </a:r>
            <a:r>
              <a:rPr lang="en-US" sz="2800" b="1" dirty="0"/>
              <a:t>+ 2t</a:t>
            </a:r>
            <a:r>
              <a:rPr lang="en-US" sz="2800" b="1" baseline="-25000" dirty="0"/>
              <a:t>r  </a:t>
            </a:r>
            <a:r>
              <a:rPr lang="en-US" sz="2800" b="1" dirty="0"/>
              <a:t>&lt; </a:t>
            </a:r>
            <a:r>
              <a:rPr lang="en-US" sz="2800" b="1" dirty="0" err="1"/>
              <a:t>t</a:t>
            </a:r>
            <a:r>
              <a:rPr lang="en-US" sz="2800" b="1" baseline="-25000" dirty="0" err="1"/>
              <a:t>s</a:t>
            </a:r>
            <a:endParaRPr lang="en-US" sz="2800" dirty="0"/>
          </a:p>
        </p:txBody>
      </p:sp>
      <p:sp>
        <p:nvSpPr>
          <p:cNvPr id="3" name="Slide Number Placeholder 2"/>
          <p:cNvSpPr>
            <a:spLocks noGrp="1"/>
          </p:cNvSpPr>
          <p:nvPr>
            <p:ph type="sldNum" sz="quarter" idx="12"/>
          </p:nvPr>
        </p:nvSpPr>
        <p:spPr/>
        <p:txBody>
          <a:bodyPr/>
          <a:lstStyle/>
          <a:p>
            <a:fld id="{5889CBBA-8305-4466-BB85-F253002DC7EE}" type="slidenum">
              <a:rPr lang="en-US" smtClean="0"/>
              <a:t>24</a:t>
            </a:fld>
            <a:endParaRPr lang="en-US"/>
          </a:p>
        </p:txBody>
      </p:sp>
      <p:sp>
        <p:nvSpPr>
          <p:cNvPr id="35" name="TextBox 34"/>
          <p:cNvSpPr txBox="1"/>
          <p:nvPr/>
        </p:nvSpPr>
        <p:spPr>
          <a:xfrm>
            <a:off x="4629360" y="2185578"/>
            <a:ext cx="341760" cy="461665"/>
          </a:xfrm>
          <a:prstGeom prst="rect">
            <a:avLst/>
          </a:prstGeom>
          <a:noFill/>
        </p:spPr>
        <p:txBody>
          <a:bodyPr wrap="none" rtlCol="0">
            <a:spAutoFit/>
          </a:bodyPr>
          <a:lstStyle/>
          <a:p>
            <a:r>
              <a:rPr lang="en-US" sz="2400" b="1" dirty="0" err="1"/>
              <a:t>t</a:t>
            </a:r>
            <a:r>
              <a:rPr lang="en-US" sz="2400" b="1" baseline="-25000" dirty="0" err="1"/>
              <a:t>i</a:t>
            </a:r>
            <a:endParaRPr lang="en-US" sz="2400" b="1" baseline="-25000" dirty="0"/>
          </a:p>
        </p:txBody>
      </p:sp>
      <p:sp>
        <p:nvSpPr>
          <p:cNvPr id="45" name="TextBox 44"/>
          <p:cNvSpPr txBox="1"/>
          <p:nvPr/>
        </p:nvSpPr>
        <p:spPr>
          <a:xfrm>
            <a:off x="7620967" y="2178867"/>
            <a:ext cx="390043" cy="461665"/>
          </a:xfrm>
          <a:prstGeom prst="rect">
            <a:avLst/>
          </a:prstGeom>
          <a:noFill/>
        </p:spPr>
        <p:txBody>
          <a:bodyPr wrap="none" rtlCol="0">
            <a:spAutoFit/>
          </a:bodyPr>
          <a:lstStyle/>
          <a:p>
            <a:r>
              <a:rPr lang="en-US" sz="2400" b="1" dirty="0"/>
              <a:t>t</a:t>
            </a:r>
            <a:r>
              <a:rPr lang="en-US" sz="2400" b="1" baseline="-25000" dirty="0"/>
              <a:t>a</a:t>
            </a:r>
          </a:p>
        </p:txBody>
      </p:sp>
      <p:sp>
        <p:nvSpPr>
          <p:cNvPr id="60" name="TextBox 59"/>
          <p:cNvSpPr txBox="1"/>
          <p:nvPr/>
        </p:nvSpPr>
        <p:spPr>
          <a:xfrm>
            <a:off x="5986257" y="2184680"/>
            <a:ext cx="373820" cy="461665"/>
          </a:xfrm>
          <a:prstGeom prst="rect">
            <a:avLst/>
          </a:prstGeom>
          <a:noFill/>
        </p:spPr>
        <p:txBody>
          <a:bodyPr wrap="none" rtlCol="0">
            <a:spAutoFit/>
          </a:bodyPr>
          <a:lstStyle/>
          <a:p>
            <a:r>
              <a:rPr lang="en-US" sz="2400" b="1" dirty="0" err="1"/>
              <a:t>t</a:t>
            </a:r>
            <a:r>
              <a:rPr lang="en-US" sz="2400" b="1" baseline="-25000" dirty="0" err="1"/>
              <a:t>s</a:t>
            </a:r>
            <a:endParaRPr lang="en-US" sz="2400" b="1" baseline="-25000" dirty="0"/>
          </a:p>
        </p:txBody>
      </p:sp>
      <p:sp>
        <p:nvSpPr>
          <p:cNvPr id="69" name="Flowchart: Process 68"/>
          <p:cNvSpPr/>
          <p:nvPr/>
        </p:nvSpPr>
        <p:spPr>
          <a:xfrm>
            <a:off x="5361887" y="2773478"/>
            <a:ext cx="2691128" cy="482493"/>
          </a:xfrm>
          <a:prstGeom prst="flowChartProcess">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7348490" y="3446084"/>
            <a:ext cx="704525" cy="43204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lowchart: Process 67"/>
          <p:cNvSpPr/>
          <p:nvPr/>
        </p:nvSpPr>
        <p:spPr>
          <a:xfrm>
            <a:off x="2301055" y="2763020"/>
            <a:ext cx="1898275" cy="482493"/>
          </a:xfrm>
          <a:prstGeom prst="flowChartProcess">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flipV="1">
            <a:off x="564183" y="3871379"/>
            <a:ext cx="7935143" cy="67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7477521" y="3533063"/>
            <a:ext cx="575494" cy="35987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t>Ack</a:t>
            </a:r>
            <a:endParaRPr lang="en-US" b="1" dirty="0"/>
          </a:p>
        </p:txBody>
      </p:sp>
      <p:sp>
        <p:nvSpPr>
          <p:cNvPr id="24" name="TextBox 23"/>
          <p:cNvSpPr txBox="1"/>
          <p:nvPr/>
        </p:nvSpPr>
        <p:spPr>
          <a:xfrm>
            <a:off x="564183" y="3409714"/>
            <a:ext cx="1275349" cy="461665"/>
          </a:xfrm>
          <a:prstGeom prst="rect">
            <a:avLst/>
          </a:prstGeom>
          <a:noFill/>
        </p:spPr>
        <p:txBody>
          <a:bodyPr wrap="none" rtlCol="0">
            <a:spAutoFit/>
          </a:bodyPr>
          <a:lstStyle/>
          <a:p>
            <a:r>
              <a:rPr lang="en-US" sz="2400" b="1" dirty="0"/>
              <a:t>Receiver</a:t>
            </a:r>
          </a:p>
        </p:txBody>
      </p:sp>
      <p:cxnSp>
        <p:nvCxnSpPr>
          <p:cNvPr id="4" name="Straight Arrow Connector 3"/>
          <p:cNvCxnSpPr/>
          <p:nvPr/>
        </p:nvCxnSpPr>
        <p:spPr>
          <a:xfrm>
            <a:off x="564183" y="3245513"/>
            <a:ext cx="795562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301055" y="2884783"/>
            <a:ext cx="1898276" cy="36073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 frame</a:t>
            </a:r>
          </a:p>
        </p:txBody>
      </p:sp>
      <p:sp>
        <p:nvSpPr>
          <p:cNvPr id="23" name="TextBox 22"/>
          <p:cNvSpPr txBox="1"/>
          <p:nvPr/>
        </p:nvSpPr>
        <p:spPr>
          <a:xfrm>
            <a:off x="564183" y="2763020"/>
            <a:ext cx="1080745" cy="461665"/>
          </a:xfrm>
          <a:prstGeom prst="rect">
            <a:avLst/>
          </a:prstGeom>
          <a:noFill/>
        </p:spPr>
        <p:txBody>
          <a:bodyPr wrap="none" rtlCol="0">
            <a:spAutoFit/>
          </a:bodyPr>
          <a:lstStyle/>
          <a:p>
            <a:r>
              <a:rPr lang="en-US" sz="2400" b="1" dirty="0"/>
              <a:t>Sender</a:t>
            </a:r>
          </a:p>
        </p:txBody>
      </p:sp>
      <p:sp>
        <p:nvSpPr>
          <p:cNvPr id="25" name="TextBox 24"/>
          <p:cNvSpPr txBox="1"/>
          <p:nvPr/>
        </p:nvSpPr>
        <p:spPr>
          <a:xfrm>
            <a:off x="8207258" y="2783848"/>
            <a:ext cx="292068" cy="461665"/>
          </a:xfrm>
          <a:prstGeom prst="rect">
            <a:avLst/>
          </a:prstGeom>
          <a:noFill/>
        </p:spPr>
        <p:txBody>
          <a:bodyPr wrap="none" rtlCol="0">
            <a:spAutoFit/>
          </a:bodyPr>
          <a:lstStyle/>
          <a:p>
            <a:r>
              <a:rPr lang="en-US" sz="2400" b="1" dirty="0"/>
              <a:t>t</a:t>
            </a:r>
          </a:p>
        </p:txBody>
      </p:sp>
      <p:cxnSp>
        <p:nvCxnSpPr>
          <p:cNvPr id="30" name="Straight Arrow Connector 29"/>
          <p:cNvCxnSpPr/>
          <p:nvPr/>
        </p:nvCxnSpPr>
        <p:spPr>
          <a:xfrm>
            <a:off x="4199330" y="2647243"/>
            <a:ext cx="1152129" cy="0"/>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924359" y="3454139"/>
            <a:ext cx="288032" cy="432048"/>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5361887" y="2911053"/>
            <a:ext cx="1899802" cy="35194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 frame</a:t>
            </a:r>
          </a:p>
        </p:txBody>
      </p:sp>
      <p:cxnSp>
        <p:nvCxnSpPr>
          <p:cNvPr id="10" name="Straight Connector 9"/>
          <p:cNvCxnSpPr/>
          <p:nvPr/>
        </p:nvCxnSpPr>
        <p:spPr>
          <a:xfrm>
            <a:off x="4199330" y="2503227"/>
            <a:ext cx="0" cy="721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5347449" y="2524054"/>
            <a:ext cx="0" cy="721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2210935" y="3655354"/>
            <a:ext cx="0" cy="721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3128760" y="3711413"/>
            <a:ext cx="0" cy="721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3412225" y="3683670"/>
            <a:ext cx="0" cy="721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8053015" y="3856514"/>
            <a:ext cx="0" cy="526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7261689" y="2439662"/>
            <a:ext cx="0" cy="721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7467694" y="2439662"/>
            <a:ext cx="0" cy="1937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931820" y="3670163"/>
            <a:ext cx="0" cy="721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7456710" y="2640532"/>
            <a:ext cx="554300" cy="0"/>
          </a:xfrm>
          <a:prstGeom prst="straightConnector1">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7580179" y="3902914"/>
            <a:ext cx="399212" cy="461665"/>
          </a:xfrm>
          <a:prstGeom prst="rect">
            <a:avLst/>
          </a:prstGeom>
          <a:noFill/>
        </p:spPr>
        <p:txBody>
          <a:bodyPr wrap="none" rtlCol="0">
            <a:spAutoFit/>
          </a:bodyPr>
          <a:lstStyle/>
          <a:p>
            <a:r>
              <a:rPr lang="en-US" sz="2400" b="1" dirty="0"/>
              <a:t>t</a:t>
            </a:r>
            <a:r>
              <a:rPr lang="en-US" sz="2400" b="1" baseline="-25000" dirty="0"/>
              <a:t>d</a:t>
            </a:r>
          </a:p>
        </p:txBody>
      </p:sp>
      <p:cxnSp>
        <p:nvCxnSpPr>
          <p:cNvPr id="47" name="Straight Arrow Connector 46"/>
          <p:cNvCxnSpPr/>
          <p:nvPr/>
        </p:nvCxnSpPr>
        <p:spPr>
          <a:xfrm flipV="1">
            <a:off x="2210935" y="4332346"/>
            <a:ext cx="916720" cy="14808"/>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3119128" y="4331970"/>
            <a:ext cx="293097" cy="0"/>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1934107" y="4347154"/>
            <a:ext cx="293097" cy="0"/>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859961" y="3913957"/>
            <a:ext cx="365806" cy="461665"/>
          </a:xfrm>
          <a:prstGeom prst="rect">
            <a:avLst/>
          </a:prstGeom>
          <a:noFill/>
        </p:spPr>
        <p:txBody>
          <a:bodyPr wrap="none" rtlCol="0">
            <a:spAutoFit/>
          </a:bodyPr>
          <a:lstStyle/>
          <a:p>
            <a:r>
              <a:rPr lang="en-US" sz="2400" b="1" dirty="0" err="1"/>
              <a:t>t</a:t>
            </a:r>
            <a:r>
              <a:rPr lang="en-US" sz="2400" b="1" baseline="-25000" dirty="0" err="1"/>
              <a:t>r</a:t>
            </a:r>
            <a:endParaRPr lang="en-US" sz="2400" b="1" baseline="-25000" dirty="0"/>
          </a:p>
        </p:txBody>
      </p:sp>
      <p:sp>
        <p:nvSpPr>
          <p:cNvPr id="54" name="TextBox 53"/>
          <p:cNvSpPr txBox="1"/>
          <p:nvPr/>
        </p:nvSpPr>
        <p:spPr>
          <a:xfrm>
            <a:off x="3080241" y="3899598"/>
            <a:ext cx="365806" cy="461665"/>
          </a:xfrm>
          <a:prstGeom prst="rect">
            <a:avLst/>
          </a:prstGeom>
          <a:noFill/>
        </p:spPr>
        <p:txBody>
          <a:bodyPr wrap="none" rtlCol="0">
            <a:spAutoFit/>
          </a:bodyPr>
          <a:lstStyle/>
          <a:p>
            <a:r>
              <a:rPr lang="en-US" sz="2400" b="1" dirty="0" err="1"/>
              <a:t>t</a:t>
            </a:r>
            <a:r>
              <a:rPr lang="en-US" sz="2400" b="1" baseline="-25000" dirty="0" err="1"/>
              <a:t>r</a:t>
            </a:r>
            <a:endParaRPr lang="en-US" sz="2400" b="1" baseline="-25000" dirty="0"/>
          </a:p>
        </p:txBody>
      </p:sp>
      <p:cxnSp>
        <p:nvCxnSpPr>
          <p:cNvPr id="55" name="Straight Arrow Connector 54"/>
          <p:cNvCxnSpPr/>
          <p:nvPr/>
        </p:nvCxnSpPr>
        <p:spPr>
          <a:xfrm flipV="1">
            <a:off x="7467694" y="4331970"/>
            <a:ext cx="576875" cy="376"/>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459216" y="3886624"/>
            <a:ext cx="374590" cy="461665"/>
          </a:xfrm>
          <a:prstGeom prst="rect">
            <a:avLst/>
          </a:prstGeom>
          <a:noFill/>
        </p:spPr>
        <p:txBody>
          <a:bodyPr wrap="none" rtlCol="0">
            <a:spAutoFit/>
          </a:bodyPr>
          <a:lstStyle/>
          <a:p>
            <a:r>
              <a:rPr lang="en-US" sz="2400" b="1" dirty="0" err="1"/>
              <a:t>t</a:t>
            </a:r>
            <a:r>
              <a:rPr lang="en-US" sz="2400" b="1" baseline="-25000" dirty="0" err="1"/>
              <a:t>c</a:t>
            </a:r>
            <a:endParaRPr lang="en-US" sz="2400" b="1" baseline="-25000" dirty="0"/>
          </a:p>
        </p:txBody>
      </p:sp>
      <p:cxnSp>
        <p:nvCxnSpPr>
          <p:cNvPr id="59" name="Straight Arrow Connector 58"/>
          <p:cNvCxnSpPr/>
          <p:nvPr/>
        </p:nvCxnSpPr>
        <p:spPr>
          <a:xfrm>
            <a:off x="5347449" y="2647243"/>
            <a:ext cx="1914240" cy="0"/>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Curved Connector 47"/>
          <p:cNvCxnSpPr>
            <a:stCxn id="49" idx="1"/>
            <a:endCxn id="27" idx="3"/>
          </p:cNvCxnSpPr>
          <p:nvPr/>
        </p:nvCxnSpPr>
        <p:spPr>
          <a:xfrm rot="10800000" flipV="1">
            <a:off x="2212391" y="3526747"/>
            <a:ext cx="208308" cy="143416"/>
          </a:xfrm>
          <a:prstGeom prst="curvedConnector3">
            <a:avLst>
              <a:gd name="adj1" fmla="val 50000"/>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420699" y="3342081"/>
            <a:ext cx="567784" cy="369332"/>
          </a:xfrm>
          <a:prstGeom prst="rect">
            <a:avLst/>
          </a:prstGeom>
          <a:noFill/>
        </p:spPr>
        <p:txBody>
          <a:bodyPr wrap="none" rtlCol="0">
            <a:spAutoFit/>
          </a:bodyPr>
          <a:lstStyle/>
          <a:p>
            <a:r>
              <a:rPr lang="en-US" b="1" dirty="0">
                <a:solidFill>
                  <a:srgbClr val="00B050"/>
                </a:solidFill>
              </a:rPr>
              <a:t>CCA</a:t>
            </a:r>
          </a:p>
        </p:txBody>
      </p:sp>
      <p:cxnSp>
        <p:nvCxnSpPr>
          <p:cNvPr id="51" name="Curved Connector 50"/>
          <p:cNvCxnSpPr>
            <a:stCxn id="49" idx="3"/>
            <a:endCxn id="29" idx="1"/>
          </p:cNvCxnSpPr>
          <p:nvPr/>
        </p:nvCxnSpPr>
        <p:spPr>
          <a:xfrm>
            <a:off x="2988483" y="3526747"/>
            <a:ext cx="130645" cy="150169"/>
          </a:xfrm>
          <a:prstGeom prst="curvedConnector3">
            <a:avLst>
              <a:gd name="adj1" fmla="val 50000"/>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7261689" y="2647243"/>
            <a:ext cx="21583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7" name="Rectangle 66"/>
          <p:cNvSpPr/>
          <p:nvPr/>
        </p:nvSpPr>
        <p:spPr>
          <a:xfrm>
            <a:off x="3383341" y="3446084"/>
            <a:ext cx="3962444" cy="43204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p:cNvGrpSpPr/>
          <p:nvPr/>
        </p:nvGrpSpPr>
        <p:grpSpPr>
          <a:xfrm>
            <a:off x="1156273" y="1688736"/>
            <a:ext cx="6888296" cy="580358"/>
            <a:chOff x="1162691" y="1417639"/>
            <a:chExt cx="6888296" cy="580358"/>
          </a:xfrm>
        </p:grpSpPr>
        <p:sp>
          <p:nvSpPr>
            <p:cNvPr id="74" name="Flowchart: Alternate Process 73"/>
            <p:cNvSpPr/>
            <p:nvPr/>
          </p:nvSpPr>
          <p:spPr>
            <a:xfrm>
              <a:off x="1162691" y="1417639"/>
              <a:ext cx="6888296" cy="580358"/>
            </a:xfrm>
            <a:prstGeom prst="flowChartAlternateProces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lowchart: Process 74"/>
            <p:cNvSpPr/>
            <p:nvPr/>
          </p:nvSpPr>
          <p:spPr>
            <a:xfrm>
              <a:off x="6235209" y="1571684"/>
              <a:ext cx="1351388" cy="313106"/>
            </a:xfrm>
            <a:prstGeom prst="flowChartProcess">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p:cNvSpPr txBox="1"/>
            <p:nvPr/>
          </p:nvSpPr>
          <p:spPr>
            <a:xfrm>
              <a:off x="6478701" y="1530847"/>
              <a:ext cx="893193" cy="338554"/>
            </a:xfrm>
            <a:prstGeom prst="rect">
              <a:avLst/>
            </a:prstGeom>
            <a:noFill/>
          </p:spPr>
          <p:txBody>
            <a:bodyPr wrap="none" rtlCol="0">
              <a:spAutoFit/>
            </a:bodyPr>
            <a:lstStyle/>
            <a:p>
              <a:r>
                <a:rPr lang="en-US" sz="1600" b="1" dirty="0" err="1"/>
                <a:t>Rx,Tx</a:t>
              </a:r>
              <a:r>
                <a:rPr lang="en-US" sz="1600" b="1" dirty="0"/>
                <a:t> on</a:t>
              </a:r>
            </a:p>
          </p:txBody>
        </p:sp>
        <p:sp>
          <p:nvSpPr>
            <p:cNvPr id="77" name="Flowchart: Process 76"/>
            <p:cNvSpPr/>
            <p:nvPr/>
          </p:nvSpPr>
          <p:spPr>
            <a:xfrm>
              <a:off x="4550321" y="1571684"/>
              <a:ext cx="1351388" cy="313106"/>
            </a:xfrm>
            <a:prstGeom prst="flowChartProcess">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4606839" y="1530847"/>
              <a:ext cx="1238352" cy="338554"/>
            </a:xfrm>
            <a:prstGeom prst="rect">
              <a:avLst/>
            </a:prstGeom>
            <a:noFill/>
          </p:spPr>
          <p:txBody>
            <a:bodyPr wrap="none" rtlCol="0">
              <a:spAutoFit/>
            </a:bodyPr>
            <a:lstStyle/>
            <a:p>
              <a:r>
                <a:rPr lang="en-US" sz="1600" b="1" dirty="0"/>
                <a:t>Rx on, </a:t>
              </a:r>
              <a:r>
                <a:rPr lang="en-US" sz="1600" b="1" dirty="0" err="1"/>
                <a:t>Tx</a:t>
              </a:r>
              <a:r>
                <a:rPr lang="en-US" sz="1600" b="1" dirty="0"/>
                <a:t> off</a:t>
              </a:r>
            </a:p>
          </p:txBody>
        </p:sp>
        <p:sp>
          <p:nvSpPr>
            <p:cNvPr id="79" name="TextBox 78"/>
            <p:cNvSpPr txBox="1"/>
            <p:nvPr/>
          </p:nvSpPr>
          <p:spPr>
            <a:xfrm>
              <a:off x="1331640" y="1507763"/>
              <a:ext cx="3162854" cy="400110"/>
            </a:xfrm>
            <a:prstGeom prst="rect">
              <a:avLst/>
            </a:prstGeom>
            <a:noFill/>
          </p:spPr>
          <p:txBody>
            <a:bodyPr wrap="none" rtlCol="0">
              <a:spAutoFit/>
            </a:bodyPr>
            <a:lstStyle/>
            <a:p>
              <a:r>
                <a:rPr lang="en-US" sz="2000" b="1" dirty="0"/>
                <a:t>Radio State representation :</a:t>
              </a:r>
            </a:p>
          </p:txBody>
        </p:sp>
      </p:grpSp>
      <p:sp>
        <p:nvSpPr>
          <p:cNvPr id="29" name="Rectangle 28"/>
          <p:cNvSpPr/>
          <p:nvPr/>
        </p:nvSpPr>
        <p:spPr>
          <a:xfrm>
            <a:off x="3119128" y="3460892"/>
            <a:ext cx="288032" cy="432048"/>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5361887" y="3525078"/>
            <a:ext cx="1899802" cy="35194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 frame</a:t>
            </a:r>
          </a:p>
        </p:txBody>
      </p:sp>
      <p:cxnSp>
        <p:nvCxnSpPr>
          <p:cNvPr id="82" name="Straight Arrow Connector 81"/>
          <p:cNvCxnSpPr/>
          <p:nvPr/>
        </p:nvCxnSpPr>
        <p:spPr>
          <a:xfrm>
            <a:off x="6360077" y="3245513"/>
            <a:ext cx="0" cy="27956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7779785" y="3269931"/>
            <a:ext cx="0" cy="279565"/>
          </a:xfrm>
          <a:prstGeom prst="straightConnector1">
            <a:avLst/>
          </a:prstGeom>
          <a:ln w="38100">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4678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0" y="274638"/>
            <a:ext cx="9144000" cy="60346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t</a:t>
            </a:r>
          </a:p>
        </p:txBody>
      </p:sp>
      <p:sp>
        <p:nvSpPr>
          <p:cNvPr id="2" name="Title 1"/>
          <p:cNvSpPr>
            <a:spLocks noGrp="1"/>
          </p:cNvSpPr>
          <p:nvPr>
            <p:ph type="title"/>
          </p:nvPr>
        </p:nvSpPr>
        <p:spPr/>
        <p:txBody>
          <a:bodyPr/>
          <a:lstStyle/>
          <a:p>
            <a:r>
              <a:rPr lang="en-US" b="1" dirty="0">
                <a:solidFill>
                  <a:schemeClr val="bg1"/>
                </a:solidFill>
              </a:rPr>
              <a:t>TI sniffer : CC2531</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441" y="2305241"/>
            <a:ext cx="8793119" cy="3047697"/>
          </a:xfrm>
          <a:prstGeom prst="rect">
            <a:avLst/>
          </a:prstGeom>
        </p:spPr>
      </p:pic>
      <p:sp>
        <p:nvSpPr>
          <p:cNvPr id="5" name="TextBox 4"/>
          <p:cNvSpPr txBox="1"/>
          <p:nvPr/>
        </p:nvSpPr>
        <p:spPr>
          <a:xfrm>
            <a:off x="2434591" y="5504807"/>
            <a:ext cx="4092787" cy="415498"/>
          </a:xfrm>
          <a:prstGeom prst="rect">
            <a:avLst/>
          </a:prstGeom>
          <a:noFill/>
        </p:spPr>
        <p:txBody>
          <a:bodyPr wrap="none" rtlCol="0">
            <a:spAutoFit/>
          </a:bodyPr>
          <a:lstStyle/>
          <a:p>
            <a:r>
              <a:rPr lang="en-US" sz="2100" b="1" dirty="0" err="1">
                <a:solidFill>
                  <a:schemeClr val="bg1"/>
                </a:solidFill>
              </a:rPr>
              <a:t>t</a:t>
            </a:r>
            <a:r>
              <a:rPr lang="en-US" sz="2100" b="1" baseline="-25000" dirty="0" err="1">
                <a:solidFill>
                  <a:schemeClr val="bg1"/>
                </a:solidFill>
              </a:rPr>
              <a:t>i</a:t>
            </a:r>
            <a:r>
              <a:rPr lang="en-US" sz="2100" b="1" dirty="0">
                <a:solidFill>
                  <a:schemeClr val="bg1"/>
                </a:solidFill>
              </a:rPr>
              <a:t> = 2565 – 55*32 = 805 µs</a:t>
            </a:r>
            <a:r>
              <a:rPr lang="en-US" sz="2100" b="1" dirty="0">
                <a:solidFill>
                  <a:srgbClr val="FFFF00"/>
                </a:solidFill>
              </a:rPr>
              <a:t> &gt; 400 µs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3703" y="1096493"/>
            <a:ext cx="2969748" cy="969506"/>
          </a:xfrm>
          <a:prstGeom prst="rect">
            <a:avLst/>
          </a:prstGeom>
        </p:spPr>
      </p:pic>
    </p:spTree>
    <p:extLst>
      <p:ext uri="{BB962C8B-B14F-4D97-AF65-F5344CB8AC3E}">
        <p14:creationId xmlns:p14="http://schemas.microsoft.com/office/powerpoint/2010/main" val="2255981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617742" y="857250"/>
            <a:ext cx="7941234" cy="5058508"/>
            <a:chOff x="823656" y="0"/>
            <a:chExt cx="10588312" cy="6744677"/>
          </a:xfrm>
        </p:grpSpPr>
        <p:sp>
          <p:nvSpPr>
            <p:cNvPr id="35" name="TextBox 34"/>
            <p:cNvSpPr txBox="1"/>
            <p:nvPr/>
          </p:nvSpPr>
          <p:spPr>
            <a:xfrm>
              <a:off x="1264712" y="6252234"/>
              <a:ext cx="9684873" cy="492443"/>
            </a:xfrm>
            <a:prstGeom prst="rect">
              <a:avLst/>
            </a:prstGeom>
            <a:noFill/>
          </p:spPr>
          <p:txBody>
            <a:bodyPr wrap="none" rtlCol="0">
              <a:spAutoFit/>
            </a:bodyPr>
            <a:lstStyle/>
            <a:p>
              <a:r>
                <a:rPr lang="en-US" b="1" dirty="0">
                  <a:solidFill>
                    <a:srgbClr val="FF0000"/>
                  </a:solidFill>
                </a:rPr>
                <a:t>With slightly different clocks, periodic losses of consecutive packets occur!</a:t>
              </a:r>
            </a:p>
          </p:txBody>
        </p:sp>
        <p:grpSp>
          <p:nvGrpSpPr>
            <p:cNvPr id="3" name="Group 2"/>
            <p:cNvGrpSpPr/>
            <p:nvPr/>
          </p:nvGrpSpPr>
          <p:grpSpPr>
            <a:xfrm>
              <a:off x="823656" y="0"/>
              <a:ext cx="10588312" cy="6046801"/>
              <a:chOff x="823656" y="0"/>
              <a:chExt cx="10588312" cy="6046801"/>
            </a:xfrm>
          </p:grpSpPr>
          <p:sp>
            <p:nvSpPr>
              <p:cNvPr id="2" name="Rounded Rectangle 1"/>
              <p:cNvSpPr/>
              <p:nvPr/>
            </p:nvSpPr>
            <p:spPr>
              <a:xfrm>
                <a:off x="838752" y="0"/>
                <a:ext cx="10573216" cy="604680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8" name="TextBox 37"/>
              <p:cNvSpPr txBox="1"/>
              <p:nvPr/>
            </p:nvSpPr>
            <p:spPr>
              <a:xfrm>
                <a:off x="4170447" y="164013"/>
                <a:ext cx="3592864" cy="553997"/>
              </a:xfrm>
              <a:prstGeom prst="rect">
                <a:avLst/>
              </a:prstGeom>
              <a:noFill/>
            </p:spPr>
            <p:txBody>
              <a:bodyPr wrap="none" rtlCol="0">
                <a:spAutoFit/>
              </a:bodyPr>
              <a:lstStyle/>
              <a:p>
                <a:r>
                  <a:rPr lang="en-US" sz="2100" b="1" dirty="0"/>
                  <a:t>Consequences of </a:t>
                </a:r>
                <a:r>
                  <a:rPr lang="en-US" sz="2100" b="1" dirty="0" err="1"/>
                  <a:t>t</a:t>
                </a:r>
                <a:r>
                  <a:rPr lang="en-US" sz="2100" b="1" baseline="-25000" dirty="0" err="1"/>
                  <a:t>i</a:t>
                </a:r>
                <a:r>
                  <a:rPr lang="en-US" sz="2100" b="1" dirty="0"/>
                  <a:t> &gt; </a:t>
                </a:r>
                <a:r>
                  <a:rPr lang="en-US" sz="2100" b="1" dirty="0" err="1"/>
                  <a:t>t</a:t>
                </a:r>
                <a:r>
                  <a:rPr lang="en-US" sz="2100" b="1" baseline="-25000" dirty="0" err="1"/>
                  <a:t>c</a:t>
                </a:r>
                <a:endParaRPr lang="en-US" sz="2100" b="1" baseline="-25000" dirty="0"/>
              </a:p>
            </p:txBody>
          </p:sp>
          <p:sp>
            <p:nvSpPr>
              <p:cNvPr id="116" name="TextBox 115"/>
              <p:cNvSpPr txBox="1"/>
              <p:nvPr/>
            </p:nvSpPr>
            <p:spPr>
              <a:xfrm>
                <a:off x="5897295" y="1230152"/>
                <a:ext cx="404384" cy="492443"/>
              </a:xfrm>
              <a:prstGeom prst="rect">
                <a:avLst/>
              </a:prstGeom>
              <a:noFill/>
            </p:spPr>
            <p:txBody>
              <a:bodyPr wrap="none" rtlCol="0">
                <a:spAutoFit/>
              </a:bodyPr>
              <a:lstStyle/>
              <a:p>
                <a:r>
                  <a:rPr lang="en-US" b="1" dirty="0" err="1"/>
                  <a:t>t</a:t>
                </a:r>
                <a:r>
                  <a:rPr lang="en-US" b="1" baseline="-25000" dirty="0" err="1"/>
                  <a:t>i</a:t>
                </a:r>
                <a:endParaRPr lang="en-US" b="1" baseline="-25000" dirty="0"/>
              </a:p>
            </p:txBody>
          </p:sp>
          <p:cxnSp>
            <p:nvCxnSpPr>
              <p:cNvPr id="84" name="Straight Connector 83"/>
              <p:cNvCxnSpPr/>
              <p:nvPr/>
            </p:nvCxnSpPr>
            <p:spPr>
              <a:xfrm>
                <a:off x="4530152" y="1319727"/>
                <a:ext cx="0" cy="426071"/>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7556027" y="1308794"/>
                <a:ext cx="21473" cy="437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V="1">
                <a:off x="823656" y="1262863"/>
                <a:ext cx="10573217" cy="67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5" name="Rectangle 84"/>
              <p:cNvSpPr/>
              <p:nvPr/>
            </p:nvSpPr>
            <p:spPr>
              <a:xfrm>
                <a:off x="1330132" y="868088"/>
                <a:ext cx="3200023" cy="3947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07" name="TextBox 106"/>
              <p:cNvSpPr txBox="1"/>
              <p:nvPr/>
            </p:nvSpPr>
            <p:spPr>
              <a:xfrm>
                <a:off x="10923532" y="724019"/>
                <a:ext cx="389424" cy="615553"/>
              </a:xfrm>
              <a:prstGeom prst="rect">
                <a:avLst/>
              </a:prstGeom>
              <a:noFill/>
            </p:spPr>
            <p:txBody>
              <a:bodyPr wrap="none" rtlCol="0">
                <a:spAutoFit/>
              </a:bodyPr>
              <a:lstStyle/>
              <a:p>
                <a:r>
                  <a:rPr lang="en-US" sz="2400" b="1" dirty="0"/>
                  <a:t>t</a:t>
                </a:r>
                <a:endParaRPr lang="en-US" sz="2400" b="1" baseline="-25000" dirty="0"/>
              </a:p>
            </p:txBody>
          </p:sp>
          <p:sp>
            <p:nvSpPr>
              <p:cNvPr id="117" name="TextBox 116"/>
              <p:cNvSpPr txBox="1"/>
              <p:nvPr/>
            </p:nvSpPr>
            <p:spPr>
              <a:xfrm>
                <a:off x="5840833" y="535967"/>
                <a:ext cx="434564" cy="492443"/>
              </a:xfrm>
              <a:prstGeom prst="rect">
                <a:avLst/>
              </a:prstGeom>
              <a:noFill/>
            </p:spPr>
            <p:txBody>
              <a:bodyPr wrap="none" rtlCol="0">
                <a:spAutoFit/>
              </a:bodyPr>
              <a:lstStyle/>
              <a:p>
                <a:r>
                  <a:rPr lang="en-US" b="1" dirty="0" err="1"/>
                  <a:t>t</a:t>
                </a:r>
                <a:r>
                  <a:rPr lang="en-US" b="1" baseline="-25000" dirty="0" err="1"/>
                  <a:t>c</a:t>
                </a:r>
                <a:endParaRPr lang="en-US" b="1" baseline="-25000" dirty="0"/>
              </a:p>
            </p:txBody>
          </p:sp>
          <p:cxnSp>
            <p:nvCxnSpPr>
              <p:cNvPr id="143" name="Straight Arrow Connector 142"/>
              <p:cNvCxnSpPr/>
              <p:nvPr/>
            </p:nvCxnSpPr>
            <p:spPr>
              <a:xfrm flipV="1">
                <a:off x="5422417" y="1022084"/>
                <a:ext cx="1239710" cy="6920"/>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25" name="Rectangle 124"/>
              <p:cNvSpPr/>
              <p:nvPr/>
            </p:nvSpPr>
            <p:spPr>
              <a:xfrm>
                <a:off x="4655598" y="873689"/>
                <a:ext cx="766820" cy="359877"/>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46" name="Rectangle 45"/>
              <p:cNvSpPr/>
              <p:nvPr/>
            </p:nvSpPr>
            <p:spPr>
              <a:xfrm>
                <a:off x="6685239" y="873689"/>
                <a:ext cx="766820" cy="359877"/>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51" name="Rectangle 50"/>
              <p:cNvSpPr/>
              <p:nvPr/>
            </p:nvSpPr>
            <p:spPr>
              <a:xfrm>
                <a:off x="7577503" y="834642"/>
                <a:ext cx="3200023" cy="3947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cxnSp>
            <p:nvCxnSpPr>
              <p:cNvPr id="102" name="Straight Arrow Connector 101"/>
              <p:cNvCxnSpPr/>
              <p:nvPr/>
            </p:nvCxnSpPr>
            <p:spPr>
              <a:xfrm>
                <a:off x="4545250" y="1674077"/>
                <a:ext cx="3047348" cy="2305"/>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823656" y="2388223"/>
                <a:ext cx="10573217" cy="58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0" name="Rectangle 59"/>
              <p:cNvSpPr/>
              <p:nvPr/>
            </p:nvSpPr>
            <p:spPr>
              <a:xfrm>
                <a:off x="1330132" y="2044329"/>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61" name="TextBox 60"/>
              <p:cNvSpPr txBox="1"/>
              <p:nvPr/>
            </p:nvSpPr>
            <p:spPr>
              <a:xfrm>
                <a:off x="10923532" y="1918829"/>
                <a:ext cx="389424" cy="615553"/>
              </a:xfrm>
              <a:prstGeom prst="rect">
                <a:avLst/>
              </a:prstGeom>
              <a:noFill/>
            </p:spPr>
            <p:txBody>
              <a:bodyPr wrap="none" rtlCol="0">
                <a:spAutoFit/>
              </a:bodyPr>
              <a:lstStyle/>
              <a:p>
                <a:r>
                  <a:rPr lang="en-US" sz="2400" b="1" dirty="0"/>
                  <a:t>t</a:t>
                </a:r>
                <a:endParaRPr lang="en-US" sz="2400" b="1" baseline="-25000" dirty="0"/>
              </a:p>
            </p:txBody>
          </p:sp>
          <p:sp>
            <p:nvSpPr>
              <p:cNvPr id="68" name="Rectangle 67"/>
              <p:cNvSpPr/>
              <p:nvPr/>
            </p:nvSpPr>
            <p:spPr>
              <a:xfrm>
                <a:off x="1600530" y="2063557"/>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69" name="Rectangle 68"/>
              <p:cNvSpPr/>
              <p:nvPr/>
            </p:nvSpPr>
            <p:spPr>
              <a:xfrm>
                <a:off x="3630171" y="2063557"/>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63" name="Rectangle 62"/>
              <p:cNvSpPr/>
              <p:nvPr/>
            </p:nvSpPr>
            <p:spPr>
              <a:xfrm>
                <a:off x="7577503" y="2015194"/>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4" name="TextBox 13"/>
              <p:cNvSpPr txBox="1"/>
              <p:nvPr/>
            </p:nvSpPr>
            <p:spPr>
              <a:xfrm>
                <a:off x="8317448" y="1697956"/>
                <a:ext cx="1383284" cy="400109"/>
              </a:xfrm>
              <a:prstGeom prst="rect">
                <a:avLst/>
              </a:prstGeom>
              <a:noFill/>
            </p:spPr>
            <p:txBody>
              <a:bodyPr wrap="none" rtlCol="0">
                <a:spAutoFit/>
              </a:bodyPr>
              <a:lstStyle/>
              <a:p>
                <a:r>
                  <a:rPr lang="en-US" sz="1350" b="1" dirty="0"/>
                  <a:t>PDR = 100%</a:t>
                </a:r>
              </a:p>
            </p:txBody>
          </p:sp>
          <p:sp>
            <p:nvSpPr>
              <p:cNvPr id="130" name="TextBox 129"/>
              <p:cNvSpPr txBox="1"/>
              <p:nvPr/>
            </p:nvSpPr>
            <p:spPr>
              <a:xfrm>
                <a:off x="8304107" y="3983644"/>
                <a:ext cx="1383284" cy="400109"/>
              </a:xfrm>
              <a:prstGeom prst="rect">
                <a:avLst/>
              </a:prstGeom>
              <a:noFill/>
            </p:spPr>
            <p:txBody>
              <a:bodyPr wrap="none" rtlCol="0">
                <a:spAutoFit/>
              </a:bodyPr>
              <a:lstStyle/>
              <a:p>
                <a:r>
                  <a:rPr lang="en-US" sz="1350" b="1" dirty="0"/>
                  <a:t>PDR = 100%</a:t>
                </a:r>
              </a:p>
            </p:txBody>
          </p:sp>
          <p:cxnSp>
            <p:nvCxnSpPr>
              <p:cNvPr id="71" name="Straight Arrow Connector 70"/>
              <p:cNvCxnSpPr/>
              <p:nvPr/>
            </p:nvCxnSpPr>
            <p:spPr>
              <a:xfrm flipV="1">
                <a:off x="823657" y="3130629"/>
                <a:ext cx="10573217" cy="58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2" name="Rectangle 71"/>
              <p:cNvSpPr/>
              <p:nvPr/>
            </p:nvSpPr>
            <p:spPr>
              <a:xfrm>
                <a:off x="1330133" y="2786735"/>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73" name="TextBox 72"/>
              <p:cNvSpPr txBox="1"/>
              <p:nvPr/>
            </p:nvSpPr>
            <p:spPr>
              <a:xfrm>
                <a:off x="10923533" y="2661235"/>
                <a:ext cx="389424" cy="615553"/>
              </a:xfrm>
              <a:prstGeom prst="rect">
                <a:avLst/>
              </a:prstGeom>
              <a:noFill/>
            </p:spPr>
            <p:txBody>
              <a:bodyPr wrap="none" rtlCol="0">
                <a:spAutoFit/>
              </a:bodyPr>
              <a:lstStyle/>
              <a:p>
                <a:r>
                  <a:rPr lang="en-US" sz="2400" b="1" dirty="0"/>
                  <a:t>t</a:t>
                </a:r>
                <a:endParaRPr lang="en-US" sz="2400" b="1" baseline="-25000" dirty="0"/>
              </a:p>
            </p:txBody>
          </p:sp>
          <p:sp>
            <p:nvSpPr>
              <p:cNvPr id="75" name="Rectangle 74"/>
              <p:cNvSpPr/>
              <p:nvPr/>
            </p:nvSpPr>
            <p:spPr>
              <a:xfrm>
                <a:off x="7577504" y="2757600"/>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28" name="TextBox 127"/>
              <p:cNvSpPr txBox="1"/>
              <p:nvPr/>
            </p:nvSpPr>
            <p:spPr>
              <a:xfrm>
                <a:off x="8297837" y="2484749"/>
                <a:ext cx="1383284" cy="400109"/>
              </a:xfrm>
              <a:prstGeom prst="rect">
                <a:avLst/>
              </a:prstGeom>
              <a:noFill/>
            </p:spPr>
            <p:txBody>
              <a:bodyPr wrap="none" rtlCol="0">
                <a:spAutoFit/>
              </a:bodyPr>
              <a:lstStyle/>
              <a:p>
                <a:r>
                  <a:rPr lang="en-US" sz="1350" b="1" dirty="0"/>
                  <a:t>PDR = 100%</a:t>
                </a:r>
              </a:p>
            </p:txBody>
          </p:sp>
          <p:sp>
            <p:nvSpPr>
              <p:cNvPr id="132" name="Rectangle 131"/>
              <p:cNvSpPr/>
              <p:nvPr/>
            </p:nvSpPr>
            <p:spPr>
              <a:xfrm>
                <a:off x="3034989" y="2804765"/>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133" name="Rectangle 132"/>
              <p:cNvSpPr/>
              <p:nvPr/>
            </p:nvSpPr>
            <p:spPr>
              <a:xfrm>
                <a:off x="5064630" y="2804765"/>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cxnSp>
            <p:nvCxnSpPr>
              <p:cNvPr id="93" name="Straight Arrow Connector 92"/>
              <p:cNvCxnSpPr/>
              <p:nvPr/>
            </p:nvCxnSpPr>
            <p:spPr>
              <a:xfrm flipV="1">
                <a:off x="823658" y="3887118"/>
                <a:ext cx="10573217" cy="58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a:xfrm>
                <a:off x="1330134" y="3543224"/>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99" name="TextBox 98"/>
              <p:cNvSpPr txBox="1"/>
              <p:nvPr/>
            </p:nvSpPr>
            <p:spPr>
              <a:xfrm>
                <a:off x="10923535" y="3417722"/>
                <a:ext cx="389424" cy="615553"/>
              </a:xfrm>
              <a:prstGeom prst="rect">
                <a:avLst/>
              </a:prstGeom>
              <a:noFill/>
            </p:spPr>
            <p:txBody>
              <a:bodyPr wrap="none" rtlCol="0">
                <a:spAutoFit/>
              </a:bodyPr>
              <a:lstStyle/>
              <a:p>
                <a:r>
                  <a:rPr lang="en-US" sz="2400" b="1" dirty="0"/>
                  <a:t>t</a:t>
                </a:r>
                <a:endParaRPr lang="en-US" sz="2400" b="1" baseline="-25000" dirty="0"/>
              </a:p>
            </p:txBody>
          </p:sp>
          <p:sp>
            <p:nvSpPr>
              <p:cNvPr id="103" name="Rectangle 102"/>
              <p:cNvSpPr/>
              <p:nvPr/>
            </p:nvSpPr>
            <p:spPr>
              <a:xfrm>
                <a:off x="7577505" y="3514089"/>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29" name="TextBox 128"/>
              <p:cNvSpPr txBox="1"/>
              <p:nvPr/>
            </p:nvSpPr>
            <p:spPr>
              <a:xfrm>
                <a:off x="8274613" y="3227154"/>
                <a:ext cx="1148177" cy="400109"/>
              </a:xfrm>
              <a:prstGeom prst="rect">
                <a:avLst/>
              </a:prstGeom>
              <a:noFill/>
            </p:spPr>
            <p:txBody>
              <a:bodyPr wrap="none" rtlCol="0">
                <a:spAutoFit/>
              </a:bodyPr>
              <a:lstStyle/>
              <a:p>
                <a:r>
                  <a:rPr lang="en-US" sz="1350" b="1" dirty="0">
                    <a:solidFill>
                      <a:srgbClr val="FF0000"/>
                    </a:solidFill>
                  </a:rPr>
                  <a:t>PDR = 0%</a:t>
                </a:r>
              </a:p>
            </p:txBody>
          </p:sp>
          <p:sp>
            <p:nvSpPr>
              <p:cNvPr id="135" name="Rectangle 134"/>
              <p:cNvSpPr/>
              <p:nvPr/>
            </p:nvSpPr>
            <p:spPr>
              <a:xfrm>
                <a:off x="4644992" y="3548885"/>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136" name="Rectangle 135"/>
              <p:cNvSpPr/>
              <p:nvPr/>
            </p:nvSpPr>
            <p:spPr>
              <a:xfrm>
                <a:off x="6674633" y="3548885"/>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cxnSp>
            <p:nvCxnSpPr>
              <p:cNvPr id="112" name="Straight Arrow Connector 111"/>
              <p:cNvCxnSpPr/>
              <p:nvPr/>
            </p:nvCxnSpPr>
            <p:spPr>
              <a:xfrm flipV="1">
                <a:off x="838751" y="4831284"/>
                <a:ext cx="10573217" cy="58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3" name="Rectangle 112"/>
              <p:cNvSpPr/>
              <p:nvPr/>
            </p:nvSpPr>
            <p:spPr>
              <a:xfrm>
                <a:off x="1345227" y="4487390"/>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14" name="TextBox 113"/>
              <p:cNvSpPr txBox="1"/>
              <p:nvPr/>
            </p:nvSpPr>
            <p:spPr>
              <a:xfrm>
                <a:off x="10938627" y="4361889"/>
                <a:ext cx="389424" cy="615553"/>
              </a:xfrm>
              <a:prstGeom prst="rect">
                <a:avLst/>
              </a:prstGeom>
              <a:noFill/>
            </p:spPr>
            <p:txBody>
              <a:bodyPr wrap="none" rtlCol="0">
                <a:spAutoFit/>
              </a:bodyPr>
              <a:lstStyle/>
              <a:p>
                <a:r>
                  <a:rPr lang="en-US" sz="2400" b="1" dirty="0"/>
                  <a:t>t</a:t>
                </a:r>
                <a:endParaRPr lang="en-US" sz="2400" b="1" baseline="-25000" dirty="0"/>
              </a:p>
            </p:txBody>
          </p:sp>
          <p:sp>
            <p:nvSpPr>
              <p:cNvPr id="119" name="Rectangle 118"/>
              <p:cNvSpPr/>
              <p:nvPr/>
            </p:nvSpPr>
            <p:spPr>
              <a:xfrm>
                <a:off x="7592598" y="4458254"/>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38" name="Rectangle 137"/>
              <p:cNvSpPr/>
              <p:nvPr/>
            </p:nvSpPr>
            <p:spPr>
              <a:xfrm>
                <a:off x="5685513" y="4488856"/>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141" name="Rectangle 140"/>
              <p:cNvSpPr/>
              <p:nvPr/>
            </p:nvSpPr>
            <p:spPr>
              <a:xfrm>
                <a:off x="7715154" y="4488856"/>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cxnSp>
            <p:nvCxnSpPr>
              <p:cNvPr id="142" name="Straight Arrow Connector 141"/>
              <p:cNvCxnSpPr/>
              <p:nvPr/>
            </p:nvCxnSpPr>
            <p:spPr>
              <a:xfrm flipV="1">
                <a:off x="1006434" y="5647108"/>
                <a:ext cx="10244432" cy="588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47" name="TextBox 146"/>
              <p:cNvSpPr txBox="1"/>
              <p:nvPr/>
            </p:nvSpPr>
            <p:spPr>
              <a:xfrm>
                <a:off x="8317448" y="4927810"/>
                <a:ext cx="1383284" cy="400109"/>
              </a:xfrm>
              <a:prstGeom prst="rect">
                <a:avLst/>
              </a:prstGeom>
              <a:noFill/>
            </p:spPr>
            <p:txBody>
              <a:bodyPr wrap="none" rtlCol="0">
                <a:spAutoFit/>
              </a:bodyPr>
              <a:lstStyle/>
              <a:p>
                <a:r>
                  <a:rPr lang="en-US" sz="1350" b="1" dirty="0"/>
                  <a:t>PDR = 100%</a:t>
                </a:r>
              </a:p>
            </p:txBody>
          </p:sp>
          <p:sp>
            <p:nvSpPr>
              <p:cNvPr id="145" name="Rectangle 144"/>
              <p:cNvSpPr/>
              <p:nvPr/>
            </p:nvSpPr>
            <p:spPr>
              <a:xfrm>
                <a:off x="1345227" y="5335190"/>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46" name="Rectangle 145"/>
              <p:cNvSpPr/>
              <p:nvPr/>
            </p:nvSpPr>
            <p:spPr>
              <a:xfrm>
                <a:off x="7592598" y="5306055"/>
                <a:ext cx="3200023" cy="3438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49" name="Rectangle 148"/>
              <p:cNvSpPr/>
              <p:nvPr/>
            </p:nvSpPr>
            <p:spPr>
              <a:xfrm>
                <a:off x="8117046" y="5319835"/>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151" name="Rectangle 150"/>
              <p:cNvSpPr/>
              <p:nvPr/>
            </p:nvSpPr>
            <p:spPr>
              <a:xfrm>
                <a:off x="10146687" y="5319835"/>
                <a:ext cx="766820" cy="313494"/>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grpSp>
      </p:grpSp>
    </p:spTree>
    <p:extLst>
      <p:ext uri="{BB962C8B-B14F-4D97-AF65-F5344CB8AC3E}">
        <p14:creationId xmlns:p14="http://schemas.microsoft.com/office/powerpoint/2010/main" val="1064910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575799" y="1199681"/>
            <a:ext cx="7941235" cy="4074013"/>
            <a:chOff x="767731" y="456574"/>
            <a:chExt cx="10588313" cy="5432017"/>
          </a:xfrm>
        </p:grpSpPr>
        <p:sp>
          <p:nvSpPr>
            <p:cNvPr id="35" name="TextBox 34"/>
            <p:cNvSpPr txBox="1"/>
            <p:nvPr/>
          </p:nvSpPr>
          <p:spPr>
            <a:xfrm>
              <a:off x="1316058" y="5026816"/>
              <a:ext cx="9491660" cy="861775"/>
            </a:xfrm>
            <a:prstGeom prst="rect">
              <a:avLst/>
            </a:prstGeom>
            <a:noFill/>
          </p:spPr>
          <p:txBody>
            <a:bodyPr wrap="square" rtlCol="0">
              <a:spAutoFit/>
            </a:bodyPr>
            <a:lstStyle/>
            <a:p>
              <a:pPr algn="ctr"/>
              <a:r>
                <a:rPr lang="en-US" b="1" dirty="0">
                  <a:solidFill>
                    <a:srgbClr val="FF0000"/>
                  </a:solidFill>
                </a:rPr>
                <a:t>We believe this is the only good long term approach, but extensive testing, with different protocols above the MAC layer, is required</a:t>
              </a:r>
            </a:p>
          </p:txBody>
        </p:sp>
        <p:grpSp>
          <p:nvGrpSpPr>
            <p:cNvPr id="20" name="Group 19"/>
            <p:cNvGrpSpPr/>
            <p:nvPr/>
          </p:nvGrpSpPr>
          <p:grpSpPr>
            <a:xfrm>
              <a:off x="767731" y="456574"/>
              <a:ext cx="10588313" cy="4318625"/>
              <a:chOff x="767731" y="456574"/>
              <a:chExt cx="10588313" cy="4318625"/>
            </a:xfrm>
          </p:grpSpPr>
          <p:sp>
            <p:nvSpPr>
              <p:cNvPr id="2" name="Rounded Rectangle 1"/>
              <p:cNvSpPr/>
              <p:nvPr/>
            </p:nvSpPr>
            <p:spPr>
              <a:xfrm>
                <a:off x="782828" y="456574"/>
                <a:ext cx="10573216" cy="431862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8" name="TextBox 37"/>
              <p:cNvSpPr txBox="1"/>
              <p:nvPr/>
            </p:nvSpPr>
            <p:spPr>
              <a:xfrm>
                <a:off x="4399595" y="634095"/>
                <a:ext cx="3283207" cy="553997"/>
              </a:xfrm>
              <a:prstGeom prst="rect">
                <a:avLst/>
              </a:prstGeom>
              <a:noFill/>
            </p:spPr>
            <p:txBody>
              <a:bodyPr wrap="none" rtlCol="0">
                <a:spAutoFit/>
              </a:bodyPr>
              <a:lstStyle/>
              <a:p>
                <a:r>
                  <a:rPr lang="en-US" sz="2100" b="1" dirty="0"/>
                  <a:t>Solution : increase </a:t>
                </a:r>
                <a:r>
                  <a:rPr lang="en-US" sz="2100" b="1" dirty="0" err="1"/>
                  <a:t>t</a:t>
                </a:r>
                <a:r>
                  <a:rPr lang="en-US" sz="2100" b="1" baseline="-25000" dirty="0" err="1"/>
                  <a:t>c</a:t>
                </a:r>
                <a:endParaRPr lang="en-US" sz="2100" b="1" baseline="-25000" dirty="0"/>
              </a:p>
            </p:txBody>
          </p:sp>
          <p:grpSp>
            <p:nvGrpSpPr>
              <p:cNvPr id="18" name="Group 17"/>
              <p:cNvGrpSpPr/>
              <p:nvPr/>
            </p:nvGrpSpPr>
            <p:grpSpPr>
              <a:xfrm>
                <a:off x="782827" y="1520914"/>
                <a:ext cx="10573217" cy="1124048"/>
                <a:chOff x="782827" y="1520914"/>
                <a:chExt cx="10573217" cy="1124048"/>
              </a:xfrm>
            </p:grpSpPr>
            <p:sp>
              <p:nvSpPr>
                <p:cNvPr id="116" name="TextBox 115"/>
                <p:cNvSpPr txBox="1"/>
                <p:nvPr/>
              </p:nvSpPr>
              <p:spPr>
                <a:xfrm>
                  <a:off x="5856466" y="2129317"/>
                  <a:ext cx="404384" cy="492443"/>
                </a:xfrm>
                <a:prstGeom prst="rect">
                  <a:avLst/>
                </a:prstGeom>
                <a:noFill/>
              </p:spPr>
              <p:txBody>
                <a:bodyPr wrap="none" rtlCol="0">
                  <a:spAutoFit/>
                </a:bodyPr>
                <a:lstStyle/>
                <a:p>
                  <a:r>
                    <a:rPr lang="en-US" b="1" dirty="0" err="1"/>
                    <a:t>t</a:t>
                  </a:r>
                  <a:r>
                    <a:rPr lang="en-US" b="1" baseline="-25000" dirty="0" err="1"/>
                    <a:t>i</a:t>
                  </a:r>
                  <a:endParaRPr lang="en-US" b="1" baseline="-25000" dirty="0"/>
                </a:p>
              </p:txBody>
            </p:sp>
            <p:cxnSp>
              <p:nvCxnSpPr>
                <p:cNvPr id="84" name="Straight Connector 83"/>
                <p:cNvCxnSpPr/>
                <p:nvPr/>
              </p:nvCxnSpPr>
              <p:spPr>
                <a:xfrm>
                  <a:off x="4489323" y="2218891"/>
                  <a:ext cx="0" cy="426071"/>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flipH="1">
                  <a:off x="7536671" y="2199289"/>
                  <a:ext cx="3" cy="445673"/>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V="1">
                  <a:off x="782827" y="2162027"/>
                  <a:ext cx="10573217" cy="67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5" name="Rectangle 84"/>
                <p:cNvSpPr/>
                <p:nvPr/>
              </p:nvSpPr>
              <p:spPr>
                <a:xfrm>
                  <a:off x="1289303" y="1767252"/>
                  <a:ext cx="3200023" cy="3947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107" name="TextBox 106"/>
                <p:cNvSpPr txBox="1"/>
                <p:nvPr/>
              </p:nvSpPr>
              <p:spPr>
                <a:xfrm>
                  <a:off x="10882703" y="1623183"/>
                  <a:ext cx="389424" cy="615553"/>
                </a:xfrm>
                <a:prstGeom prst="rect">
                  <a:avLst/>
                </a:prstGeom>
                <a:noFill/>
              </p:spPr>
              <p:txBody>
                <a:bodyPr wrap="none" rtlCol="0">
                  <a:spAutoFit/>
                </a:bodyPr>
                <a:lstStyle/>
                <a:p>
                  <a:r>
                    <a:rPr lang="en-US" sz="2400" b="1" dirty="0"/>
                    <a:t>t</a:t>
                  </a:r>
                  <a:endParaRPr lang="en-US" sz="2400" b="1" baseline="-25000" dirty="0"/>
                </a:p>
              </p:txBody>
            </p:sp>
            <p:sp>
              <p:nvSpPr>
                <p:cNvPr id="51" name="Rectangle 50"/>
                <p:cNvSpPr/>
                <p:nvPr/>
              </p:nvSpPr>
              <p:spPr>
                <a:xfrm>
                  <a:off x="7536674" y="1733806"/>
                  <a:ext cx="3200023" cy="3947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cxnSp>
              <p:nvCxnSpPr>
                <p:cNvPr id="102" name="Straight Arrow Connector 101"/>
                <p:cNvCxnSpPr/>
                <p:nvPr/>
              </p:nvCxnSpPr>
              <p:spPr>
                <a:xfrm>
                  <a:off x="4504421" y="2573241"/>
                  <a:ext cx="3047348" cy="2305"/>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3590062" y="1520914"/>
                  <a:ext cx="4879415" cy="632084"/>
                  <a:chOff x="3590062" y="1520914"/>
                  <a:chExt cx="4879415" cy="632084"/>
                </a:xfrm>
              </p:grpSpPr>
              <p:sp>
                <p:nvSpPr>
                  <p:cNvPr id="117" name="TextBox 116"/>
                  <p:cNvSpPr txBox="1"/>
                  <p:nvPr/>
                </p:nvSpPr>
                <p:spPr>
                  <a:xfrm>
                    <a:off x="5477607" y="1520914"/>
                    <a:ext cx="434564" cy="492443"/>
                  </a:xfrm>
                  <a:prstGeom prst="rect">
                    <a:avLst/>
                  </a:prstGeom>
                  <a:noFill/>
                </p:spPr>
                <p:txBody>
                  <a:bodyPr wrap="none" rtlCol="0">
                    <a:spAutoFit/>
                  </a:bodyPr>
                  <a:lstStyle/>
                  <a:p>
                    <a:r>
                      <a:rPr lang="en-US" b="1" dirty="0" err="1"/>
                      <a:t>t</a:t>
                    </a:r>
                    <a:r>
                      <a:rPr lang="en-US" b="1" baseline="-25000" dirty="0" err="1"/>
                      <a:t>c</a:t>
                    </a:r>
                    <a:endParaRPr lang="en-US" b="1" baseline="-25000" dirty="0"/>
                  </a:p>
                </p:txBody>
              </p:sp>
              <p:cxnSp>
                <p:nvCxnSpPr>
                  <p:cNvPr id="143" name="Straight Arrow Connector 142"/>
                  <p:cNvCxnSpPr>
                    <a:stCxn id="125" idx="3"/>
                    <a:endCxn id="46" idx="1"/>
                  </p:cNvCxnSpPr>
                  <p:nvPr/>
                </p:nvCxnSpPr>
                <p:spPr>
                  <a:xfrm>
                    <a:off x="4356882" y="1969719"/>
                    <a:ext cx="3345775" cy="3341"/>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3590062" y="1789780"/>
                    <a:ext cx="4879415" cy="363218"/>
                    <a:chOff x="3630891" y="890616"/>
                    <a:chExt cx="4879415" cy="363218"/>
                  </a:xfrm>
                </p:grpSpPr>
                <p:sp>
                  <p:nvSpPr>
                    <p:cNvPr id="125" name="Rectangle 124"/>
                    <p:cNvSpPr/>
                    <p:nvPr/>
                  </p:nvSpPr>
                  <p:spPr>
                    <a:xfrm>
                      <a:off x="3630891" y="890616"/>
                      <a:ext cx="766820" cy="359877"/>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46" name="Rectangle 45"/>
                    <p:cNvSpPr/>
                    <p:nvPr/>
                  </p:nvSpPr>
                  <p:spPr>
                    <a:xfrm>
                      <a:off x="7743486" y="893957"/>
                      <a:ext cx="766820" cy="359877"/>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grpSp>
            </p:grpSp>
          </p:grpSp>
          <p:sp>
            <p:nvSpPr>
              <p:cNvPr id="15" name="TextBox 14"/>
              <p:cNvSpPr txBox="1"/>
              <p:nvPr/>
            </p:nvSpPr>
            <p:spPr>
              <a:xfrm>
                <a:off x="3334799" y="2845067"/>
                <a:ext cx="5090197" cy="861775"/>
              </a:xfrm>
              <a:prstGeom prst="rect">
                <a:avLst/>
              </a:prstGeom>
              <a:noFill/>
            </p:spPr>
            <p:txBody>
              <a:bodyPr wrap="none" rtlCol="0">
                <a:spAutoFit/>
              </a:bodyPr>
              <a:lstStyle/>
              <a:p>
                <a:pPr algn="ctr"/>
                <a:r>
                  <a:rPr lang="en-US" b="1" i="1" dirty="0"/>
                  <a:t>But short packets may go undetected!</a:t>
                </a:r>
              </a:p>
              <a:p>
                <a:pPr algn="ctr"/>
                <a:r>
                  <a:rPr lang="en-US" b="1" i="1" dirty="0"/>
                  <a:t>Padding required!</a:t>
                </a:r>
              </a:p>
            </p:txBody>
          </p:sp>
          <p:grpSp>
            <p:nvGrpSpPr>
              <p:cNvPr id="19" name="Group 18"/>
              <p:cNvGrpSpPr/>
              <p:nvPr/>
            </p:nvGrpSpPr>
            <p:grpSpPr>
              <a:xfrm>
                <a:off x="767731" y="3640466"/>
                <a:ext cx="10573217" cy="615553"/>
                <a:chOff x="767731" y="3640466"/>
                <a:chExt cx="10573217" cy="615553"/>
              </a:xfrm>
            </p:grpSpPr>
            <p:grpSp>
              <p:nvGrpSpPr>
                <p:cNvPr id="13" name="Group 12"/>
                <p:cNvGrpSpPr/>
                <p:nvPr/>
              </p:nvGrpSpPr>
              <p:grpSpPr>
                <a:xfrm>
                  <a:off x="767731" y="3640466"/>
                  <a:ext cx="10573217" cy="615553"/>
                  <a:chOff x="823656" y="1918829"/>
                  <a:chExt cx="10573217" cy="615553"/>
                </a:xfrm>
              </p:grpSpPr>
              <p:cxnSp>
                <p:nvCxnSpPr>
                  <p:cNvPr id="58" name="Straight Arrow Connector 57"/>
                  <p:cNvCxnSpPr/>
                  <p:nvPr/>
                </p:nvCxnSpPr>
                <p:spPr>
                  <a:xfrm flipV="1">
                    <a:off x="823656" y="2389862"/>
                    <a:ext cx="10573217" cy="58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0923532" y="1918829"/>
                    <a:ext cx="389424" cy="615553"/>
                  </a:xfrm>
                  <a:prstGeom prst="rect">
                    <a:avLst/>
                  </a:prstGeom>
                  <a:noFill/>
                </p:spPr>
                <p:txBody>
                  <a:bodyPr wrap="none" rtlCol="0">
                    <a:spAutoFit/>
                  </a:bodyPr>
                  <a:lstStyle/>
                  <a:p>
                    <a:r>
                      <a:rPr lang="en-US" sz="2400" b="1" dirty="0"/>
                      <a:t>t</a:t>
                    </a:r>
                    <a:endParaRPr lang="en-US" sz="2400" b="1" baseline="-25000" dirty="0"/>
                  </a:p>
                </p:txBody>
              </p:sp>
              <p:sp>
                <p:nvSpPr>
                  <p:cNvPr id="63" name="Rectangle 62"/>
                  <p:cNvSpPr/>
                  <p:nvPr/>
                </p:nvSpPr>
                <p:spPr>
                  <a:xfrm>
                    <a:off x="7577504" y="2032732"/>
                    <a:ext cx="2565564" cy="3263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sp>
                <p:nvSpPr>
                  <p:cNvPr id="62" name="Rectangle 61"/>
                  <p:cNvSpPr/>
                  <p:nvPr/>
                </p:nvSpPr>
                <p:spPr>
                  <a:xfrm>
                    <a:off x="1964209" y="2050407"/>
                    <a:ext cx="2565564" cy="3263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Data frame</a:t>
                    </a:r>
                  </a:p>
                </p:txBody>
              </p:sp>
              <p:grpSp>
                <p:nvGrpSpPr>
                  <p:cNvPr id="76" name="Group 75"/>
                  <p:cNvGrpSpPr/>
                  <p:nvPr/>
                </p:nvGrpSpPr>
                <p:grpSpPr>
                  <a:xfrm>
                    <a:off x="838752" y="2010039"/>
                    <a:ext cx="4879415" cy="363218"/>
                    <a:chOff x="3630891" y="890616"/>
                    <a:chExt cx="4879415" cy="363218"/>
                  </a:xfrm>
                </p:grpSpPr>
                <p:sp>
                  <p:nvSpPr>
                    <p:cNvPr id="78" name="Rectangle 77"/>
                    <p:cNvSpPr/>
                    <p:nvPr/>
                  </p:nvSpPr>
                  <p:spPr>
                    <a:xfrm>
                      <a:off x="3630891" y="890616"/>
                      <a:ext cx="766820" cy="359877"/>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sp>
                  <p:nvSpPr>
                    <p:cNvPr id="79" name="Rectangle 78"/>
                    <p:cNvSpPr/>
                    <p:nvPr/>
                  </p:nvSpPr>
                  <p:spPr>
                    <a:xfrm>
                      <a:off x="7743486" y="893957"/>
                      <a:ext cx="766820" cy="359877"/>
                    </a:xfrm>
                    <a:prstGeom prst="rect">
                      <a:avLst/>
                    </a:prstGeom>
                    <a:solidFill>
                      <a:srgbClr val="D266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CCA</a:t>
                      </a:r>
                    </a:p>
                  </p:txBody>
                </p:sp>
              </p:grpSp>
            </p:grpSp>
            <p:cxnSp>
              <p:nvCxnSpPr>
                <p:cNvPr id="80" name="Straight Arrow Connector 79"/>
                <p:cNvCxnSpPr/>
                <p:nvPr/>
              </p:nvCxnSpPr>
              <p:spPr>
                <a:xfrm>
                  <a:off x="1564744" y="3886764"/>
                  <a:ext cx="3345775" cy="3341"/>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1711451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RDC : </a:t>
            </a:r>
            <a:r>
              <a:rPr lang="en-US" dirty="0" err="1"/>
              <a:t>ContikiMAC</a:t>
            </a:r>
            <a:br>
              <a:rPr lang="en-US" sz="2000" dirty="0"/>
            </a:br>
            <a:r>
              <a:rPr lang="en-US" sz="2800" b="1" dirty="0"/>
              <a:t>6. Power savings</a:t>
            </a:r>
            <a:endParaRPr lang="en-US" sz="2000" dirty="0"/>
          </a:p>
        </p:txBody>
      </p:sp>
      <p:sp>
        <p:nvSpPr>
          <p:cNvPr id="3" name="Slide Number Placeholder 2"/>
          <p:cNvSpPr>
            <a:spLocks noGrp="1"/>
          </p:cNvSpPr>
          <p:nvPr>
            <p:ph type="sldNum" sz="quarter" idx="12"/>
          </p:nvPr>
        </p:nvSpPr>
        <p:spPr/>
        <p:txBody>
          <a:bodyPr/>
          <a:lstStyle/>
          <a:p>
            <a:fld id="{5889CBBA-8305-4466-BB85-F253002DC7EE}" type="slidenum">
              <a:rPr lang="en-US" smtClean="0"/>
              <a:t>28</a:t>
            </a:fld>
            <a:endParaRPr lang="en-US"/>
          </a:p>
        </p:txBody>
      </p:sp>
      <p:sp>
        <p:nvSpPr>
          <p:cNvPr id="4" name="TextBox 3"/>
          <p:cNvSpPr txBox="1"/>
          <p:nvPr/>
        </p:nvSpPr>
        <p:spPr>
          <a:xfrm>
            <a:off x="755576" y="1628800"/>
            <a:ext cx="7931224" cy="4154984"/>
          </a:xfrm>
          <a:prstGeom prst="rect">
            <a:avLst/>
          </a:prstGeom>
          <a:noFill/>
        </p:spPr>
        <p:txBody>
          <a:bodyPr wrap="square" rtlCol="0">
            <a:spAutoFit/>
          </a:bodyPr>
          <a:lstStyle/>
          <a:p>
            <a:r>
              <a:rPr lang="en-US" sz="2400" dirty="0"/>
              <a:t>As it was described in the previous slides </a:t>
            </a:r>
            <a:r>
              <a:rPr lang="en-US" sz="2400" dirty="0" err="1"/>
              <a:t>ContikiMAC</a:t>
            </a:r>
            <a:r>
              <a:rPr lang="en-US" sz="2400" dirty="0"/>
              <a:t> is not clearly better than XMAC:</a:t>
            </a:r>
          </a:p>
          <a:p>
            <a:pPr lvl="1"/>
            <a:r>
              <a:rPr lang="en-US" sz="2400" dirty="0"/>
              <a:t>-    Any radio activity will wake up the receiver</a:t>
            </a:r>
          </a:p>
          <a:p>
            <a:pPr marL="800100" lvl="1" indent="-342900">
              <a:buFontTx/>
              <a:buChar char="-"/>
            </a:pPr>
            <a:r>
              <a:rPr lang="en-US" sz="2400" dirty="0"/>
              <a:t>Repeated transmissions of frames </a:t>
            </a:r>
          </a:p>
          <a:p>
            <a:pPr marL="1257300" lvl="2" indent="-342900">
              <a:buFontTx/>
              <a:buChar char="-"/>
            </a:pPr>
            <a:r>
              <a:rPr lang="en-US" sz="2400" dirty="0"/>
              <a:t>uses much energy </a:t>
            </a:r>
          </a:p>
          <a:p>
            <a:pPr marL="1257300" lvl="2" indent="-342900">
              <a:buFontTx/>
              <a:buChar char="-"/>
            </a:pPr>
            <a:r>
              <a:rPr lang="en-US" sz="2400" dirty="0"/>
              <a:t>blocks all radio traffic in the neighborhood.</a:t>
            </a:r>
          </a:p>
          <a:p>
            <a:r>
              <a:rPr lang="en-US" sz="2400" dirty="0"/>
              <a:t>But specific power saving features are included in </a:t>
            </a:r>
            <a:r>
              <a:rPr lang="en-US" sz="2400" dirty="0" err="1"/>
              <a:t>ContikiMAC</a:t>
            </a:r>
            <a:r>
              <a:rPr lang="en-US" sz="2400" dirty="0"/>
              <a:t> :</a:t>
            </a:r>
          </a:p>
          <a:p>
            <a:pPr marL="742950" lvl="1" indent="-285750">
              <a:buFontTx/>
              <a:buChar char="-"/>
            </a:pPr>
            <a:r>
              <a:rPr lang="en-US" sz="2400" dirty="0"/>
              <a:t>Fast return to sleep when wake-up was useless</a:t>
            </a:r>
          </a:p>
          <a:p>
            <a:pPr marL="742950" lvl="1" indent="-285750">
              <a:buFontTx/>
              <a:buChar char="-"/>
            </a:pPr>
            <a:r>
              <a:rPr lang="en-US" sz="2400" dirty="0"/>
              <a:t>Synchronization of transmissions with wake-up cycles of receivers to reduce number of retransmissions.  </a:t>
            </a:r>
          </a:p>
        </p:txBody>
      </p:sp>
    </p:spTree>
    <p:extLst>
      <p:ext uri="{BB962C8B-B14F-4D97-AF65-F5344CB8AC3E}">
        <p14:creationId xmlns:p14="http://schemas.microsoft.com/office/powerpoint/2010/main" val="13379148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dirty="0"/>
              <a:t>RDC : </a:t>
            </a:r>
            <a:r>
              <a:rPr lang="en-US" sz="4800" dirty="0" err="1"/>
              <a:t>ContikiMAC</a:t>
            </a:r>
            <a:br>
              <a:rPr lang="en-US" sz="2800" dirty="0"/>
            </a:br>
            <a:r>
              <a:rPr lang="en-US" sz="3100" b="1" dirty="0"/>
              <a:t>7</a:t>
            </a:r>
            <a:r>
              <a:rPr lang="en-US" sz="3600" b="1" dirty="0"/>
              <a:t>. </a:t>
            </a:r>
            <a:r>
              <a:rPr lang="en-US" sz="3100" b="1" dirty="0"/>
              <a:t>Fast Sleep optimizations : too long frame</a:t>
            </a:r>
            <a:endParaRPr lang="en-US" b="1" dirty="0"/>
          </a:p>
        </p:txBody>
      </p:sp>
      <p:cxnSp>
        <p:nvCxnSpPr>
          <p:cNvPr id="5" name="Straight Arrow Connector 4"/>
          <p:cNvCxnSpPr/>
          <p:nvPr/>
        </p:nvCxnSpPr>
        <p:spPr>
          <a:xfrm>
            <a:off x="965586" y="3954021"/>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980174" y="3492356"/>
            <a:ext cx="1275349" cy="461665"/>
          </a:xfrm>
          <a:prstGeom prst="rect">
            <a:avLst/>
          </a:prstGeom>
          <a:noFill/>
        </p:spPr>
        <p:txBody>
          <a:bodyPr wrap="none" rtlCol="0">
            <a:spAutoFit/>
          </a:bodyPr>
          <a:lstStyle/>
          <a:p>
            <a:r>
              <a:rPr lang="en-US" sz="2400" b="1" dirty="0"/>
              <a:t>Receiver</a:t>
            </a:r>
          </a:p>
        </p:txBody>
      </p:sp>
      <p:cxnSp>
        <p:nvCxnSpPr>
          <p:cNvPr id="4" name="Straight Arrow Connector 3"/>
          <p:cNvCxnSpPr/>
          <p:nvPr/>
        </p:nvCxnSpPr>
        <p:spPr>
          <a:xfrm>
            <a:off x="965586" y="3364926"/>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141173" y="2932878"/>
            <a:ext cx="5239139"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Radio Noise</a:t>
            </a:r>
          </a:p>
        </p:txBody>
      </p:sp>
      <p:sp>
        <p:nvSpPr>
          <p:cNvPr id="23" name="TextBox 22"/>
          <p:cNvSpPr txBox="1"/>
          <p:nvPr/>
        </p:nvSpPr>
        <p:spPr>
          <a:xfrm>
            <a:off x="965585" y="2882434"/>
            <a:ext cx="1080745" cy="461665"/>
          </a:xfrm>
          <a:prstGeom prst="rect">
            <a:avLst/>
          </a:prstGeom>
          <a:noFill/>
        </p:spPr>
        <p:txBody>
          <a:bodyPr wrap="none" rtlCol="0">
            <a:spAutoFit/>
          </a:bodyPr>
          <a:lstStyle/>
          <a:p>
            <a:r>
              <a:rPr lang="en-US" sz="2400" b="1" dirty="0"/>
              <a:t>Sender</a:t>
            </a:r>
          </a:p>
        </p:txBody>
      </p:sp>
      <p:sp>
        <p:nvSpPr>
          <p:cNvPr id="27" name="Rectangle 26"/>
          <p:cNvSpPr/>
          <p:nvPr/>
        </p:nvSpPr>
        <p:spPr>
          <a:xfrm>
            <a:off x="2919427" y="3507164"/>
            <a:ext cx="3164741" cy="432048"/>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awake</a:t>
            </a:r>
          </a:p>
        </p:txBody>
      </p:sp>
      <p:cxnSp>
        <p:nvCxnSpPr>
          <p:cNvPr id="38" name="Straight Connector 37"/>
          <p:cNvCxnSpPr/>
          <p:nvPr/>
        </p:nvCxnSpPr>
        <p:spPr>
          <a:xfrm>
            <a:off x="6068838" y="3954021"/>
            <a:ext cx="1779" cy="529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V="1">
            <a:off x="2909849" y="4381740"/>
            <a:ext cx="3160768" cy="5478"/>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985131" y="3914496"/>
            <a:ext cx="3033331" cy="461665"/>
          </a:xfrm>
          <a:prstGeom prst="rect">
            <a:avLst/>
          </a:prstGeom>
          <a:noFill/>
        </p:spPr>
        <p:txBody>
          <a:bodyPr wrap="none" rtlCol="0">
            <a:spAutoFit/>
          </a:bodyPr>
          <a:lstStyle/>
          <a:p>
            <a:r>
              <a:rPr lang="en-US" sz="2400" b="1" dirty="0"/>
              <a:t>t </a:t>
            </a:r>
            <a:r>
              <a:rPr lang="en-US" sz="2400" b="1" baseline="-25000" dirty="0"/>
              <a:t>max frame length </a:t>
            </a:r>
            <a:r>
              <a:rPr lang="en-US" sz="2400" b="1" dirty="0"/>
              <a:t>= 4.5 </a:t>
            </a:r>
            <a:r>
              <a:rPr lang="en-US" sz="2400" b="1" dirty="0" err="1"/>
              <a:t>ms</a:t>
            </a:r>
            <a:r>
              <a:rPr lang="en-US" sz="2400" b="1" dirty="0"/>
              <a:t> </a:t>
            </a:r>
          </a:p>
        </p:txBody>
      </p:sp>
      <p:sp>
        <p:nvSpPr>
          <p:cNvPr id="51" name="TextBox 50"/>
          <p:cNvSpPr txBox="1"/>
          <p:nvPr/>
        </p:nvSpPr>
        <p:spPr>
          <a:xfrm>
            <a:off x="7853882" y="2903261"/>
            <a:ext cx="292068" cy="461665"/>
          </a:xfrm>
          <a:prstGeom prst="rect">
            <a:avLst/>
          </a:prstGeom>
          <a:noFill/>
        </p:spPr>
        <p:txBody>
          <a:bodyPr wrap="none" rtlCol="0">
            <a:spAutoFit/>
          </a:bodyPr>
          <a:lstStyle/>
          <a:p>
            <a:r>
              <a:rPr lang="en-US" sz="2400" b="1" dirty="0"/>
              <a:t>t</a:t>
            </a:r>
          </a:p>
        </p:txBody>
      </p:sp>
      <p:cxnSp>
        <p:nvCxnSpPr>
          <p:cNvPr id="56" name="Straight Connector 55"/>
          <p:cNvCxnSpPr/>
          <p:nvPr/>
        </p:nvCxnSpPr>
        <p:spPr>
          <a:xfrm>
            <a:off x="2909849" y="3364926"/>
            <a:ext cx="0" cy="2224314"/>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6883" y="1469380"/>
            <a:ext cx="7883549" cy="830997"/>
          </a:xfrm>
          <a:prstGeom prst="rect">
            <a:avLst/>
          </a:prstGeom>
          <a:noFill/>
        </p:spPr>
        <p:txBody>
          <a:bodyPr wrap="square" rtlCol="0">
            <a:spAutoFit/>
          </a:bodyPr>
          <a:lstStyle/>
          <a:p>
            <a:r>
              <a:rPr lang="en-US" sz="2400" b="1" dirty="0"/>
              <a:t>Frame detection by CCA is not reliable: radio activity  does not imply that somebody is sending a frame to this receiver!</a:t>
            </a:r>
          </a:p>
        </p:txBody>
      </p:sp>
      <p:sp>
        <p:nvSpPr>
          <p:cNvPr id="9" name="TextBox 8"/>
          <p:cNvSpPr txBox="1"/>
          <p:nvPr/>
        </p:nvSpPr>
        <p:spPr>
          <a:xfrm>
            <a:off x="2909849" y="4627725"/>
            <a:ext cx="3894399" cy="830997"/>
          </a:xfrm>
          <a:prstGeom prst="rect">
            <a:avLst/>
          </a:prstGeom>
          <a:noFill/>
        </p:spPr>
        <p:txBody>
          <a:bodyPr wrap="square" rtlCol="0">
            <a:spAutoFit/>
          </a:bodyPr>
          <a:lstStyle/>
          <a:p>
            <a:r>
              <a:rPr lang="en-US" sz="2400" b="1" i="1" dirty="0">
                <a:solidFill>
                  <a:srgbClr val="FF0000"/>
                </a:solidFill>
              </a:rPr>
              <a:t>Receiver wake-up due to noise detected by CCA</a:t>
            </a:r>
          </a:p>
        </p:txBody>
      </p:sp>
      <p:sp>
        <p:nvSpPr>
          <p:cNvPr id="55" name="TextBox 54"/>
          <p:cNvSpPr txBox="1"/>
          <p:nvPr/>
        </p:nvSpPr>
        <p:spPr>
          <a:xfrm>
            <a:off x="6077205" y="4024903"/>
            <a:ext cx="2106346" cy="461665"/>
          </a:xfrm>
          <a:prstGeom prst="rect">
            <a:avLst/>
          </a:prstGeom>
          <a:noFill/>
        </p:spPr>
        <p:txBody>
          <a:bodyPr wrap="none" rtlCol="0">
            <a:spAutoFit/>
          </a:bodyPr>
          <a:lstStyle/>
          <a:p>
            <a:pPr algn="r"/>
            <a:r>
              <a:rPr lang="en-US" sz="2400" b="1" i="1" dirty="0">
                <a:solidFill>
                  <a:srgbClr val="FF0000"/>
                </a:solidFill>
              </a:rPr>
              <a:t>Return to sleep</a:t>
            </a:r>
          </a:p>
        </p:txBody>
      </p:sp>
      <p:sp>
        <p:nvSpPr>
          <p:cNvPr id="6" name="Slide Number Placeholder 5"/>
          <p:cNvSpPr>
            <a:spLocks noGrp="1"/>
          </p:cNvSpPr>
          <p:nvPr>
            <p:ph type="sldNum" sz="quarter" idx="12"/>
          </p:nvPr>
        </p:nvSpPr>
        <p:spPr/>
        <p:txBody>
          <a:bodyPr/>
          <a:lstStyle/>
          <a:p>
            <a:fld id="{5889CBBA-8305-4466-BB85-F253002DC7EE}" type="slidenum">
              <a:rPr lang="en-US" smtClean="0"/>
              <a:t>29</a:t>
            </a:fld>
            <a:endParaRPr lang="en-US"/>
          </a:p>
        </p:txBody>
      </p:sp>
    </p:spTree>
    <p:extLst>
      <p:ext uri="{BB962C8B-B14F-4D97-AF65-F5344CB8AC3E}">
        <p14:creationId xmlns:p14="http://schemas.microsoft.com/office/powerpoint/2010/main" val="499544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400" dirty="0"/>
              <a:t>RDC : </a:t>
            </a:r>
            <a:r>
              <a:rPr lang="en-US" sz="5400" dirty="0" err="1"/>
              <a:t>ContikiMAC</a:t>
            </a:r>
            <a:br>
              <a:rPr lang="en-US" sz="3200" dirty="0"/>
            </a:br>
            <a:r>
              <a:rPr lang="en-US" sz="3100" b="1" dirty="0"/>
              <a:t>8.Fast Sleep optimizations : too long silence</a:t>
            </a:r>
            <a:endParaRPr lang="en-US" b="1" dirty="0"/>
          </a:p>
        </p:txBody>
      </p:sp>
      <p:cxnSp>
        <p:nvCxnSpPr>
          <p:cNvPr id="5" name="Straight Arrow Connector 4"/>
          <p:cNvCxnSpPr/>
          <p:nvPr/>
        </p:nvCxnSpPr>
        <p:spPr>
          <a:xfrm>
            <a:off x="965586" y="3954021"/>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980174" y="3492356"/>
            <a:ext cx="1275349" cy="461665"/>
          </a:xfrm>
          <a:prstGeom prst="rect">
            <a:avLst/>
          </a:prstGeom>
          <a:noFill/>
        </p:spPr>
        <p:txBody>
          <a:bodyPr wrap="none" rtlCol="0">
            <a:spAutoFit/>
          </a:bodyPr>
          <a:lstStyle/>
          <a:p>
            <a:r>
              <a:rPr lang="en-US" sz="2400" b="1" dirty="0"/>
              <a:t>Receiver</a:t>
            </a:r>
          </a:p>
        </p:txBody>
      </p:sp>
      <p:cxnSp>
        <p:nvCxnSpPr>
          <p:cNvPr id="4" name="Straight Arrow Connector 3"/>
          <p:cNvCxnSpPr/>
          <p:nvPr/>
        </p:nvCxnSpPr>
        <p:spPr>
          <a:xfrm>
            <a:off x="965586" y="3364926"/>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141173" y="2932878"/>
            <a:ext cx="1566731"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Radio activity</a:t>
            </a:r>
          </a:p>
        </p:txBody>
      </p:sp>
      <p:sp>
        <p:nvSpPr>
          <p:cNvPr id="23" name="TextBox 22"/>
          <p:cNvSpPr txBox="1"/>
          <p:nvPr/>
        </p:nvSpPr>
        <p:spPr>
          <a:xfrm>
            <a:off x="965585" y="2882434"/>
            <a:ext cx="1080745" cy="461665"/>
          </a:xfrm>
          <a:prstGeom prst="rect">
            <a:avLst/>
          </a:prstGeom>
          <a:noFill/>
        </p:spPr>
        <p:txBody>
          <a:bodyPr wrap="none" rtlCol="0">
            <a:spAutoFit/>
          </a:bodyPr>
          <a:lstStyle/>
          <a:p>
            <a:r>
              <a:rPr lang="en-US" sz="2400" b="1" dirty="0"/>
              <a:t>Sender</a:t>
            </a:r>
          </a:p>
        </p:txBody>
      </p:sp>
      <p:sp>
        <p:nvSpPr>
          <p:cNvPr id="27" name="Rectangle 26"/>
          <p:cNvSpPr/>
          <p:nvPr/>
        </p:nvSpPr>
        <p:spPr>
          <a:xfrm>
            <a:off x="2909849" y="3521973"/>
            <a:ext cx="2778265" cy="432048"/>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awake</a:t>
            </a:r>
          </a:p>
        </p:txBody>
      </p:sp>
      <p:cxnSp>
        <p:nvCxnSpPr>
          <p:cNvPr id="38" name="Straight Connector 37"/>
          <p:cNvCxnSpPr/>
          <p:nvPr/>
        </p:nvCxnSpPr>
        <p:spPr>
          <a:xfrm>
            <a:off x="5682233" y="3954021"/>
            <a:ext cx="1779" cy="5295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3705408" y="4381741"/>
            <a:ext cx="1976825" cy="5477"/>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4518657" y="3925553"/>
            <a:ext cx="341760" cy="461665"/>
          </a:xfrm>
          <a:prstGeom prst="rect">
            <a:avLst/>
          </a:prstGeom>
          <a:noFill/>
        </p:spPr>
        <p:txBody>
          <a:bodyPr wrap="none" rtlCol="0">
            <a:spAutoFit/>
          </a:bodyPr>
          <a:lstStyle/>
          <a:p>
            <a:r>
              <a:rPr lang="en-US" sz="2400" b="1" dirty="0" err="1"/>
              <a:t>t</a:t>
            </a:r>
            <a:r>
              <a:rPr lang="en-US" sz="2400" b="1" baseline="-25000" dirty="0" err="1"/>
              <a:t>i</a:t>
            </a:r>
            <a:endParaRPr lang="en-US" sz="2400" b="1" baseline="-25000" dirty="0"/>
          </a:p>
        </p:txBody>
      </p:sp>
      <p:sp>
        <p:nvSpPr>
          <p:cNvPr id="51" name="TextBox 50"/>
          <p:cNvSpPr txBox="1"/>
          <p:nvPr/>
        </p:nvSpPr>
        <p:spPr>
          <a:xfrm>
            <a:off x="7853882" y="2903261"/>
            <a:ext cx="292068" cy="461665"/>
          </a:xfrm>
          <a:prstGeom prst="rect">
            <a:avLst/>
          </a:prstGeom>
          <a:noFill/>
        </p:spPr>
        <p:txBody>
          <a:bodyPr wrap="none" rtlCol="0">
            <a:spAutoFit/>
          </a:bodyPr>
          <a:lstStyle/>
          <a:p>
            <a:r>
              <a:rPr lang="en-US" sz="2400" b="1" dirty="0"/>
              <a:t>t</a:t>
            </a:r>
          </a:p>
        </p:txBody>
      </p:sp>
      <p:cxnSp>
        <p:nvCxnSpPr>
          <p:cNvPr id="56" name="Straight Connector 55"/>
          <p:cNvCxnSpPr/>
          <p:nvPr/>
        </p:nvCxnSpPr>
        <p:spPr>
          <a:xfrm>
            <a:off x="2909849" y="3364926"/>
            <a:ext cx="0" cy="2800378"/>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6883" y="1469380"/>
            <a:ext cx="7883549" cy="830997"/>
          </a:xfrm>
          <a:prstGeom prst="rect">
            <a:avLst/>
          </a:prstGeom>
          <a:noFill/>
        </p:spPr>
        <p:txBody>
          <a:bodyPr wrap="square" rtlCol="0">
            <a:spAutoFit/>
          </a:bodyPr>
          <a:lstStyle/>
          <a:p>
            <a:r>
              <a:rPr lang="en-US" sz="2400" b="1" dirty="0"/>
              <a:t>Frame detection by CCA is not reliable: radio activity  does not imply that somebody is sending a frame to this receiver!</a:t>
            </a:r>
          </a:p>
        </p:txBody>
      </p:sp>
      <p:sp>
        <p:nvSpPr>
          <p:cNvPr id="9" name="TextBox 8"/>
          <p:cNvSpPr txBox="1"/>
          <p:nvPr/>
        </p:nvSpPr>
        <p:spPr>
          <a:xfrm>
            <a:off x="2909848" y="5331681"/>
            <a:ext cx="4182431" cy="830997"/>
          </a:xfrm>
          <a:prstGeom prst="rect">
            <a:avLst/>
          </a:prstGeom>
          <a:noFill/>
        </p:spPr>
        <p:txBody>
          <a:bodyPr wrap="square" rtlCol="0">
            <a:spAutoFit/>
          </a:bodyPr>
          <a:lstStyle/>
          <a:p>
            <a:r>
              <a:rPr lang="en-US" sz="2400" b="1" i="1" dirty="0">
                <a:solidFill>
                  <a:srgbClr val="FF0000"/>
                </a:solidFill>
              </a:rPr>
              <a:t>Receiver wake-up due to radio activity detected by CCA</a:t>
            </a:r>
          </a:p>
        </p:txBody>
      </p:sp>
      <p:sp>
        <p:nvSpPr>
          <p:cNvPr id="55" name="TextBox 54"/>
          <p:cNvSpPr txBox="1"/>
          <p:nvPr/>
        </p:nvSpPr>
        <p:spPr>
          <a:xfrm>
            <a:off x="5682233" y="4150909"/>
            <a:ext cx="2106346" cy="461665"/>
          </a:xfrm>
          <a:prstGeom prst="rect">
            <a:avLst/>
          </a:prstGeom>
          <a:noFill/>
        </p:spPr>
        <p:txBody>
          <a:bodyPr wrap="none" rtlCol="0">
            <a:spAutoFit/>
          </a:bodyPr>
          <a:lstStyle/>
          <a:p>
            <a:pPr algn="r"/>
            <a:r>
              <a:rPr lang="en-US" sz="2400" b="1" i="1" dirty="0">
                <a:solidFill>
                  <a:srgbClr val="FF0000"/>
                </a:solidFill>
              </a:rPr>
              <a:t>Return to sleep</a:t>
            </a:r>
          </a:p>
        </p:txBody>
      </p:sp>
      <p:sp>
        <p:nvSpPr>
          <p:cNvPr id="17" name="Rectangle 16"/>
          <p:cNvSpPr/>
          <p:nvPr/>
        </p:nvSpPr>
        <p:spPr>
          <a:xfrm>
            <a:off x="5952040" y="2937747"/>
            <a:ext cx="1836539"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Radio activity</a:t>
            </a:r>
          </a:p>
        </p:txBody>
      </p:sp>
      <p:cxnSp>
        <p:nvCxnSpPr>
          <p:cNvPr id="18" name="Straight Connector 17"/>
          <p:cNvCxnSpPr/>
          <p:nvPr/>
        </p:nvCxnSpPr>
        <p:spPr>
          <a:xfrm>
            <a:off x="3705408" y="3318946"/>
            <a:ext cx="2496" cy="1755293"/>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707904" y="4612574"/>
            <a:ext cx="1847942" cy="461665"/>
          </a:xfrm>
          <a:prstGeom prst="rect">
            <a:avLst/>
          </a:prstGeom>
          <a:noFill/>
        </p:spPr>
        <p:txBody>
          <a:bodyPr wrap="none" rtlCol="0">
            <a:spAutoFit/>
          </a:bodyPr>
          <a:lstStyle/>
          <a:p>
            <a:r>
              <a:rPr lang="en-US" sz="2400" b="1" i="1" dirty="0">
                <a:solidFill>
                  <a:srgbClr val="FF0000"/>
                </a:solidFill>
              </a:rPr>
              <a:t>Radio silence</a:t>
            </a:r>
          </a:p>
        </p:txBody>
      </p:sp>
      <p:sp>
        <p:nvSpPr>
          <p:cNvPr id="6" name="Slide Number Placeholder 5"/>
          <p:cNvSpPr>
            <a:spLocks noGrp="1"/>
          </p:cNvSpPr>
          <p:nvPr>
            <p:ph type="sldNum" sz="quarter" idx="12"/>
          </p:nvPr>
        </p:nvSpPr>
        <p:spPr/>
        <p:txBody>
          <a:bodyPr/>
          <a:lstStyle/>
          <a:p>
            <a:fld id="{5889CBBA-8305-4466-BB85-F253002DC7EE}" type="slidenum">
              <a:rPr lang="en-US" smtClean="0"/>
              <a:t>30</a:t>
            </a:fld>
            <a:endParaRPr lang="en-US"/>
          </a:p>
        </p:txBody>
      </p:sp>
    </p:spTree>
    <p:extLst>
      <p:ext uri="{BB962C8B-B14F-4D97-AF65-F5344CB8AC3E}">
        <p14:creationId xmlns:p14="http://schemas.microsoft.com/office/powerpoint/2010/main" val="2158077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400" dirty="0"/>
              <a:t>RDC : </a:t>
            </a:r>
            <a:r>
              <a:rPr lang="en-US" sz="5400" dirty="0" err="1"/>
              <a:t>ContikiMAC</a:t>
            </a:r>
            <a:br>
              <a:rPr lang="en-US" sz="3200" dirty="0"/>
            </a:br>
            <a:r>
              <a:rPr lang="en-US" sz="3100" b="1" dirty="0"/>
              <a:t>9.Fast Sleep optimizations : no frame header</a:t>
            </a:r>
            <a:endParaRPr lang="en-US" b="1" dirty="0"/>
          </a:p>
        </p:txBody>
      </p:sp>
      <p:cxnSp>
        <p:nvCxnSpPr>
          <p:cNvPr id="5" name="Straight Arrow Connector 4"/>
          <p:cNvCxnSpPr/>
          <p:nvPr/>
        </p:nvCxnSpPr>
        <p:spPr>
          <a:xfrm>
            <a:off x="965586" y="3954021"/>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980174" y="3492356"/>
            <a:ext cx="1275349" cy="461665"/>
          </a:xfrm>
          <a:prstGeom prst="rect">
            <a:avLst/>
          </a:prstGeom>
          <a:noFill/>
        </p:spPr>
        <p:txBody>
          <a:bodyPr wrap="none" rtlCol="0">
            <a:spAutoFit/>
          </a:bodyPr>
          <a:lstStyle/>
          <a:p>
            <a:r>
              <a:rPr lang="en-US" sz="2400" b="1" dirty="0"/>
              <a:t>Receiver</a:t>
            </a:r>
          </a:p>
        </p:txBody>
      </p:sp>
      <p:cxnSp>
        <p:nvCxnSpPr>
          <p:cNvPr id="4" name="Straight Arrow Connector 3"/>
          <p:cNvCxnSpPr/>
          <p:nvPr/>
        </p:nvCxnSpPr>
        <p:spPr>
          <a:xfrm>
            <a:off x="965586" y="3364926"/>
            <a:ext cx="72008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141173" y="2932878"/>
            <a:ext cx="1566731"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Radio activity</a:t>
            </a:r>
          </a:p>
        </p:txBody>
      </p:sp>
      <p:sp>
        <p:nvSpPr>
          <p:cNvPr id="23" name="TextBox 22"/>
          <p:cNvSpPr txBox="1"/>
          <p:nvPr/>
        </p:nvSpPr>
        <p:spPr>
          <a:xfrm>
            <a:off x="965585" y="2882434"/>
            <a:ext cx="1080745" cy="461665"/>
          </a:xfrm>
          <a:prstGeom prst="rect">
            <a:avLst/>
          </a:prstGeom>
          <a:noFill/>
        </p:spPr>
        <p:txBody>
          <a:bodyPr wrap="none" rtlCol="0">
            <a:spAutoFit/>
          </a:bodyPr>
          <a:lstStyle/>
          <a:p>
            <a:r>
              <a:rPr lang="en-US" sz="2400" b="1" dirty="0"/>
              <a:t>Sender</a:t>
            </a:r>
          </a:p>
        </p:txBody>
      </p:sp>
      <p:sp>
        <p:nvSpPr>
          <p:cNvPr id="27" name="Rectangle 26"/>
          <p:cNvSpPr/>
          <p:nvPr/>
        </p:nvSpPr>
        <p:spPr>
          <a:xfrm>
            <a:off x="2909849" y="3521973"/>
            <a:ext cx="3246327" cy="432048"/>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awake</a:t>
            </a:r>
          </a:p>
        </p:txBody>
      </p:sp>
      <p:cxnSp>
        <p:nvCxnSpPr>
          <p:cNvPr id="38" name="Straight Connector 37"/>
          <p:cNvCxnSpPr/>
          <p:nvPr/>
        </p:nvCxnSpPr>
        <p:spPr>
          <a:xfrm>
            <a:off x="5684012" y="2882434"/>
            <a:ext cx="0" cy="16266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3705408" y="4381741"/>
            <a:ext cx="1976825" cy="5477"/>
          </a:xfrm>
          <a:prstGeom prst="straightConnector1">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4518657" y="3925553"/>
            <a:ext cx="341760" cy="461665"/>
          </a:xfrm>
          <a:prstGeom prst="rect">
            <a:avLst/>
          </a:prstGeom>
          <a:noFill/>
        </p:spPr>
        <p:txBody>
          <a:bodyPr wrap="none" rtlCol="0">
            <a:spAutoFit/>
          </a:bodyPr>
          <a:lstStyle/>
          <a:p>
            <a:r>
              <a:rPr lang="en-US" sz="2400" b="1" dirty="0" err="1"/>
              <a:t>t</a:t>
            </a:r>
            <a:r>
              <a:rPr lang="en-US" sz="2400" b="1" baseline="-25000" dirty="0" err="1"/>
              <a:t>i</a:t>
            </a:r>
            <a:endParaRPr lang="en-US" sz="2400" b="1" baseline="-25000" dirty="0"/>
          </a:p>
        </p:txBody>
      </p:sp>
      <p:sp>
        <p:nvSpPr>
          <p:cNvPr id="51" name="TextBox 50"/>
          <p:cNvSpPr txBox="1"/>
          <p:nvPr/>
        </p:nvSpPr>
        <p:spPr>
          <a:xfrm>
            <a:off x="7853882" y="2903261"/>
            <a:ext cx="292068" cy="461665"/>
          </a:xfrm>
          <a:prstGeom prst="rect">
            <a:avLst/>
          </a:prstGeom>
          <a:noFill/>
        </p:spPr>
        <p:txBody>
          <a:bodyPr wrap="none" rtlCol="0">
            <a:spAutoFit/>
          </a:bodyPr>
          <a:lstStyle/>
          <a:p>
            <a:r>
              <a:rPr lang="en-US" sz="2400" b="1" dirty="0"/>
              <a:t>t</a:t>
            </a:r>
          </a:p>
        </p:txBody>
      </p:sp>
      <p:cxnSp>
        <p:nvCxnSpPr>
          <p:cNvPr id="56" name="Straight Connector 55"/>
          <p:cNvCxnSpPr/>
          <p:nvPr/>
        </p:nvCxnSpPr>
        <p:spPr>
          <a:xfrm>
            <a:off x="2909849" y="3364926"/>
            <a:ext cx="0" cy="2800378"/>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6883" y="1469380"/>
            <a:ext cx="7883549" cy="830997"/>
          </a:xfrm>
          <a:prstGeom prst="rect">
            <a:avLst/>
          </a:prstGeom>
          <a:noFill/>
        </p:spPr>
        <p:txBody>
          <a:bodyPr wrap="square" rtlCol="0">
            <a:spAutoFit/>
          </a:bodyPr>
          <a:lstStyle/>
          <a:p>
            <a:r>
              <a:rPr lang="en-US" sz="2400" b="1" dirty="0"/>
              <a:t>Frame detection by CCA is not reliable: radio activity  does not imply that somebody is sending a frame to this receiver!</a:t>
            </a:r>
          </a:p>
        </p:txBody>
      </p:sp>
      <p:sp>
        <p:nvSpPr>
          <p:cNvPr id="9" name="TextBox 8"/>
          <p:cNvSpPr txBox="1"/>
          <p:nvPr/>
        </p:nvSpPr>
        <p:spPr>
          <a:xfrm>
            <a:off x="2909848" y="5331681"/>
            <a:ext cx="4182431" cy="830997"/>
          </a:xfrm>
          <a:prstGeom prst="rect">
            <a:avLst/>
          </a:prstGeom>
          <a:noFill/>
        </p:spPr>
        <p:txBody>
          <a:bodyPr wrap="square" rtlCol="0">
            <a:spAutoFit/>
          </a:bodyPr>
          <a:lstStyle/>
          <a:p>
            <a:r>
              <a:rPr lang="en-US" sz="2400" b="1" i="1" dirty="0">
                <a:solidFill>
                  <a:srgbClr val="FF0000"/>
                </a:solidFill>
              </a:rPr>
              <a:t>Receiver wake-up due to radio activity detected by CCA</a:t>
            </a:r>
          </a:p>
        </p:txBody>
      </p:sp>
      <p:sp>
        <p:nvSpPr>
          <p:cNvPr id="55" name="TextBox 54"/>
          <p:cNvSpPr txBox="1"/>
          <p:nvPr/>
        </p:nvSpPr>
        <p:spPr>
          <a:xfrm>
            <a:off x="6156113" y="3965759"/>
            <a:ext cx="2736368" cy="1200329"/>
          </a:xfrm>
          <a:prstGeom prst="rect">
            <a:avLst/>
          </a:prstGeom>
          <a:noFill/>
        </p:spPr>
        <p:txBody>
          <a:bodyPr wrap="square" rtlCol="0">
            <a:spAutoFit/>
          </a:bodyPr>
          <a:lstStyle/>
          <a:p>
            <a:r>
              <a:rPr lang="en-US" sz="2400" b="1" i="1" dirty="0">
                <a:solidFill>
                  <a:srgbClr val="FF0000"/>
                </a:solidFill>
              </a:rPr>
              <a:t>No correct frame header detected!</a:t>
            </a:r>
            <a:br>
              <a:rPr lang="en-US" sz="2400" b="1" i="1" dirty="0">
                <a:solidFill>
                  <a:srgbClr val="FF0000"/>
                </a:solidFill>
              </a:rPr>
            </a:br>
            <a:r>
              <a:rPr lang="en-US" sz="2400" b="1" i="1" dirty="0">
                <a:solidFill>
                  <a:srgbClr val="FF0000"/>
                </a:solidFill>
              </a:rPr>
              <a:t>Return to sleep</a:t>
            </a:r>
          </a:p>
        </p:txBody>
      </p:sp>
      <p:sp>
        <p:nvSpPr>
          <p:cNvPr id="17" name="Rectangle 16"/>
          <p:cNvSpPr/>
          <p:nvPr/>
        </p:nvSpPr>
        <p:spPr>
          <a:xfrm>
            <a:off x="5682233" y="2932878"/>
            <a:ext cx="1836539"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Radio activity</a:t>
            </a:r>
          </a:p>
        </p:txBody>
      </p:sp>
      <p:cxnSp>
        <p:nvCxnSpPr>
          <p:cNvPr id="18" name="Straight Connector 17"/>
          <p:cNvCxnSpPr/>
          <p:nvPr/>
        </p:nvCxnSpPr>
        <p:spPr>
          <a:xfrm>
            <a:off x="3705408" y="3318946"/>
            <a:ext cx="2496" cy="1755293"/>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707904" y="4612574"/>
            <a:ext cx="1847942" cy="461665"/>
          </a:xfrm>
          <a:prstGeom prst="rect">
            <a:avLst/>
          </a:prstGeom>
          <a:noFill/>
        </p:spPr>
        <p:txBody>
          <a:bodyPr wrap="none" rtlCol="0">
            <a:spAutoFit/>
          </a:bodyPr>
          <a:lstStyle/>
          <a:p>
            <a:r>
              <a:rPr lang="en-US" sz="2400" b="1" i="1" dirty="0">
                <a:solidFill>
                  <a:srgbClr val="FF0000"/>
                </a:solidFill>
              </a:rPr>
              <a:t>Radio silence</a:t>
            </a:r>
          </a:p>
        </p:txBody>
      </p:sp>
      <p:cxnSp>
        <p:nvCxnSpPr>
          <p:cNvPr id="26" name="Straight Connector 25"/>
          <p:cNvCxnSpPr/>
          <p:nvPr/>
        </p:nvCxnSpPr>
        <p:spPr>
          <a:xfrm>
            <a:off x="6142933" y="3383249"/>
            <a:ext cx="0" cy="1626686"/>
          </a:xfrm>
          <a:prstGeom prst="line">
            <a:avLst/>
          </a:prstGeom>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5889CBBA-8305-4466-BB85-F253002DC7EE}" type="slidenum">
              <a:rPr lang="en-US" smtClean="0"/>
              <a:t>31</a:t>
            </a:fld>
            <a:endParaRPr lang="en-US"/>
          </a:p>
        </p:txBody>
      </p:sp>
    </p:spTree>
    <p:extLst>
      <p:ext uri="{BB962C8B-B14F-4D97-AF65-F5344CB8AC3E}">
        <p14:creationId xmlns:p14="http://schemas.microsoft.com/office/powerpoint/2010/main" val="2685750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Rectangle 119"/>
          <p:cNvSpPr/>
          <p:nvPr/>
        </p:nvSpPr>
        <p:spPr>
          <a:xfrm>
            <a:off x="7431791" y="5526239"/>
            <a:ext cx="216024" cy="50925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p:cNvSpPr/>
          <p:nvPr/>
        </p:nvSpPr>
        <p:spPr>
          <a:xfrm>
            <a:off x="4583454" y="5529027"/>
            <a:ext cx="214814" cy="50925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a:off x="4595585" y="3261653"/>
            <a:ext cx="202683" cy="53074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sz="5400" dirty="0"/>
              <a:t>RDC : </a:t>
            </a:r>
            <a:r>
              <a:rPr lang="en-US" sz="5400" dirty="0" err="1"/>
              <a:t>ContikiMAC</a:t>
            </a:r>
            <a:br>
              <a:rPr lang="en-US" sz="3200" dirty="0"/>
            </a:br>
            <a:r>
              <a:rPr lang="en-US" sz="3100" b="1" dirty="0"/>
              <a:t>7.</a:t>
            </a:r>
            <a:r>
              <a:rPr lang="en-US" sz="4000" b="1" dirty="0"/>
              <a:t> </a:t>
            </a:r>
            <a:r>
              <a:rPr lang="en-US" sz="3100" b="1" dirty="0"/>
              <a:t>Transmission Phase-Lock</a:t>
            </a:r>
            <a:endParaRPr lang="en-US" b="1" dirty="0"/>
          </a:p>
        </p:txBody>
      </p:sp>
      <p:sp>
        <p:nvSpPr>
          <p:cNvPr id="3" name="TextBox 2"/>
          <p:cNvSpPr txBox="1"/>
          <p:nvPr/>
        </p:nvSpPr>
        <p:spPr>
          <a:xfrm>
            <a:off x="506557" y="1419846"/>
            <a:ext cx="8411409" cy="461665"/>
          </a:xfrm>
          <a:prstGeom prst="rect">
            <a:avLst/>
          </a:prstGeom>
          <a:noFill/>
        </p:spPr>
        <p:txBody>
          <a:bodyPr wrap="square" rtlCol="0">
            <a:spAutoFit/>
          </a:bodyPr>
          <a:lstStyle/>
          <a:p>
            <a:r>
              <a:rPr lang="en-US" sz="2400" b="1" dirty="0"/>
              <a:t>The sender memorizes when a receiver is awake (phase lock)</a:t>
            </a:r>
          </a:p>
        </p:txBody>
      </p:sp>
      <p:cxnSp>
        <p:nvCxnSpPr>
          <p:cNvPr id="22" name="Straight Arrow Connector 21"/>
          <p:cNvCxnSpPr/>
          <p:nvPr/>
        </p:nvCxnSpPr>
        <p:spPr>
          <a:xfrm>
            <a:off x="497879" y="3779615"/>
            <a:ext cx="764780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005173" y="3270363"/>
            <a:ext cx="590412" cy="50925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4633379" y="3336705"/>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4285288" y="3339573"/>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1617939" y="3306937"/>
            <a:ext cx="1485343" cy="461665"/>
          </a:xfrm>
          <a:prstGeom prst="rect">
            <a:avLst/>
          </a:prstGeom>
          <a:noFill/>
        </p:spPr>
        <p:txBody>
          <a:bodyPr wrap="none" rtlCol="0">
            <a:spAutoFit/>
          </a:bodyPr>
          <a:lstStyle/>
          <a:p>
            <a:r>
              <a:rPr lang="en-US" sz="2400" b="1" dirty="0"/>
              <a:t>Receiver x</a:t>
            </a:r>
          </a:p>
        </p:txBody>
      </p:sp>
      <p:cxnSp>
        <p:nvCxnSpPr>
          <p:cNvPr id="68" name="Straight Arrow Connector 67"/>
          <p:cNvCxnSpPr/>
          <p:nvPr/>
        </p:nvCxnSpPr>
        <p:spPr>
          <a:xfrm flipH="1">
            <a:off x="4017342" y="2694211"/>
            <a:ext cx="1" cy="56744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497879" y="3059491"/>
            <a:ext cx="7635671" cy="584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2009788" y="2513823"/>
            <a:ext cx="2810475" cy="551507"/>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2084878" y="2633283"/>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2525310" y="2633283"/>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2965742" y="2633283"/>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3406174" y="2633283"/>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3846606" y="2633283"/>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4287038" y="2633283"/>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497879" y="2628143"/>
            <a:ext cx="1080745" cy="461665"/>
          </a:xfrm>
          <a:prstGeom prst="rect">
            <a:avLst/>
          </a:prstGeom>
          <a:noFill/>
        </p:spPr>
        <p:txBody>
          <a:bodyPr wrap="none" rtlCol="0">
            <a:spAutoFit/>
          </a:bodyPr>
          <a:lstStyle/>
          <a:p>
            <a:r>
              <a:rPr lang="en-US" sz="2400" b="1" dirty="0"/>
              <a:t>Sender</a:t>
            </a:r>
          </a:p>
        </p:txBody>
      </p:sp>
      <p:sp>
        <p:nvSpPr>
          <p:cNvPr id="79" name="TextBox 78"/>
          <p:cNvSpPr txBox="1"/>
          <p:nvPr/>
        </p:nvSpPr>
        <p:spPr>
          <a:xfrm>
            <a:off x="7820996" y="2603666"/>
            <a:ext cx="292068" cy="461665"/>
          </a:xfrm>
          <a:prstGeom prst="rect">
            <a:avLst/>
          </a:prstGeom>
          <a:noFill/>
        </p:spPr>
        <p:txBody>
          <a:bodyPr wrap="none" rtlCol="0">
            <a:spAutoFit/>
          </a:bodyPr>
          <a:lstStyle/>
          <a:p>
            <a:r>
              <a:rPr lang="en-US" sz="2400" b="1" dirty="0"/>
              <a:t>t</a:t>
            </a:r>
          </a:p>
        </p:txBody>
      </p:sp>
      <p:cxnSp>
        <p:nvCxnSpPr>
          <p:cNvPr id="37" name="Straight Connector 36"/>
          <p:cNvCxnSpPr/>
          <p:nvPr/>
        </p:nvCxnSpPr>
        <p:spPr>
          <a:xfrm flipV="1">
            <a:off x="1103485" y="3261653"/>
            <a:ext cx="0" cy="490409"/>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1255885" y="3261653"/>
            <a:ext cx="0" cy="490409"/>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6855741" y="3261653"/>
            <a:ext cx="0" cy="491519"/>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7008141" y="3261653"/>
            <a:ext cx="0" cy="491519"/>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1120254" y="4120977"/>
            <a:ext cx="2884919" cy="0"/>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471987" y="3733463"/>
            <a:ext cx="1093569" cy="461665"/>
          </a:xfrm>
          <a:prstGeom prst="rect">
            <a:avLst/>
          </a:prstGeom>
          <a:noFill/>
        </p:spPr>
        <p:txBody>
          <a:bodyPr wrap="none" rtlCol="0">
            <a:spAutoFit/>
          </a:bodyPr>
          <a:lstStyle/>
          <a:p>
            <a:r>
              <a:rPr lang="en-US" sz="2400" b="1" dirty="0">
                <a:solidFill>
                  <a:schemeClr val="accent1">
                    <a:lumMod val="60000"/>
                    <a:lumOff val="40000"/>
                  </a:schemeClr>
                </a:solidFill>
              </a:rPr>
              <a:t>125 </a:t>
            </a:r>
            <a:r>
              <a:rPr lang="en-US" sz="2400" b="1" dirty="0" err="1">
                <a:solidFill>
                  <a:schemeClr val="accent1">
                    <a:lumMod val="60000"/>
                    <a:lumOff val="40000"/>
                  </a:schemeClr>
                </a:solidFill>
              </a:rPr>
              <a:t>ms</a:t>
            </a:r>
            <a:endParaRPr lang="en-US" sz="2400" b="1" dirty="0">
              <a:solidFill>
                <a:schemeClr val="accent1">
                  <a:lumMod val="60000"/>
                  <a:lumOff val="40000"/>
                </a:schemeClr>
              </a:solidFill>
            </a:endParaRPr>
          </a:p>
        </p:txBody>
      </p:sp>
      <p:cxnSp>
        <p:nvCxnSpPr>
          <p:cNvPr id="44" name="Straight Connector 43"/>
          <p:cNvCxnSpPr/>
          <p:nvPr/>
        </p:nvCxnSpPr>
        <p:spPr>
          <a:xfrm>
            <a:off x="1103485" y="3779615"/>
            <a:ext cx="0" cy="418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005173" y="3779615"/>
            <a:ext cx="0" cy="418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855741" y="3792213"/>
            <a:ext cx="0" cy="4184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005173" y="4126071"/>
            <a:ext cx="2850568" cy="0"/>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4560848" y="3730270"/>
            <a:ext cx="1093569" cy="461665"/>
          </a:xfrm>
          <a:prstGeom prst="rect">
            <a:avLst/>
          </a:prstGeom>
          <a:noFill/>
        </p:spPr>
        <p:txBody>
          <a:bodyPr wrap="none" rtlCol="0">
            <a:spAutoFit/>
          </a:bodyPr>
          <a:lstStyle/>
          <a:p>
            <a:r>
              <a:rPr lang="en-US" sz="2400" b="1" dirty="0">
                <a:solidFill>
                  <a:schemeClr val="accent1">
                    <a:lumMod val="60000"/>
                    <a:lumOff val="40000"/>
                  </a:schemeClr>
                </a:solidFill>
              </a:rPr>
              <a:t>125 </a:t>
            </a:r>
            <a:r>
              <a:rPr lang="en-US" sz="2400" b="1" dirty="0" err="1">
                <a:solidFill>
                  <a:schemeClr val="accent1">
                    <a:lumMod val="60000"/>
                    <a:lumOff val="40000"/>
                  </a:schemeClr>
                </a:solidFill>
              </a:rPr>
              <a:t>ms</a:t>
            </a:r>
            <a:endParaRPr lang="en-US" sz="2400" b="1" dirty="0">
              <a:solidFill>
                <a:schemeClr val="accent1">
                  <a:lumMod val="60000"/>
                  <a:lumOff val="40000"/>
                </a:schemeClr>
              </a:solidFill>
            </a:endParaRPr>
          </a:p>
        </p:txBody>
      </p:sp>
      <p:cxnSp>
        <p:nvCxnSpPr>
          <p:cNvPr id="81" name="Straight Arrow Connector 80"/>
          <p:cNvCxnSpPr/>
          <p:nvPr/>
        </p:nvCxnSpPr>
        <p:spPr>
          <a:xfrm>
            <a:off x="481071" y="6045788"/>
            <a:ext cx="7652479" cy="7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6855741" y="5537252"/>
            <a:ext cx="590412" cy="50925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7503799" y="5614456"/>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7158121" y="5614456"/>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p:cNvSpPr txBox="1"/>
          <p:nvPr/>
        </p:nvSpPr>
        <p:spPr>
          <a:xfrm>
            <a:off x="1605808" y="5573826"/>
            <a:ext cx="1275349" cy="461665"/>
          </a:xfrm>
          <a:prstGeom prst="rect">
            <a:avLst/>
          </a:prstGeom>
          <a:noFill/>
        </p:spPr>
        <p:txBody>
          <a:bodyPr wrap="none" rtlCol="0">
            <a:spAutoFit/>
          </a:bodyPr>
          <a:lstStyle/>
          <a:p>
            <a:r>
              <a:rPr lang="en-US" sz="2400" b="1" dirty="0"/>
              <a:t>Receiver</a:t>
            </a:r>
          </a:p>
        </p:txBody>
      </p:sp>
      <p:cxnSp>
        <p:nvCxnSpPr>
          <p:cNvPr id="116" name="Straight Arrow Connector 115"/>
          <p:cNvCxnSpPr/>
          <p:nvPr/>
        </p:nvCxnSpPr>
        <p:spPr>
          <a:xfrm flipH="1">
            <a:off x="4005211" y="4961100"/>
            <a:ext cx="1" cy="56744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a:off x="481071" y="5332219"/>
            <a:ext cx="7640348" cy="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8" name="Rectangle 117"/>
          <p:cNvSpPr/>
          <p:nvPr/>
        </p:nvSpPr>
        <p:spPr>
          <a:xfrm>
            <a:off x="3694207" y="4780712"/>
            <a:ext cx="1104062" cy="551507"/>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p:cNvSpPr/>
          <p:nvPr/>
        </p:nvSpPr>
        <p:spPr>
          <a:xfrm>
            <a:off x="3834475" y="4900172"/>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p:cNvSpPr/>
          <p:nvPr/>
        </p:nvSpPr>
        <p:spPr>
          <a:xfrm>
            <a:off x="4274907" y="4900172"/>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TextBox 125"/>
          <p:cNvSpPr txBox="1"/>
          <p:nvPr/>
        </p:nvSpPr>
        <p:spPr>
          <a:xfrm>
            <a:off x="920568" y="4849728"/>
            <a:ext cx="1080745" cy="461665"/>
          </a:xfrm>
          <a:prstGeom prst="rect">
            <a:avLst/>
          </a:prstGeom>
          <a:noFill/>
        </p:spPr>
        <p:txBody>
          <a:bodyPr wrap="none" rtlCol="0">
            <a:spAutoFit/>
          </a:bodyPr>
          <a:lstStyle/>
          <a:p>
            <a:r>
              <a:rPr lang="en-US" sz="2400" b="1" dirty="0"/>
              <a:t>Sender</a:t>
            </a:r>
          </a:p>
        </p:txBody>
      </p:sp>
      <p:sp>
        <p:nvSpPr>
          <p:cNvPr id="127" name="TextBox 126"/>
          <p:cNvSpPr txBox="1"/>
          <p:nvPr/>
        </p:nvSpPr>
        <p:spPr>
          <a:xfrm>
            <a:off x="7808865" y="4870555"/>
            <a:ext cx="292068" cy="461665"/>
          </a:xfrm>
          <a:prstGeom prst="rect">
            <a:avLst/>
          </a:prstGeom>
          <a:noFill/>
        </p:spPr>
        <p:txBody>
          <a:bodyPr wrap="none" rtlCol="0">
            <a:spAutoFit/>
          </a:bodyPr>
          <a:lstStyle/>
          <a:p>
            <a:r>
              <a:rPr lang="en-US" sz="2400" b="1" dirty="0"/>
              <a:t>t</a:t>
            </a:r>
          </a:p>
        </p:txBody>
      </p:sp>
      <p:grpSp>
        <p:nvGrpSpPr>
          <p:cNvPr id="90" name="Group 89"/>
          <p:cNvGrpSpPr/>
          <p:nvPr/>
        </p:nvGrpSpPr>
        <p:grpSpPr>
          <a:xfrm>
            <a:off x="6012159" y="4900172"/>
            <a:ext cx="153449" cy="1674231"/>
            <a:chOff x="8293443" y="476672"/>
            <a:chExt cx="237588" cy="2284824"/>
          </a:xfrm>
          <a:solidFill>
            <a:schemeClr val="bg1"/>
          </a:solidFill>
        </p:grpSpPr>
        <p:sp>
          <p:nvSpPr>
            <p:cNvPr id="102" name="Double Wave 101"/>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Double Wave 102"/>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Double Wave 103"/>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Double Wave 104"/>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Double Wave 105"/>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Double Wave 106"/>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Double Wave 107"/>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1" name="Straight Connector 90"/>
          <p:cNvCxnSpPr/>
          <p:nvPr/>
        </p:nvCxnSpPr>
        <p:spPr>
          <a:xfrm flipV="1">
            <a:off x="1091354" y="5528542"/>
            <a:ext cx="0" cy="490409"/>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V="1">
            <a:off x="1243754" y="5528542"/>
            <a:ext cx="0" cy="490409"/>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3717804" y="5348108"/>
            <a:ext cx="0" cy="111686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6568372" y="5360157"/>
            <a:ext cx="0" cy="11174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3717804" y="6392960"/>
            <a:ext cx="2850568" cy="0"/>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4273479" y="5997159"/>
            <a:ext cx="1093569" cy="461665"/>
          </a:xfrm>
          <a:prstGeom prst="rect">
            <a:avLst/>
          </a:prstGeom>
          <a:noFill/>
        </p:spPr>
        <p:txBody>
          <a:bodyPr wrap="none" rtlCol="0">
            <a:spAutoFit/>
          </a:bodyPr>
          <a:lstStyle/>
          <a:p>
            <a:r>
              <a:rPr lang="en-US" sz="2400" b="1" dirty="0">
                <a:solidFill>
                  <a:schemeClr val="accent1">
                    <a:lumMod val="60000"/>
                    <a:lumOff val="40000"/>
                  </a:schemeClr>
                </a:solidFill>
              </a:rPr>
              <a:t>125 </a:t>
            </a:r>
            <a:r>
              <a:rPr lang="en-US" sz="2400" b="1" dirty="0" err="1">
                <a:solidFill>
                  <a:schemeClr val="accent1">
                    <a:lumMod val="60000"/>
                    <a:lumOff val="40000"/>
                  </a:schemeClr>
                </a:solidFill>
              </a:rPr>
              <a:t>ms</a:t>
            </a:r>
            <a:endParaRPr lang="en-US" sz="2400" b="1" dirty="0">
              <a:solidFill>
                <a:schemeClr val="accent1">
                  <a:lumMod val="60000"/>
                  <a:lumOff val="40000"/>
                </a:schemeClr>
              </a:solidFill>
            </a:endParaRPr>
          </a:p>
        </p:txBody>
      </p:sp>
      <p:sp>
        <p:nvSpPr>
          <p:cNvPr id="6" name="TextBox 5"/>
          <p:cNvSpPr txBox="1"/>
          <p:nvPr/>
        </p:nvSpPr>
        <p:spPr>
          <a:xfrm>
            <a:off x="5282466" y="2226145"/>
            <a:ext cx="2832057" cy="461665"/>
          </a:xfrm>
          <a:prstGeom prst="rect">
            <a:avLst/>
          </a:prstGeom>
          <a:solidFill>
            <a:schemeClr val="bg1"/>
          </a:solidFill>
        </p:spPr>
        <p:txBody>
          <a:bodyPr wrap="none" rtlCol="0">
            <a:spAutoFit/>
          </a:bodyPr>
          <a:lstStyle/>
          <a:p>
            <a:r>
              <a:rPr lang="en-US" sz="2400" b="1" dirty="0"/>
              <a:t>Before phase locking</a:t>
            </a:r>
          </a:p>
        </p:txBody>
      </p:sp>
      <p:sp>
        <p:nvSpPr>
          <p:cNvPr id="128" name="TextBox 127"/>
          <p:cNvSpPr txBox="1"/>
          <p:nvPr/>
        </p:nvSpPr>
        <p:spPr>
          <a:xfrm>
            <a:off x="5313624" y="4333310"/>
            <a:ext cx="2638286" cy="461665"/>
          </a:xfrm>
          <a:prstGeom prst="rect">
            <a:avLst/>
          </a:prstGeom>
          <a:solidFill>
            <a:schemeClr val="bg1"/>
          </a:solidFill>
        </p:spPr>
        <p:txBody>
          <a:bodyPr wrap="none" rtlCol="0">
            <a:spAutoFit/>
          </a:bodyPr>
          <a:lstStyle/>
          <a:p>
            <a:r>
              <a:rPr lang="en-US" sz="2400" b="1" dirty="0"/>
              <a:t>After phase locking</a:t>
            </a:r>
          </a:p>
        </p:txBody>
      </p:sp>
      <p:sp>
        <p:nvSpPr>
          <p:cNvPr id="130" name="Rectangle 129"/>
          <p:cNvSpPr/>
          <p:nvPr/>
        </p:nvSpPr>
        <p:spPr>
          <a:xfrm>
            <a:off x="6568372" y="4794975"/>
            <a:ext cx="1079443" cy="551507"/>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p:cNvSpPr/>
          <p:nvPr/>
        </p:nvSpPr>
        <p:spPr>
          <a:xfrm>
            <a:off x="6708641" y="4914435"/>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p:cNvSpPr/>
          <p:nvPr/>
        </p:nvSpPr>
        <p:spPr>
          <a:xfrm>
            <a:off x="7149073" y="4914435"/>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p:cNvSpPr/>
          <p:nvPr/>
        </p:nvSpPr>
        <p:spPr>
          <a:xfrm>
            <a:off x="3990082" y="5537252"/>
            <a:ext cx="590412" cy="509252"/>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p:cNvSpPr/>
          <p:nvPr/>
        </p:nvSpPr>
        <p:spPr>
          <a:xfrm>
            <a:off x="4292462" y="5614456"/>
            <a:ext cx="288032" cy="43204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8" name="Straight Arrow Connector 137"/>
          <p:cNvCxnSpPr>
            <a:stCxn id="131" idx="2"/>
          </p:cNvCxnSpPr>
          <p:nvPr/>
        </p:nvCxnSpPr>
        <p:spPr>
          <a:xfrm>
            <a:off x="6852657" y="5346483"/>
            <a:ext cx="3085" cy="20799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flipV="1">
            <a:off x="6568372" y="6387866"/>
            <a:ext cx="1577309" cy="5094"/>
          </a:xfrm>
          <a:prstGeom prst="line">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5889CBBA-8305-4466-BB85-F253002DC7EE}" type="slidenum">
              <a:rPr lang="en-US" smtClean="0"/>
              <a:t>32</a:t>
            </a:fld>
            <a:endParaRPr lang="en-US"/>
          </a:p>
        </p:txBody>
      </p:sp>
      <p:grpSp>
        <p:nvGrpSpPr>
          <p:cNvPr id="35" name="Group 34"/>
          <p:cNvGrpSpPr/>
          <p:nvPr/>
        </p:nvGrpSpPr>
        <p:grpSpPr>
          <a:xfrm>
            <a:off x="2965742" y="2314239"/>
            <a:ext cx="170736" cy="2019071"/>
            <a:chOff x="8293443" y="476672"/>
            <a:chExt cx="237588" cy="2284824"/>
          </a:xfrm>
          <a:solidFill>
            <a:schemeClr val="bg1"/>
          </a:solidFill>
        </p:grpSpPr>
        <p:sp>
          <p:nvSpPr>
            <p:cNvPr id="61" name="Double Wave 60"/>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ouble Wave 61"/>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ouble Wave 62"/>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ouble Wave 63"/>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uble Wave 64"/>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Double Wave 65"/>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Double Wave 66"/>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p:cNvGrpSpPr/>
          <p:nvPr/>
        </p:nvGrpSpPr>
        <p:grpSpPr>
          <a:xfrm>
            <a:off x="6012157" y="2687810"/>
            <a:ext cx="153451" cy="1677294"/>
            <a:chOff x="8293443" y="476672"/>
            <a:chExt cx="237588" cy="2284824"/>
          </a:xfrm>
          <a:solidFill>
            <a:schemeClr val="bg1"/>
          </a:solidFill>
        </p:grpSpPr>
        <p:sp>
          <p:nvSpPr>
            <p:cNvPr id="50" name="Double Wave 49"/>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ouble Wave 51"/>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ouble Wave 52"/>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Double Wave 53"/>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Double Wave 57"/>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ouble Wave 58"/>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Double Wave 59"/>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2" name="Straight Arrow Connector 121"/>
          <p:cNvCxnSpPr>
            <a:stCxn id="76" idx="2"/>
            <a:endCxn id="30" idx="0"/>
          </p:cNvCxnSpPr>
          <p:nvPr/>
        </p:nvCxnSpPr>
        <p:spPr>
          <a:xfrm flipH="1">
            <a:off x="4429304" y="3065331"/>
            <a:ext cx="1750" cy="2742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p:nvPr/>
        </p:nvCxnSpPr>
        <p:spPr>
          <a:xfrm flipH="1">
            <a:off x="4705387" y="3089808"/>
            <a:ext cx="1750" cy="274242"/>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flipH="1">
            <a:off x="4429304" y="5352195"/>
            <a:ext cx="1750" cy="2742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633379" y="5348108"/>
            <a:ext cx="144016" cy="710994"/>
            <a:chOff x="4724510" y="5335510"/>
            <a:chExt cx="144016" cy="710994"/>
          </a:xfrm>
        </p:grpSpPr>
        <p:sp>
          <p:nvSpPr>
            <p:cNvPr id="136" name="Rectangle 135"/>
            <p:cNvSpPr/>
            <p:nvPr/>
          </p:nvSpPr>
          <p:spPr>
            <a:xfrm>
              <a:off x="4724510" y="5614456"/>
              <a:ext cx="144016" cy="43204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Arrow Connector 141"/>
            <p:cNvCxnSpPr/>
            <p:nvPr/>
          </p:nvCxnSpPr>
          <p:spPr>
            <a:xfrm flipH="1">
              <a:off x="4796518" y="5335510"/>
              <a:ext cx="1750" cy="274242"/>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43" name="Straight Arrow Connector 142"/>
          <p:cNvCxnSpPr/>
          <p:nvPr/>
        </p:nvCxnSpPr>
        <p:spPr>
          <a:xfrm flipH="1">
            <a:off x="7293213" y="5352195"/>
            <a:ext cx="1750" cy="2742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p:nvPr/>
        </p:nvCxnSpPr>
        <p:spPr>
          <a:xfrm flipH="1">
            <a:off x="7574057" y="5335510"/>
            <a:ext cx="1750" cy="274242"/>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481071" y="4336740"/>
            <a:ext cx="2655407" cy="563432"/>
            <a:chOff x="497879" y="2226145"/>
            <a:chExt cx="2655407" cy="563432"/>
          </a:xfrm>
        </p:grpSpPr>
        <p:sp>
          <p:nvSpPr>
            <p:cNvPr id="145" name="TextBox 144"/>
            <p:cNvSpPr txBox="1"/>
            <p:nvPr/>
          </p:nvSpPr>
          <p:spPr>
            <a:xfrm>
              <a:off x="497879" y="2226145"/>
              <a:ext cx="2655407" cy="369332"/>
            </a:xfrm>
            <a:prstGeom prst="rect">
              <a:avLst/>
            </a:prstGeom>
            <a:noFill/>
          </p:spPr>
          <p:txBody>
            <a:bodyPr wrap="none" rtlCol="0">
              <a:spAutoFit/>
            </a:bodyPr>
            <a:lstStyle/>
            <a:p>
              <a:r>
                <a:rPr lang="en-US" b="1" dirty="0">
                  <a:solidFill>
                    <a:srgbClr val="FF0000"/>
                  </a:solidFill>
                </a:rPr>
                <a:t>Sender wants to send to x</a:t>
              </a:r>
            </a:p>
          </p:txBody>
        </p:sp>
        <p:cxnSp>
          <p:nvCxnSpPr>
            <p:cNvPr id="146" name="Curved Connector 145"/>
            <p:cNvCxnSpPr>
              <a:stCxn id="145" idx="2"/>
              <a:endCxn id="70" idx="1"/>
            </p:cNvCxnSpPr>
            <p:nvPr/>
          </p:nvCxnSpPr>
          <p:spPr>
            <a:xfrm rot="16200000" flipH="1">
              <a:off x="1820635" y="2600424"/>
              <a:ext cx="194100" cy="184205"/>
            </a:xfrm>
            <a:prstGeom prst="curved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16" name="Straight Arrow Connector 15"/>
          <p:cNvCxnSpPr/>
          <p:nvPr/>
        </p:nvCxnSpPr>
        <p:spPr>
          <a:xfrm>
            <a:off x="1992980" y="4900172"/>
            <a:ext cx="1701227" cy="0"/>
          </a:xfrm>
          <a:prstGeom prst="straightConnector1">
            <a:avLst/>
          </a:prstGeom>
          <a:ln w="38100">
            <a:solidFill>
              <a:schemeClr val="accent4">
                <a:lumMod val="60000"/>
                <a:lumOff val="4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89" name="Group 88"/>
          <p:cNvGrpSpPr/>
          <p:nvPr/>
        </p:nvGrpSpPr>
        <p:grpSpPr>
          <a:xfrm>
            <a:off x="2965741" y="4870555"/>
            <a:ext cx="150057" cy="1657079"/>
            <a:chOff x="8293443" y="476672"/>
            <a:chExt cx="237588" cy="2284824"/>
          </a:xfrm>
          <a:solidFill>
            <a:schemeClr val="bg1"/>
          </a:solidFill>
        </p:grpSpPr>
        <p:sp>
          <p:nvSpPr>
            <p:cNvPr id="109" name="Double Wave 108"/>
            <p:cNvSpPr/>
            <p:nvPr/>
          </p:nvSpPr>
          <p:spPr>
            <a:xfrm rot="5400000">
              <a:off x="8243468" y="52664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Double Wave 109"/>
            <p:cNvSpPr/>
            <p:nvPr/>
          </p:nvSpPr>
          <p:spPr>
            <a:xfrm rot="5400000">
              <a:off x="8243468" y="864185"/>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Double Wave 110"/>
            <p:cNvSpPr/>
            <p:nvPr/>
          </p:nvSpPr>
          <p:spPr>
            <a:xfrm rot="5400000">
              <a:off x="8243468" y="1205917"/>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Double Wave 111"/>
            <p:cNvSpPr/>
            <p:nvPr/>
          </p:nvSpPr>
          <p:spPr>
            <a:xfrm rot="5400000">
              <a:off x="8243468" y="1517443"/>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Double Wave 112"/>
            <p:cNvSpPr/>
            <p:nvPr/>
          </p:nvSpPr>
          <p:spPr>
            <a:xfrm rot="5400000">
              <a:off x="8243468" y="182024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Double Wave 113"/>
            <p:cNvSpPr/>
            <p:nvPr/>
          </p:nvSpPr>
          <p:spPr>
            <a:xfrm rot="5400000">
              <a:off x="8243468" y="2147089"/>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Double Wave 114"/>
            <p:cNvSpPr/>
            <p:nvPr/>
          </p:nvSpPr>
          <p:spPr>
            <a:xfrm rot="5400000">
              <a:off x="8243468" y="2473934"/>
              <a:ext cx="337537" cy="237588"/>
            </a:xfrm>
            <a:prstGeom prst="doubleWav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p:cNvSpPr txBox="1"/>
          <p:nvPr/>
        </p:nvSpPr>
        <p:spPr>
          <a:xfrm>
            <a:off x="2243482" y="4566958"/>
            <a:ext cx="1185324" cy="646331"/>
          </a:xfrm>
          <a:prstGeom prst="rect">
            <a:avLst/>
          </a:prstGeom>
          <a:noFill/>
        </p:spPr>
        <p:txBody>
          <a:bodyPr wrap="none" rtlCol="0">
            <a:spAutoFit/>
          </a:bodyPr>
          <a:lstStyle/>
          <a:p>
            <a:pPr algn="ctr"/>
            <a:r>
              <a:rPr lang="en-US" b="1" dirty="0">
                <a:solidFill>
                  <a:schemeClr val="accent4">
                    <a:lumMod val="60000"/>
                    <a:lumOff val="40000"/>
                  </a:schemeClr>
                </a:solidFill>
              </a:rPr>
              <a:t>Optimal</a:t>
            </a:r>
            <a:br>
              <a:rPr lang="en-US" b="1" dirty="0">
                <a:solidFill>
                  <a:schemeClr val="accent4">
                    <a:lumMod val="60000"/>
                    <a:lumOff val="40000"/>
                  </a:schemeClr>
                </a:solidFill>
              </a:rPr>
            </a:br>
            <a:r>
              <a:rPr lang="en-US" b="1" dirty="0">
                <a:solidFill>
                  <a:schemeClr val="accent4">
                    <a:lumMod val="60000"/>
                    <a:lumOff val="40000"/>
                  </a:schemeClr>
                </a:solidFill>
              </a:rPr>
              <a:t>delay for x</a:t>
            </a:r>
          </a:p>
        </p:txBody>
      </p:sp>
      <p:cxnSp>
        <p:nvCxnSpPr>
          <p:cNvPr id="149" name="Straight Arrow Connector 148"/>
          <p:cNvCxnSpPr/>
          <p:nvPr/>
        </p:nvCxnSpPr>
        <p:spPr>
          <a:xfrm>
            <a:off x="2018771" y="2420888"/>
            <a:ext cx="2693491" cy="8826"/>
          </a:xfrm>
          <a:prstGeom prst="straightConnector1">
            <a:avLst/>
          </a:prstGeom>
          <a:ln w="38100">
            <a:solidFill>
              <a:schemeClr val="accent4">
                <a:lumMod val="60000"/>
                <a:lumOff val="4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1" name="TextBox 150"/>
          <p:cNvSpPr txBox="1"/>
          <p:nvPr/>
        </p:nvSpPr>
        <p:spPr>
          <a:xfrm>
            <a:off x="579881" y="1838326"/>
            <a:ext cx="1080745" cy="923330"/>
          </a:xfrm>
          <a:prstGeom prst="rect">
            <a:avLst/>
          </a:prstGeom>
          <a:noFill/>
        </p:spPr>
        <p:txBody>
          <a:bodyPr wrap="square" rtlCol="0">
            <a:spAutoFit/>
          </a:bodyPr>
          <a:lstStyle/>
          <a:p>
            <a:r>
              <a:rPr lang="en-US" b="1" dirty="0">
                <a:solidFill>
                  <a:srgbClr val="FF0000"/>
                </a:solidFill>
              </a:rPr>
              <a:t>Sender wants to send to x</a:t>
            </a:r>
          </a:p>
        </p:txBody>
      </p:sp>
      <p:cxnSp>
        <p:nvCxnSpPr>
          <p:cNvPr id="152" name="Curved Connector 151"/>
          <p:cNvCxnSpPr>
            <a:stCxn id="151" idx="3"/>
          </p:cNvCxnSpPr>
          <p:nvPr/>
        </p:nvCxnSpPr>
        <p:spPr>
          <a:xfrm>
            <a:off x="1660626" y="2299991"/>
            <a:ext cx="349158" cy="129689"/>
          </a:xfrm>
          <a:prstGeom prst="curvedConnector3">
            <a:avLst>
              <a:gd name="adj1" fmla="val 50000"/>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2009788" y="2226145"/>
            <a:ext cx="0" cy="4071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4712262" y="2226145"/>
            <a:ext cx="0" cy="888219"/>
          </a:xfrm>
          <a:prstGeom prst="line">
            <a:avLst/>
          </a:prstGeom>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2276984" y="2115325"/>
            <a:ext cx="2152320" cy="369332"/>
          </a:xfrm>
          <a:prstGeom prst="rect">
            <a:avLst/>
          </a:prstGeom>
          <a:noFill/>
        </p:spPr>
        <p:txBody>
          <a:bodyPr wrap="none" rtlCol="0">
            <a:spAutoFit/>
          </a:bodyPr>
          <a:lstStyle/>
          <a:p>
            <a:r>
              <a:rPr lang="en-US" b="1" dirty="0">
                <a:solidFill>
                  <a:schemeClr val="accent4">
                    <a:lumMod val="60000"/>
                    <a:lumOff val="40000"/>
                  </a:schemeClr>
                </a:solidFill>
              </a:rPr>
              <a:t>Observed delay for x</a:t>
            </a:r>
          </a:p>
        </p:txBody>
      </p:sp>
      <p:cxnSp>
        <p:nvCxnSpPr>
          <p:cNvPr id="154" name="Straight Connector 153"/>
          <p:cNvCxnSpPr/>
          <p:nvPr/>
        </p:nvCxnSpPr>
        <p:spPr>
          <a:xfrm>
            <a:off x="2001313" y="4696892"/>
            <a:ext cx="0" cy="418464"/>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5087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3724072" y="629268"/>
            <a:ext cx="4939868" cy="1286160"/>
          </a:xfrm>
        </p:spPr>
        <p:txBody>
          <a:bodyPr vert="horz" lIns="91440" tIns="45720" rIns="91440" bIns="45720" rtlCol="0" anchor="b">
            <a:normAutofit/>
          </a:bodyPr>
          <a:lstStyle/>
          <a:p>
            <a:pPr algn="l">
              <a:lnSpc>
                <a:spcPct val="90000"/>
              </a:lnSpc>
            </a:pPr>
            <a:r>
              <a:rPr lang="en-US" b="1">
                <a:effectLst>
                  <a:outerShdw blurRad="38100" dist="38100" dir="2700000" algn="tl">
                    <a:srgbClr val="000000">
                      <a:alpha val="43137"/>
                    </a:srgbClr>
                  </a:outerShdw>
                </a:effectLst>
              </a:rPr>
              <a:t>Dual Network</a:t>
            </a:r>
          </a:p>
        </p:txBody>
      </p:sp>
      <p:sp>
        <p:nvSpPr>
          <p:cNvPr id="4" name="Espace réservé du contenu 3"/>
          <p:cNvSpPr>
            <a:spLocks noGrp="1"/>
          </p:cNvSpPr>
          <p:nvPr>
            <p:ph sz="half" idx="1"/>
          </p:nvPr>
        </p:nvSpPr>
        <p:spPr>
          <a:xfrm>
            <a:off x="3724073" y="2438400"/>
            <a:ext cx="4939867" cy="3785419"/>
          </a:xfrm>
        </p:spPr>
        <p:txBody>
          <a:bodyPr vert="horz" lIns="91440" tIns="45720" rIns="91440" bIns="45720" rtlCol="0">
            <a:normAutofit/>
          </a:bodyPr>
          <a:lstStyle/>
          <a:p>
            <a:pPr indent="-228600">
              <a:lnSpc>
                <a:spcPct val="90000"/>
              </a:lnSpc>
            </a:pPr>
            <a:r>
              <a:rPr lang="en-US" sz="1700"/>
              <a:t>Two networks working in parallel</a:t>
            </a:r>
          </a:p>
          <a:p>
            <a:pPr indent="-228600">
              <a:lnSpc>
                <a:spcPct val="90000"/>
              </a:lnSpc>
            </a:pPr>
            <a:r>
              <a:rPr lang="en-US" sz="1700"/>
              <a:t>Observed network: any RPL network.</a:t>
            </a:r>
          </a:p>
          <a:p>
            <a:pPr indent="-228600">
              <a:lnSpc>
                <a:spcPct val="90000"/>
              </a:lnSpc>
            </a:pPr>
            <a:r>
              <a:rPr lang="en-US" sz="1700"/>
              <a:t>Observer network: nodes sending unicast packets for measuring latency, power usage and PDR of the RPL network.</a:t>
            </a:r>
          </a:p>
        </p:txBody>
      </p:sp>
      <p:pic>
        <p:nvPicPr>
          <p:cNvPr id="10" name="Content Placeholder 9">
            <a:extLst>
              <a:ext uri="{FF2B5EF4-FFF2-40B4-BE49-F238E27FC236}">
                <a16:creationId xmlns:a16="http://schemas.microsoft.com/office/drawing/2014/main" id="{4BE61E54-24B5-4644-A66D-5B929FA86EE7}"/>
              </a:ext>
            </a:extLst>
          </p:cNvPr>
          <p:cNvPicPr>
            <a:picLocks noGrp="1" noChangeAspect="1"/>
          </p:cNvPicPr>
          <p:nvPr>
            <p:ph sz="half" idx="2"/>
          </p:nvPr>
        </p:nvPicPr>
        <p:blipFill rotWithShape="1">
          <a:blip r:embed="rId3" cstate="print">
            <a:extLst>
              <a:ext uri="{28A0092B-C50C-407E-A947-70E740481C1C}">
                <a14:useLocalDpi xmlns:a14="http://schemas.microsoft.com/office/drawing/2010/main" val="0"/>
              </a:ext>
            </a:extLst>
          </a:blip>
          <a:srcRect t="32406"/>
          <a:stretch/>
        </p:blipFill>
        <p:spPr>
          <a:xfrm rot="5400000">
            <a:off x="-1690653" y="1690653"/>
            <a:ext cx="6858000" cy="3476693"/>
          </a:xfrm>
          <a:prstGeom prst="rect">
            <a:avLst/>
          </a:prstGeom>
          <a:effectLst/>
        </p:spPr>
      </p:pic>
      <p:cxnSp>
        <p:nvCxnSpPr>
          <p:cNvPr id="22" name="Straight Connector 1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95435D"/>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a:xfrm>
            <a:off x="7625281" y="6356350"/>
            <a:ext cx="890069" cy="365125"/>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a:spcAft>
                <a:spcPts val="600"/>
              </a:spcAft>
              <a:defRPr/>
            </a:pPr>
            <a:fld id="{541CFF1D-933E-4AFE-A68A-4D1940B9E620}" type="slidenum">
              <a:rPr lang="en-US" smtClean="0">
                <a:solidFill>
                  <a:prstClr val="black">
                    <a:tint val="75000"/>
                  </a:prstClr>
                </a:solidFill>
                <a:latin typeface="Calibri" panose="020F0502020204030204"/>
              </a:rPr>
              <a:pPr>
                <a:spcAft>
                  <a:spcPts val="600"/>
                </a:spcAft>
                <a:defRPr/>
              </a:pPr>
              <a:t>33</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559955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noGrp="1"/>
          </p:cNvSpPr>
          <p:nvPr>
            <p:ph type="subTitle" sz="quarter" idx="4294967295"/>
          </p:nvPr>
        </p:nvSpPr>
        <p:spPr>
          <a:xfrm>
            <a:off x="698500" y="2138360"/>
            <a:ext cx="7746997" cy="4026944"/>
          </a:xfrm>
          <a:prstGeom prst="rect">
            <a:avLst/>
          </a:prstGeom>
          <a:noFill/>
          <a:ln>
            <a:noFill/>
          </a:ln>
        </p:spPr>
        <p:txBody>
          <a:bodyPr vert="horz" wrap="square" lIns="91440" tIns="45720" rIns="91440" bIns="45720" anchor="t" anchorCtr="0" compatLnSpc="1">
            <a:noAutofit/>
          </a:bodyPr>
          <a:lstStyle/>
          <a:p>
            <a:pPr>
              <a:spcBef>
                <a:spcPts val="0"/>
              </a:spcBef>
            </a:pPr>
            <a:r>
              <a:rPr lang="en-US" sz="2800" kern="0" dirty="0">
                <a:solidFill>
                  <a:srgbClr val="000000"/>
                </a:solidFill>
                <a:latin typeface="Arial" pitchFamily="34"/>
                <a:cs typeface="Arial" pitchFamily="34"/>
              </a:rPr>
              <a:t>Packet latency</a:t>
            </a:r>
          </a:p>
          <a:p>
            <a:pPr>
              <a:spcBef>
                <a:spcPts val="0"/>
              </a:spcBef>
            </a:pPr>
            <a:r>
              <a:rPr lang="en-US" sz="2800" kern="0" dirty="0">
                <a:solidFill>
                  <a:srgbClr val="000000"/>
                </a:solidFill>
                <a:latin typeface="Arial" pitchFamily="34"/>
                <a:cs typeface="Arial" pitchFamily="34"/>
              </a:rPr>
              <a:t>Power usage</a:t>
            </a:r>
          </a:p>
          <a:p>
            <a:pPr>
              <a:spcBef>
                <a:spcPts val="0"/>
              </a:spcBef>
              <a:buSzPct val="100000"/>
            </a:pPr>
            <a:r>
              <a:rPr lang="en-US" sz="2800" kern="0" dirty="0">
                <a:solidFill>
                  <a:srgbClr val="000000"/>
                </a:solidFill>
                <a:latin typeface="Arial" pitchFamily="34"/>
                <a:cs typeface="Arial" pitchFamily="34"/>
              </a:rPr>
              <a:t>Packet Delivery Ratio (PDR)</a:t>
            </a:r>
          </a:p>
          <a:p>
            <a:pPr marL="0" lvl="0" indent="0">
              <a:lnSpc>
                <a:spcPct val="100000"/>
              </a:lnSpc>
              <a:spcBef>
                <a:spcPts val="0"/>
              </a:spcBef>
              <a:buSzPct val="100000"/>
              <a:buNone/>
            </a:pPr>
            <a:endParaRPr lang="en-US" sz="2800" i="1" kern="0" dirty="0">
              <a:solidFill>
                <a:srgbClr val="000000"/>
              </a:solidFill>
              <a:latin typeface="Arial" pitchFamily="34"/>
              <a:cs typeface="Arial" pitchFamily="34"/>
            </a:endParaRPr>
          </a:p>
          <a:p>
            <a:pPr>
              <a:spcBef>
                <a:spcPts val="0"/>
              </a:spcBef>
              <a:buSzPct val="100000"/>
            </a:pPr>
            <a:r>
              <a:rPr lang="en-US" sz="2800" kern="0" dirty="0">
                <a:solidFill>
                  <a:srgbClr val="000000"/>
                </a:solidFill>
                <a:latin typeface="Arial" pitchFamily="34"/>
                <a:cs typeface="Arial" pitchFamily="34"/>
              </a:rPr>
              <a:t>All measurements made </a:t>
            </a:r>
          </a:p>
          <a:p>
            <a:pPr lvl="1" indent="-342900">
              <a:spcBef>
                <a:spcPts val="0"/>
              </a:spcBef>
              <a:buSzPct val="100000"/>
            </a:pPr>
            <a:r>
              <a:rPr lang="en-US" sz="2400" kern="0" dirty="0">
                <a:solidFill>
                  <a:srgbClr val="000000"/>
                </a:solidFill>
                <a:latin typeface="Arial" pitchFamily="34"/>
                <a:cs typeface="Arial" pitchFamily="34"/>
              </a:rPr>
              <a:t>With “good” radio link budgets</a:t>
            </a:r>
          </a:p>
          <a:p>
            <a:pPr lvl="1" indent="-342900">
              <a:spcBef>
                <a:spcPts val="0"/>
              </a:spcBef>
              <a:buSzPct val="100000"/>
            </a:pPr>
            <a:r>
              <a:rPr lang="en-US" sz="2400" kern="0" dirty="0">
                <a:solidFill>
                  <a:srgbClr val="000000"/>
                </a:solidFill>
                <a:latin typeface="Arial" pitchFamily="34"/>
                <a:cs typeface="Arial" pitchFamily="34"/>
              </a:rPr>
              <a:t>With default parameters in Contiki </a:t>
            </a:r>
          </a:p>
          <a:p>
            <a:pPr lvl="1" indent="-342900">
              <a:spcBef>
                <a:spcPts val="0"/>
              </a:spcBef>
              <a:buSzPct val="100000"/>
            </a:pPr>
            <a:r>
              <a:rPr lang="en-US" sz="2400" kern="0" dirty="0">
                <a:solidFill>
                  <a:srgbClr val="000000"/>
                </a:solidFill>
                <a:latin typeface="Arial" pitchFamily="34"/>
                <a:cs typeface="Arial" pitchFamily="34"/>
              </a:rPr>
              <a:t>With controlled external radio perturbations</a:t>
            </a:r>
          </a:p>
        </p:txBody>
      </p:sp>
      <p:sp>
        <p:nvSpPr>
          <p:cNvPr id="3" name="Title 1"/>
          <p:cNvSpPr txBox="1">
            <a:spLocks noGrp="1"/>
          </p:cNvSpPr>
          <p:nvPr>
            <p:ph type="title" idx="4294967295"/>
          </p:nvPr>
        </p:nvSpPr>
        <p:spPr>
          <a:xfrm>
            <a:off x="201213" y="692696"/>
            <a:ext cx="7772400" cy="793754"/>
          </a:xfrm>
          <a:prstGeom prst="rect">
            <a:avLst/>
          </a:prstGeom>
          <a:noFill/>
          <a:ln>
            <a:noFill/>
          </a:ln>
        </p:spPr>
        <p:txBody>
          <a:bodyPr vert="horz" wrap="square" lIns="91440" tIns="45720" rIns="91440" bIns="45720" anchor="t" anchorCtr="0" compatLnSpc="1">
            <a:noAutofit/>
          </a:bodyPr>
          <a:lstStyle/>
          <a:p>
            <a:pPr lvl="0">
              <a:lnSpc>
                <a:spcPct val="100000"/>
              </a:lnSpc>
              <a:spcBef>
                <a:spcPts val="0"/>
              </a:spcBef>
              <a:buSzPct val="100000"/>
            </a:pPr>
            <a:r>
              <a:rPr lang="en-US" sz="4000" kern="0" dirty="0">
                <a:solidFill>
                  <a:srgbClr val="000000"/>
                </a:solidFill>
                <a:latin typeface="Arial" pitchFamily="34"/>
                <a:cs typeface="Arial" pitchFamily="34"/>
              </a:rPr>
              <a:t>Performance metrics</a:t>
            </a:r>
          </a:p>
        </p:txBody>
      </p:sp>
      <p:sp>
        <p:nvSpPr>
          <p:cNvPr id="6" name="Slide Number Placeholder 6"/>
          <p:cNvSpPr txBox="1"/>
          <p:nvPr/>
        </p:nvSpPr>
        <p:spPr>
          <a:xfrm>
            <a:off x="6553203" y="6356351"/>
            <a:ext cx="2133596" cy="365129"/>
          </a:xfrm>
          <a:prstGeom prst="rect">
            <a:avLst/>
          </a:prstGeom>
          <a:noFill/>
          <a:ln>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42654CE-81A2-49E3-85C1-4352EAD28C5D}" type="slidenum">
              <a:rPr/>
              <a:t>34</a:t>
            </a:fld>
            <a:endParaRPr lang="en-US"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2554236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1115613" y="532304"/>
            <a:ext cx="6481760" cy="647696"/>
          </a:xfrm>
          <a:prstGeom prst="rect">
            <a:avLst/>
          </a:prstGeom>
          <a:noFill/>
          <a:ln>
            <a:noFill/>
          </a:ln>
        </p:spPr>
        <p:txBody>
          <a:bodyPr vert="horz" wrap="square" lIns="91440" tIns="45720" rIns="91440" bIns="45720" anchor="t" anchorCtr="0" compatLnSpc="1">
            <a:noAutofit/>
          </a:bodyPr>
          <a:lstStyle/>
          <a:p>
            <a:pPr lvl="0">
              <a:lnSpc>
                <a:spcPct val="100000"/>
              </a:lnSpc>
              <a:spcBef>
                <a:spcPts val="0"/>
              </a:spcBef>
            </a:pPr>
            <a:r>
              <a:rPr lang="en-US" sz="4000" kern="0" dirty="0">
                <a:solidFill>
                  <a:srgbClr val="000000"/>
                </a:solidFill>
                <a:latin typeface="Arial" pitchFamily="34"/>
                <a:cs typeface="Arial" pitchFamily="34"/>
              </a:rPr>
              <a:t>Packet latency</a:t>
            </a:r>
            <a:endParaRPr lang="en-US" sz="4000" b="1" kern="0" dirty="0">
              <a:solidFill>
                <a:srgbClr val="000000"/>
              </a:solidFill>
              <a:latin typeface="Arial" pitchFamily="34"/>
              <a:cs typeface="Arial" pitchFamily="34"/>
            </a:endParaRPr>
          </a:p>
        </p:txBody>
      </p:sp>
      <p:sp>
        <p:nvSpPr>
          <p:cNvPr id="8" name="Slide Number Placeholder 7"/>
          <p:cNvSpPr txBox="1"/>
          <p:nvPr/>
        </p:nvSpPr>
        <p:spPr>
          <a:xfrm>
            <a:off x="6553203" y="6356351"/>
            <a:ext cx="2133596" cy="365129"/>
          </a:xfrm>
          <a:prstGeom prst="rect">
            <a:avLst/>
          </a:prstGeom>
          <a:noFill/>
          <a:ln>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AA99597-2B45-490C-802D-A7A28FCFB297}" type="slidenum">
              <a:rPr/>
              <a:t>35</a:t>
            </a:fld>
            <a:endParaRPr lang="en-US" sz="1200" b="0" i="0" u="none" strike="noStrike" kern="1200" cap="none" spc="0" baseline="0">
              <a:solidFill>
                <a:srgbClr val="000000"/>
              </a:solidFill>
              <a:uFillTx/>
              <a:latin typeface="Calibri"/>
            </a:endParaRPr>
          </a:p>
        </p:txBody>
      </p:sp>
      <p:cxnSp>
        <p:nvCxnSpPr>
          <p:cNvPr id="60" name="Straight Arrow Connector 59"/>
          <p:cNvCxnSpPr/>
          <p:nvPr/>
        </p:nvCxnSpPr>
        <p:spPr>
          <a:xfrm flipV="1">
            <a:off x="1115613" y="1628426"/>
            <a:ext cx="25052" cy="4413567"/>
          </a:xfrm>
          <a:prstGeom prst="straightConnector1">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228348" y="5714812"/>
            <a:ext cx="649537" cy="332655"/>
          </a:xfrm>
          <a:prstGeom prst="rect">
            <a:avLst/>
          </a:prstGeom>
          <a:noFill/>
        </p:spPr>
        <p:txBody>
          <a:bodyPr wrap="none" rtlCol="0">
            <a:spAutoFit/>
          </a:bodyPr>
          <a:lstStyle/>
          <a:p>
            <a:r>
              <a:rPr lang="en-US" dirty="0"/>
              <a:t>Time</a:t>
            </a:r>
          </a:p>
        </p:txBody>
      </p:sp>
      <p:sp>
        <p:nvSpPr>
          <p:cNvPr id="62" name="TextBox 61"/>
          <p:cNvSpPr txBox="1"/>
          <p:nvPr/>
        </p:nvSpPr>
        <p:spPr>
          <a:xfrm rot="16200000">
            <a:off x="1199174" y="1839094"/>
            <a:ext cx="1324144" cy="646331"/>
          </a:xfrm>
          <a:prstGeom prst="rect">
            <a:avLst/>
          </a:prstGeom>
          <a:noFill/>
        </p:spPr>
        <p:txBody>
          <a:bodyPr wrap="square" rtlCol="0">
            <a:spAutoFit/>
          </a:bodyPr>
          <a:lstStyle/>
          <a:p>
            <a:pPr algn="ctr"/>
            <a:r>
              <a:rPr lang="en-US" dirty="0">
                <a:solidFill>
                  <a:schemeClr val="tx2">
                    <a:lumMod val="60000"/>
                    <a:lumOff val="40000"/>
                  </a:schemeClr>
                </a:solidFill>
              </a:rPr>
              <a:t>Sender application</a:t>
            </a:r>
          </a:p>
        </p:txBody>
      </p:sp>
      <p:cxnSp>
        <p:nvCxnSpPr>
          <p:cNvPr id="63" name="Straight Connector 62"/>
          <p:cNvCxnSpPr/>
          <p:nvPr/>
        </p:nvCxnSpPr>
        <p:spPr>
          <a:xfrm>
            <a:off x="1861244" y="2070692"/>
            <a:ext cx="0" cy="3553864"/>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rot="16200000">
            <a:off x="2260964" y="1839093"/>
            <a:ext cx="1324144" cy="646331"/>
          </a:xfrm>
          <a:prstGeom prst="rect">
            <a:avLst/>
          </a:prstGeom>
          <a:noFill/>
        </p:spPr>
        <p:txBody>
          <a:bodyPr wrap="square" rtlCol="0">
            <a:spAutoFit/>
          </a:bodyPr>
          <a:lstStyle/>
          <a:p>
            <a:pPr algn="ctr"/>
            <a:r>
              <a:rPr lang="en-US" dirty="0">
                <a:solidFill>
                  <a:schemeClr val="tx2">
                    <a:lumMod val="60000"/>
                    <a:lumOff val="40000"/>
                  </a:schemeClr>
                </a:solidFill>
              </a:rPr>
              <a:t>Sender MAC layer</a:t>
            </a:r>
          </a:p>
        </p:txBody>
      </p:sp>
      <p:cxnSp>
        <p:nvCxnSpPr>
          <p:cNvPr id="65" name="Straight Connector 64"/>
          <p:cNvCxnSpPr/>
          <p:nvPr/>
        </p:nvCxnSpPr>
        <p:spPr>
          <a:xfrm>
            <a:off x="2923034" y="2070692"/>
            <a:ext cx="0" cy="3553864"/>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rot="16200000">
            <a:off x="3322753" y="1839093"/>
            <a:ext cx="1324145" cy="646331"/>
          </a:xfrm>
          <a:prstGeom prst="rect">
            <a:avLst/>
          </a:prstGeom>
          <a:noFill/>
        </p:spPr>
        <p:txBody>
          <a:bodyPr wrap="square" rtlCol="0">
            <a:spAutoFit/>
          </a:bodyPr>
          <a:lstStyle/>
          <a:p>
            <a:pPr algn="ctr"/>
            <a:r>
              <a:rPr lang="en-US" dirty="0">
                <a:solidFill>
                  <a:schemeClr val="tx2">
                    <a:lumMod val="60000"/>
                    <a:lumOff val="40000"/>
                  </a:schemeClr>
                </a:solidFill>
              </a:rPr>
              <a:t>Radio Transmitter</a:t>
            </a:r>
          </a:p>
        </p:txBody>
      </p:sp>
      <p:cxnSp>
        <p:nvCxnSpPr>
          <p:cNvPr id="67" name="Straight Connector 66"/>
          <p:cNvCxnSpPr/>
          <p:nvPr/>
        </p:nvCxnSpPr>
        <p:spPr>
          <a:xfrm>
            <a:off x="3984824" y="2070692"/>
            <a:ext cx="0" cy="3553864"/>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rot="16200000">
            <a:off x="4448663" y="1903213"/>
            <a:ext cx="1195904" cy="646331"/>
          </a:xfrm>
          <a:prstGeom prst="rect">
            <a:avLst/>
          </a:prstGeom>
          <a:noFill/>
        </p:spPr>
        <p:txBody>
          <a:bodyPr wrap="square" rtlCol="0">
            <a:spAutoFit/>
          </a:bodyPr>
          <a:lstStyle/>
          <a:p>
            <a:pPr algn="ctr"/>
            <a:r>
              <a:rPr lang="en-US" dirty="0">
                <a:solidFill>
                  <a:schemeClr val="tx2">
                    <a:lumMod val="60000"/>
                    <a:lumOff val="40000"/>
                  </a:schemeClr>
                </a:solidFill>
              </a:rPr>
              <a:t>Radio Receiver</a:t>
            </a:r>
          </a:p>
        </p:txBody>
      </p:sp>
      <p:cxnSp>
        <p:nvCxnSpPr>
          <p:cNvPr id="69" name="Straight Connector 68"/>
          <p:cNvCxnSpPr/>
          <p:nvPr/>
        </p:nvCxnSpPr>
        <p:spPr>
          <a:xfrm>
            <a:off x="5046614" y="2070692"/>
            <a:ext cx="0" cy="3553864"/>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rot="16200000">
            <a:off x="5510453" y="1903213"/>
            <a:ext cx="1195904" cy="646331"/>
          </a:xfrm>
          <a:prstGeom prst="rect">
            <a:avLst/>
          </a:prstGeom>
          <a:noFill/>
        </p:spPr>
        <p:txBody>
          <a:bodyPr wrap="square" rtlCol="0">
            <a:spAutoFit/>
          </a:bodyPr>
          <a:lstStyle/>
          <a:p>
            <a:pPr algn="ctr"/>
            <a:r>
              <a:rPr lang="en-US" dirty="0">
                <a:solidFill>
                  <a:schemeClr val="tx2">
                    <a:lumMod val="60000"/>
                    <a:lumOff val="40000"/>
                  </a:schemeClr>
                </a:solidFill>
              </a:rPr>
              <a:t>Receiver MAC layer</a:t>
            </a:r>
          </a:p>
        </p:txBody>
      </p:sp>
      <p:cxnSp>
        <p:nvCxnSpPr>
          <p:cNvPr id="71" name="Straight Connector 70"/>
          <p:cNvCxnSpPr/>
          <p:nvPr/>
        </p:nvCxnSpPr>
        <p:spPr>
          <a:xfrm>
            <a:off x="6108404" y="2070692"/>
            <a:ext cx="0" cy="3553864"/>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rot="16200000">
            <a:off x="6508121" y="1839093"/>
            <a:ext cx="1324145" cy="646331"/>
          </a:xfrm>
          <a:prstGeom prst="rect">
            <a:avLst/>
          </a:prstGeom>
          <a:noFill/>
        </p:spPr>
        <p:txBody>
          <a:bodyPr wrap="square" rtlCol="0">
            <a:spAutoFit/>
          </a:bodyPr>
          <a:lstStyle/>
          <a:p>
            <a:pPr algn="ctr"/>
            <a:r>
              <a:rPr lang="en-US" dirty="0">
                <a:solidFill>
                  <a:schemeClr val="tx2">
                    <a:lumMod val="60000"/>
                    <a:lumOff val="40000"/>
                  </a:schemeClr>
                </a:solidFill>
              </a:rPr>
              <a:t>Receiver application</a:t>
            </a:r>
          </a:p>
        </p:txBody>
      </p:sp>
      <p:cxnSp>
        <p:nvCxnSpPr>
          <p:cNvPr id="73" name="Straight Connector 72"/>
          <p:cNvCxnSpPr/>
          <p:nvPr/>
        </p:nvCxnSpPr>
        <p:spPr>
          <a:xfrm>
            <a:off x="7170192" y="2070692"/>
            <a:ext cx="0" cy="3553864"/>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4" name="Cloud 73"/>
          <p:cNvSpPr/>
          <p:nvPr/>
        </p:nvSpPr>
        <p:spPr>
          <a:xfrm>
            <a:off x="4263271" y="1861972"/>
            <a:ext cx="515326" cy="4180021"/>
          </a:xfrm>
          <a:prstGeom prst="cloud">
            <a:avLst/>
          </a:prstGeom>
          <a:solidFill>
            <a:schemeClr val="accent1">
              <a:lumMod val="20000"/>
              <a:lumOff val="80000"/>
            </a:schemeClr>
          </a:solid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5" name="Straight Arrow Connector 74"/>
          <p:cNvCxnSpPr/>
          <p:nvPr/>
        </p:nvCxnSpPr>
        <p:spPr>
          <a:xfrm>
            <a:off x="1908208" y="2993563"/>
            <a:ext cx="1061790"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2912551" y="3462889"/>
            <a:ext cx="106179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2923035" y="3143610"/>
            <a:ext cx="106179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2907620" y="3703138"/>
            <a:ext cx="106179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5023551" y="5016357"/>
            <a:ext cx="1061790"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6113619" y="5271788"/>
            <a:ext cx="1061790"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3969410" y="4561217"/>
            <a:ext cx="106179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2913948" y="4143343"/>
            <a:ext cx="106179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3969410" y="3590317"/>
            <a:ext cx="106179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3990039" y="3239889"/>
            <a:ext cx="106179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3990039" y="4938266"/>
            <a:ext cx="1061790"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2912551" y="4854551"/>
            <a:ext cx="1061790"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endCxn id="88" idx="10"/>
          </p:cNvCxnSpPr>
          <p:nvPr/>
        </p:nvCxnSpPr>
        <p:spPr>
          <a:xfrm>
            <a:off x="3984824" y="3815959"/>
            <a:ext cx="438630" cy="0"/>
          </a:xfrm>
          <a:prstGeom prst="straightConnector1">
            <a:avLst/>
          </a:prstGeom>
          <a:ln w="38100">
            <a:solidFill>
              <a:schemeClr val="accent6">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16-Point Star 87"/>
          <p:cNvSpPr/>
          <p:nvPr/>
        </p:nvSpPr>
        <p:spPr>
          <a:xfrm>
            <a:off x="4423454" y="3703138"/>
            <a:ext cx="215525" cy="225642"/>
          </a:xfrm>
          <a:prstGeom prst="star1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rot="16200000">
            <a:off x="4343464" y="3476001"/>
            <a:ext cx="2052630" cy="369332"/>
          </a:xfrm>
          <a:prstGeom prst="rect">
            <a:avLst/>
          </a:prstGeom>
          <a:solidFill>
            <a:schemeClr val="accent4">
              <a:lumMod val="60000"/>
              <a:lumOff val="40000"/>
            </a:schemeClr>
          </a:solidFill>
          <a:ln>
            <a:solidFill>
              <a:schemeClr val="tx1"/>
            </a:solidFill>
          </a:ln>
        </p:spPr>
        <p:txBody>
          <a:bodyPr wrap="square" rtlCol="0">
            <a:spAutoFit/>
          </a:bodyPr>
          <a:lstStyle/>
          <a:p>
            <a:r>
              <a:rPr lang="en-US" b="1" dirty="0">
                <a:solidFill>
                  <a:schemeClr val="bg1"/>
                </a:solidFill>
              </a:rPr>
              <a:t>Receiver sleeping</a:t>
            </a:r>
          </a:p>
        </p:txBody>
      </p:sp>
      <p:cxnSp>
        <p:nvCxnSpPr>
          <p:cNvPr id="90" name="Straight Arrow Connector 89"/>
          <p:cNvCxnSpPr/>
          <p:nvPr/>
        </p:nvCxnSpPr>
        <p:spPr>
          <a:xfrm>
            <a:off x="5023551" y="5084416"/>
            <a:ext cx="1061790" cy="0"/>
          </a:xfrm>
          <a:prstGeom prst="straightConnector1">
            <a:avLst/>
          </a:prstGeom>
          <a:ln w="38100">
            <a:solidFill>
              <a:srgbClr val="92D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2928249" y="5217991"/>
            <a:ext cx="1061790" cy="0"/>
          </a:xfrm>
          <a:prstGeom prst="straightConnector1">
            <a:avLst/>
          </a:prstGeom>
          <a:ln w="38100">
            <a:solidFill>
              <a:srgbClr val="33CC3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3984824" y="5153304"/>
            <a:ext cx="1061790" cy="0"/>
          </a:xfrm>
          <a:prstGeom prst="straightConnector1">
            <a:avLst/>
          </a:prstGeom>
          <a:ln w="38100">
            <a:solidFill>
              <a:srgbClr val="33CC3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a:off x="2928249" y="4476659"/>
            <a:ext cx="1061790"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2928249" y="2993563"/>
            <a:ext cx="574055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7170192" y="5271788"/>
            <a:ext cx="14986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5052622" y="4938266"/>
            <a:ext cx="275789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7709932" y="2993563"/>
            <a:ext cx="0" cy="1944703"/>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7709932" y="5291033"/>
            <a:ext cx="0" cy="333522"/>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a:off x="8280501" y="2993563"/>
            <a:ext cx="0" cy="2278225"/>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rot="16200000">
            <a:off x="7382957" y="3948009"/>
            <a:ext cx="1410549" cy="369332"/>
          </a:xfrm>
          <a:prstGeom prst="rect">
            <a:avLst/>
          </a:prstGeom>
          <a:noFill/>
        </p:spPr>
        <p:txBody>
          <a:bodyPr wrap="none" rtlCol="0">
            <a:spAutoFit/>
          </a:bodyPr>
          <a:lstStyle/>
          <a:p>
            <a:r>
              <a:rPr lang="en-US" b="1" i="1" dirty="0">
                <a:solidFill>
                  <a:srgbClr val="FF0000"/>
                </a:solidFill>
              </a:rPr>
              <a:t>Packet latency</a:t>
            </a:r>
          </a:p>
        </p:txBody>
      </p:sp>
      <p:sp>
        <p:nvSpPr>
          <p:cNvPr id="101" name="TextBox 100"/>
          <p:cNvSpPr txBox="1"/>
          <p:nvPr/>
        </p:nvSpPr>
        <p:spPr>
          <a:xfrm rot="16200000">
            <a:off x="6807750" y="3784799"/>
            <a:ext cx="1435036" cy="369332"/>
          </a:xfrm>
          <a:prstGeom prst="rect">
            <a:avLst/>
          </a:prstGeom>
          <a:noFill/>
        </p:spPr>
        <p:txBody>
          <a:bodyPr wrap="none" rtlCol="0">
            <a:spAutoFit/>
          </a:bodyPr>
          <a:lstStyle/>
          <a:p>
            <a:r>
              <a:rPr lang="en-US" b="1" i="1" dirty="0">
                <a:solidFill>
                  <a:srgbClr val="FF0000"/>
                </a:solidFill>
              </a:rPr>
              <a:t>Sender latency</a:t>
            </a:r>
          </a:p>
        </p:txBody>
      </p:sp>
      <p:sp>
        <p:nvSpPr>
          <p:cNvPr id="102" name="TextBox 101"/>
          <p:cNvSpPr txBox="1"/>
          <p:nvPr/>
        </p:nvSpPr>
        <p:spPr>
          <a:xfrm rot="16200000">
            <a:off x="7207221" y="5440795"/>
            <a:ext cx="1005422" cy="646331"/>
          </a:xfrm>
          <a:prstGeom prst="rect">
            <a:avLst/>
          </a:prstGeom>
          <a:noFill/>
        </p:spPr>
        <p:txBody>
          <a:bodyPr wrap="square" rtlCol="0">
            <a:spAutoFit/>
          </a:bodyPr>
          <a:lstStyle/>
          <a:p>
            <a:r>
              <a:rPr lang="en-US" b="1" i="1" dirty="0">
                <a:solidFill>
                  <a:srgbClr val="FF0000"/>
                </a:solidFill>
              </a:rPr>
              <a:t>Receiver latency</a:t>
            </a:r>
          </a:p>
        </p:txBody>
      </p:sp>
      <p:cxnSp>
        <p:nvCxnSpPr>
          <p:cNvPr id="103" name="Straight Connector 102"/>
          <p:cNvCxnSpPr>
            <a:endCxn id="102" idx="1"/>
          </p:cNvCxnSpPr>
          <p:nvPr/>
        </p:nvCxnSpPr>
        <p:spPr>
          <a:xfrm>
            <a:off x="7709932" y="4938266"/>
            <a:ext cx="1" cy="13284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4289264" y="4885336"/>
            <a:ext cx="505267" cy="332655"/>
          </a:xfrm>
          <a:prstGeom prst="rect">
            <a:avLst/>
          </a:prstGeom>
          <a:noFill/>
        </p:spPr>
        <p:txBody>
          <a:bodyPr wrap="none" rtlCol="0">
            <a:spAutoFit/>
          </a:bodyPr>
          <a:lstStyle/>
          <a:p>
            <a:r>
              <a:rPr lang="en-US" b="1" dirty="0" err="1">
                <a:solidFill>
                  <a:srgbClr val="33CC33"/>
                </a:solidFill>
              </a:rPr>
              <a:t>ack</a:t>
            </a:r>
            <a:endParaRPr lang="en-US" b="1" dirty="0">
              <a:solidFill>
                <a:srgbClr val="33CC33"/>
              </a:solidFill>
            </a:endParaRPr>
          </a:p>
        </p:txBody>
      </p:sp>
      <p:sp>
        <p:nvSpPr>
          <p:cNvPr id="105" name="Oval Callout 104"/>
          <p:cNvSpPr/>
          <p:nvPr/>
        </p:nvSpPr>
        <p:spPr>
          <a:xfrm>
            <a:off x="2031652" y="3189527"/>
            <a:ext cx="733003" cy="407416"/>
          </a:xfrm>
          <a:prstGeom prst="wedgeEllipseCallout">
            <a:avLst>
              <a:gd name="adj1" fmla="val -70217"/>
              <a:gd name="adj2" fmla="val -95109"/>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t</a:t>
            </a:r>
            <a:r>
              <a:rPr lang="en-US" dirty="0" err="1"/>
              <a:t>sa</a:t>
            </a:r>
            <a:endParaRPr lang="en-US" dirty="0"/>
          </a:p>
        </p:txBody>
      </p:sp>
      <p:sp>
        <p:nvSpPr>
          <p:cNvPr id="106" name="Oval Callout 105"/>
          <p:cNvSpPr/>
          <p:nvPr/>
        </p:nvSpPr>
        <p:spPr>
          <a:xfrm>
            <a:off x="2072602" y="5153304"/>
            <a:ext cx="733003" cy="407416"/>
          </a:xfrm>
          <a:prstGeom prst="wedgeEllipseCallout">
            <a:avLst>
              <a:gd name="adj1" fmla="val 206764"/>
              <a:gd name="adj2" fmla="val -119093"/>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t</a:t>
            </a:r>
            <a:r>
              <a:rPr lang="en-US" dirty="0" err="1"/>
              <a:t>sr</a:t>
            </a:r>
            <a:endParaRPr lang="en-US" dirty="0"/>
          </a:p>
        </p:txBody>
      </p:sp>
      <p:sp>
        <p:nvSpPr>
          <p:cNvPr id="107" name="Oval Callout 106"/>
          <p:cNvSpPr/>
          <p:nvPr/>
        </p:nvSpPr>
        <p:spPr>
          <a:xfrm>
            <a:off x="6272797" y="3393235"/>
            <a:ext cx="733003" cy="407416"/>
          </a:xfrm>
          <a:prstGeom prst="wedgeEllipseCallout">
            <a:avLst>
              <a:gd name="adj1" fmla="val -216108"/>
              <a:gd name="adj2" fmla="val 346881"/>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t</a:t>
            </a:r>
            <a:r>
              <a:rPr lang="en-US" dirty="0" err="1"/>
              <a:t>rr</a:t>
            </a:r>
            <a:endParaRPr lang="en-US" dirty="0"/>
          </a:p>
        </p:txBody>
      </p:sp>
      <p:sp>
        <p:nvSpPr>
          <p:cNvPr id="108" name="Oval Callout 107"/>
          <p:cNvSpPr/>
          <p:nvPr/>
        </p:nvSpPr>
        <p:spPr>
          <a:xfrm>
            <a:off x="6235785" y="4357509"/>
            <a:ext cx="733003" cy="407416"/>
          </a:xfrm>
          <a:prstGeom prst="wedgeEllipseCallout">
            <a:avLst>
              <a:gd name="adj1" fmla="val 73560"/>
              <a:gd name="adj2" fmla="val 172140"/>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t</a:t>
            </a:r>
            <a:r>
              <a:rPr lang="en-US" dirty="0" err="1"/>
              <a:t>ra</a:t>
            </a:r>
            <a:endParaRPr lang="en-US" dirty="0"/>
          </a:p>
        </p:txBody>
      </p:sp>
    </p:spTree>
    <p:extLst>
      <p:ext uri="{BB962C8B-B14F-4D97-AF65-F5344CB8AC3E}">
        <p14:creationId xmlns:p14="http://schemas.microsoft.com/office/powerpoint/2010/main" val="1272902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E0112-3800-4EBE-BA6B-5C1150F99D4F}"/>
              </a:ext>
            </a:extLst>
          </p:cNvPr>
          <p:cNvSpPr>
            <a:spLocks noGrp="1"/>
          </p:cNvSpPr>
          <p:nvPr>
            <p:ph type="title"/>
          </p:nvPr>
        </p:nvSpPr>
        <p:spPr>
          <a:xfrm>
            <a:off x="620801" y="883993"/>
            <a:ext cx="7886700" cy="994172"/>
          </a:xfrm>
        </p:spPr>
        <p:txBody>
          <a:bodyPr>
            <a:normAutofit/>
          </a:bodyPr>
          <a:lstStyle/>
          <a:p>
            <a:pPr algn="ctr"/>
            <a:r>
              <a:rPr lang="en-US" sz="2700" b="1" dirty="0"/>
              <a:t>Latency Definition</a:t>
            </a:r>
            <a:endParaRPr lang="en-GB" sz="2700" b="1" dirty="0"/>
          </a:p>
        </p:txBody>
      </p:sp>
      <p:pic>
        <p:nvPicPr>
          <p:cNvPr id="17" name="Picture 16">
            <a:extLst>
              <a:ext uri="{FF2B5EF4-FFF2-40B4-BE49-F238E27FC236}">
                <a16:creationId xmlns:a16="http://schemas.microsoft.com/office/drawing/2014/main" id="{ACA9BD89-2DED-4BB6-8567-81D697CCF54F}"/>
              </a:ext>
            </a:extLst>
          </p:cNvPr>
          <p:cNvPicPr/>
          <p:nvPr/>
        </p:nvPicPr>
        <p:blipFill>
          <a:blip r:embed="rId3"/>
          <a:stretch>
            <a:fillRect/>
          </a:stretch>
        </p:blipFill>
        <p:spPr>
          <a:xfrm>
            <a:off x="1691680" y="620688"/>
            <a:ext cx="6048672" cy="3662545"/>
          </a:xfrm>
          <a:prstGeom prst="rect">
            <a:avLst/>
          </a:prstGeom>
        </p:spPr>
      </p:pic>
      <p:sp>
        <p:nvSpPr>
          <p:cNvPr id="18" name="TextBox 17">
            <a:extLst>
              <a:ext uri="{FF2B5EF4-FFF2-40B4-BE49-F238E27FC236}">
                <a16:creationId xmlns:a16="http://schemas.microsoft.com/office/drawing/2014/main" id="{17DB7CE3-9264-4514-A0AD-60215D4FCBE5}"/>
              </a:ext>
            </a:extLst>
          </p:cNvPr>
          <p:cNvSpPr txBox="1"/>
          <p:nvPr/>
        </p:nvSpPr>
        <p:spPr>
          <a:xfrm>
            <a:off x="529174" y="4546538"/>
            <a:ext cx="8106492" cy="1546577"/>
          </a:xfrm>
          <a:prstGeom prst="rect">
            <a:avLst/>
          </a:prstGeom>
          <a:noFill/>
        </p:spPr>
        <p:txBody>
          <a:bodyPr wrap="square" rtlCol="0">
            <a:spAutoFit/>
          </a:bodyPr>
          <a:lstStyle/>
          <a:p>
            <a:pPr marL="214313" indent="-214313">
              <a:buFontTx/>
              <a:buChar char="-"/>
            </a:pPr>
            <a:r>
              <a:rPr lang="en-US" sz="1350" dirty="0" err="1"/>
              <a:t>t</a:t>
            </a:r>
            <a:r>
              <a:rPr lang="en-US" sz="1350" baseline="-25000" dirty="0" err="1"/>
              <a:t>sa</a:t>
            </a:r>
            <a:r>
              <a:rPr lang="en-US" sz="1350" dirty="0"/>
              <a:t> and </a:t>
            </a:r>
            <a:r>
              <a:rPr lang="en-US" sz="1350" dirty="0" err="1"/>
              <a:t>t</a:t>
            </a:r>
            <a:r>
              <a:rPr lang="en-US" sz="1350" baseline="-25000" dirty="0" err="1"/>
              <a:t>sr</a:t>
            </a:r>
            <a:r>
              <a:rPr lang="en-US" sz="1350" dirty="0"/>
              <a:t> can both be derived from the local sender clock</a:t>
            </a:r>
          </a:p>
          <a:p>
            <a:pPr marL="214313" indent="-214313">
              <a:buFontTx/>
              <a:buChar char="-"/>
            </a:pPr>
            <a:r>
              <a:rPr lang="en-US" sz="1350" dirty="0" err="1"/>
              <a:t>t</a:t>
            </a:r>
            <a:r>
              <a:rPr lang="en-US" sz="1350" baseline="-25000" dirty="0" err="1"/>
              <a:t>sa</a:t>
            </a:r>
            <a:r>
              <a:rPr lang="en-US" sz="1350" dirty="0"/>
              <a:t> can be included in the packet before sending it and </a:t>
            </a:r>
            <a:r>
              <a:rPr lang="en-US" sz="1350" dirty="0" err="1"/>
              <a:t>t</a:t>
            </a:r>
            <a:r>
              <a:rPr lang="en-US" sz="1350" baseline="-25000" dirty="0" err="1"/>
              <a:t>sr</a:t>
            </a:r>
            <a:r>
              <a:rPr lang="en-US" sz="1350" dirty="0"/>
              <a:t> can inserted in the last two bytes by a Contiki macro.</a:t>
            </a:r>
          </a:p>
          <a:p>
            <a:pPr marL="214313" indent="-214313">
              <a:buFontTx/>
              <a:buChar char="-"/>
            </a:pPr>
            <a:r>
              <a:rPr lang="en-US" sz="1350" dirty="0"/>
              <a:t>After receiving a packet, the receiver can compute the sender latency. </a:t>
            </a:r>
          </a:p>
          <a:p>
            <a:pPr marL="214313" indent="-214313">
              <a:buFontTx/>
              <a:buChar char="-"/>
            </a:pPr>
            <a:r>
              <a:rPr lang="en-US" sz="1350" dirty="0"/>
              <a:t>A similar mechanism allows to calculate the receiver latency.</a:t>
            </a:r>
          </a:p>
          <a:p>
            <a:pPr marL="214313" indent="-214313">
              <a:buFontTx/>
              <a:buChar char="-"/>
            </a:pPr>
            <a:r>
              <a:rPr lang="en-US" sz="1350" dirty="0"/>
              <a:t>Conclusion: by simple programming additions and 8 bytes in each packet, it is possible to compute accurately the latency of a packet over a single hop.</a:t>
            </a:r>
          </a:p>
          <a:p>
            <a:endParaRPr lang="en-US" sz="1350" dirty="0"/>
          </a:p>
        </p:txBody>
      </p:sp>
    </p:spTree>
    <p:extLst>
      <p:ext uri="{BB962C8B-B14F-4D97-AF65-F5344CB8AC3E}">
        <p14:creationId xmlns:p14="http://schemas.microsoft.com/office/powerpoint/2010/main" val="1980635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172" y="594806"/>
            <a:ext cx="7446672" cy="711497"/>
          </a:xfrm>
        </p:spPr>
        <p:txBody>
          <a:bodyPr/>
          <a:lstStyle/>
          <a:p>
            <a:r>
              <a:rPr lang="en-US" dirty="0"/>
              <a:t>Random delay between packets</a:t>
            </a:r>
          </a:p>
        </p:txBody>
      </p:sp>
      <p:grpSp>
        <p:nvGrpSpPr>
          <p:cNvPr id="4" name="Group 3"/>
          <p:cNvGrpSpPr/>
          <p:nvPr/>
        </p:nvGrpSpPr>
        <p:grpSpPr>
          <a:xfrm>
            <a:off x="802105" y="1869904"/>
            <a:ext cx="8229600" cy="4129843"/>
            <a:chOff x="242045" y="1316940"/>
            <a:chExt cx="8653184" cy="4587081"/>
          </a:xfrm>
        </p:grpSpPr>
        <p:cxnSp>
          <p:nvCxnSpPr>
            <p:cNvPr id="5" name="Straight Arrow Connector 4"/>
            <p:cNvCxnSpPr/>
            <p:nvPr/>
          </p:nvCxnSpPr>
          <p:spPr>
            <a:xfrm>
              <a:off x="242047" y="1963271"/>
              <a:ext cx="864645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954741" y="1452282"/>
              <a:ext cx="242047" cy="5109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411506" y="1452282"/>
              <a:ext cx="242047" cy="5109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68271" y="1452282"/>
              <a:ext cx="242047" cy="5109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325036" y="1452282"/>
              <a:ext cx="242047" cy="5109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81801" y="1452282"/>
              <a:ext cx="242047" cy="5109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238566" y="1452282"/>
              <a:ext cx="242047" cy="5109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196788" y="1316940"/>
              <a:ext cx="1107141" cy="646331"/>
            </a:xfrm>
            <a:prstGeom prst="rect">
              <a:avLst/>
            </a:prstGeom>
            <a:noFill/>
          </p:spPr>
          <p:txBody>
            <a:bodyPr wrap="square" rtlCol="0">
              <a:spAutoFit/>
            </a:bodyPr>
            <a:lstStyle/>
            <a:p>
              <a:r>
                <a:rPr lang="en-US" dirty="0"/>
                <a:t>Receiver wake-ups</a:t>
              </a:r>
            </a:p>
          </p:txBody>
        </p:sp>
        <p:cxnSp>
          <p:nvCxnSpPr>
            <p:cNvPr id="13" name="Straight Arrow Connector 12"/>
            <p:cNvCxnSpPr/>
            <p:nvPr/>
          </p:nvCxnSpPr>
          <p:spPr>
            <a:xfrm>
              <a:off x="248770" y="4858871"/>
              <a:ext cx="864645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505623" y="1501606"/>
              <a:ext cx="292068" cy="461665"/>
            </a:xfrm>
            <a:prstGeom prst="rect">
              <a:avLst/>
            </a:prstGeom>
            <a:noFill/>
          </p:spPr>
          <p:txBody>
            <a:bodyPr wrap="none" rtlCol="0">
              <a:spAutoFit/>
            </a:bodyPr>
            <a:lstStyle/>
            <a:p>
              <a:r>
                <a:rPr lang="en-US" sz="2400" b="1" dirty="0"/>
                <a:t>t</a:t>
              </a:r>
            </a:p>
          </p:txBody>
        </p:sp>
        <p:sp>
          <p:nvSpPr>
            <p:cNvPr id="15" name="Rectangle 14"/>
            <p:cNvSpPr/>
            <p:nvPr/>
          </p:nvSpPr>
          <p:spPr>
            <a:xfrm>
              <a:off x="1472448" y="4347882"/>
              <a:ext cx="242047" cy="510989"/>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920750" y="4347882"/>
              <a:ext cx="242047" cy="510989"/>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498475" y="4347882"/>
              <a:ext cx="242047" cy="510989"/>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2411506" y="1963271"/>
              <a:ext cx="0" cy="3079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868271" y="1963271"/>
              <a:ext cx="0" cy="3079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325036" y="1963271"/>
              <a:ext cx="0" cy="3079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781801" y="1963271"/>
              <a:ext cx="0" cy="3079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8238566" y="1963271"/>
              <a:ext cx="0" cy="3079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7162797" y="4598890"/>
              <a:ext cx="1075769" cy="2"/>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3738281" y="4598892"/>
              <a:ext cx="129990"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1696566" y="4598891"/>
              <a:ext cx="744074" cy="1"/>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a:xfrm>
              <a:off x="242045" y="2398054"/>
              <a:ext cx="8646459" cy="524437"/>
              <a:chOff x="242046" y="2900080"/>
              <a:chExt cx="8646459" cy="524437"/>
            </a:xfrm>
          </p:grpSpPr>
          <p:cxnSp>
            <p:nvCxnSpPr>
              <p:cNvPr id="29" name="Straight Arrow Connector 28"/>
              <p:cNvCxnSpPr/>
              <p:nvPr/>
            </p:nvCxnSpPr>
            <p:spPr>
              <a:xfrm>
                <a:off x="242046" y="3411071"/>
                <a:ext cx="864645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1425385" y="2913528"/>
                <a:ext cx="242047" cy="510989"/>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4323228" y="2900081"/>
                <a:ext cx="242047" cy="510989"/>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7218828" y="2900080"/>
                <a:ext cx="242047" cy="510989"/>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a:stCxn id="30" idx="3"/>
              </p:cNvCxnSpPr>
              <p:nvPr/>
            </p:nvCxnSpPr>
            <p:spPr>
              <a:xfrm flipV="1">
                <a:off x="1667432" y="3169022"/>
                <a:ext cx="744074" cy="1"/>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7494492" y="3169023"/>
                <a:ext cx="744074" cy="1"/>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4580962" y="3169021"/>
                <a:ext cx="744074" cy="1"/>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1402969" y="2933180"/>
              <a:ext cx="7123040" cy="830997"/>
            </a:xfrm>
            <a:prstGeom prst="rect">
              <a:avLst/>
            </a:prstGeom>
            <a:noFill/>
          </p:spPr>
          <p:txBody>
            <a:bodyPr wrap="none" rtlCol="0">
              <a:spAutoFit/>
            </a:bodyPr>
            <a:lstStyle/>
            <a:p>
              <a:pPr algn="ctr"/>
              <a:r>
                <a:rPr lang="en-US" sz="2400" b="1" dirty="0">
                  <a:solidFill>
                    <a:srgbClr val="FF0000"/>
                  </a:solidFill>
                </a:rPr>
                <a:t>Constant but unpredictable delay</a:t>
              </a:r>
            </a:p>
            <a:p>
              <a:pPr algn="ctr"/>
              <a:r>
                <a:rPr lang="en-US" sz="2400" b="1" dirty="0">
                  <a:solidFill>
                    <a:srgbClr val="FF0000"/>
                  </a:solidFill>
                </a:rPr>
                <a:t>(many experiments needed for obtaining mean value)</a:t>
              </a:r>
            </a:p>
          </p:txBody>
        </p:sp>
        <p:sp>
          <p:nvSpPr>
            <p:cNvPr id="28" name="TextBox 27"/>
            <p:cNvSpPr txBox="1"/>
            <p:nvPr/>
          </p:nvSpPr>
          <p:spPr>
            <a:xfrm>
              <a:off x="2001549" y="5073024"/>
              <a:ext cx="5714770" cy="830997"/>
            </a:xfrm>
            <a:prstGeom prst="rect">
              <a:avLst/>
            </a:prstGeom>
            <a:noFill/>
          </p:spPr>
          <p:txBody>
            <a:bodyPr wrap="none" rtlCol="0">
              <a:spAutoFit/>
            </a:bodyPr>
            <a:lstStyle/>
            <a:p>
              <a:pPr algn="ctr"/>
              <a:r>
                <a:rPr lang="en-US" sz="2400" b="1" dirty="0">
                  <a:solidFill>
                    <a:srgbClr val="FF0000"/>
                  </a:solidFill>
                </a:rPr>
                <a:t>Variable delay</a:t>
              </a:r>
            </a:p>
            <a:p>
              <a:pPr algn="ctr"/>
              <a:r>
                <a:rPr lang="en-US" sz="2400" b="1" dirty="0">
                  <a:solidFill>
                    <a:srgbClr val="FF0000"/>
                  </a:solidFill>
                </a:rPr>
                <a:t>(One experiment for obtaining mean value)</a:t>
              </a:r>
            </a:p>
          </p:txBody>
        </p:sp>
      </p:grpSp>
    </p:spTree>
    <p:extLst>
      <p:ext uri="{BB962C8B-B14F-4D97-AF65-F5344CB8AC3E}">
        <p14:creationId xmlns:p14="http://schemas.microsoft.com/office/powerpoint/2010/main" val="15699975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5953" y="586379"/>
            <a:ext cx="6912004" cy="729545"/>
          </a:xfrm>
        </p:spPr>
        <p:txBody>
          <a:bodyPr/>
          <a:lstStyle/>
          <a:p>
            <a:r>
              <a:rPr lang="en-US" dirty="0"/>
              <a:t>Latency measurements</a:t>
            </a:r>
          </a:p>
        </p:txBody>
      </p:sp>
      <p:sp>
        <p:nvSpPr>
          <p:cNvPr id="5" name="TextBox 4"/>
          <p:cNvSpPr txBox="1"/>
          <p:nvPr/>
        </p:nvSpPr>
        <p:spPr>
          <a:xfrm>
            <a:off x="1143000" y="1900841"/>
            <a:ext cx="4896340" cy="523220"/>
          </a:xfrm>
          <a:prstGeom prst="rect">
            <a:avLst/>
          </a:prstGeom>
          <a:noFill/>
        </p:spPr>
        <p:txBody>
          <a:bodyPr wrap="none" rtlCol="0">
            <a:spAutoFit/>
          </a:bodyPr>
          <a:lstStyle/>
          <a:p>
            <a:r>
              <a:rPr lang="en-US" sz="2800" dirty="0"/>
              <a:t>Time stamps included in packets</a:t>
            </a:r>
          </a:p>
        </p:txBody>
      </p:sp>
      <p:grpSp>
        <p:nvGrpSpPr>
          <p:cNvPr id="60" name="Group 59"/>
          <p:cNvGrpSpPr/>
          <p:nvPr/>
        </p:nvGrpSpPr>
        <p:grpSpPr>
          <a:xfrm>
            <a:off x="661114" y="2814566"/>
            <a:ext cx="4672014" cy="3157538"/>
            <a:chOff x="1143000" y="2600325"/>
            <a:chExt cx="4672014" cy="3157538"/>
          </a:xfrm>
        </p:grpSpPr>
        <p:sp>
          <p:nvSpPr>
            <p:cNvPr id="57" name="Rounded Rectangle 56"/>
            <p:cNvSpPr/>
            <p:nvPr/>
          </p:nvSpPr>
          <p:spPr>
            <a:xfrm>
              <a:off x="1143000" y="2600325"/>
              <a:ext cx="4672014" cy="315753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flipV="1">
              <a:off x="1355953" y="2785888"/>
              <a:ext cx="15918" cy="2786412"/>
            </a:xfrm>
            <a:prstGeom prst="straightConnector1">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16785" y="3050642"/>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291462" y="3050642"/>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966139" y="3050642"/>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640816" y="3050642"/>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990169" y="3050642"/>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Cloud 19"/>
            <p:cNvSpPr/>
            <p:nvPr/>
          </p:nvSpPr>
          <p:spPr>
            <a:xfrm>
              <a:off x="3143069" y="2918871"/>
              <a:ext cx="327446" cy="2638968"/>
            </a:xfrm>
            <a:prstGeom prst="cloud">
              <a:avLst/>
            </a:prstGeom>
            <a:solidFill>
              <a:schemeClr val="accent1">
                <a:lumMod val="20000"/>
                <a:lumOff val="80000"/>
              </a:schemeClr>
            </a:solid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p:cNvCxnSpPr/>
            <p:nvPr/>
          </p:nvCxnSpPr>
          <p:spPr>
            <a:xfrm>
              <a:off x="1646627" y="3633277"/>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284801" y="3929576"/>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291463" y="3728006"/>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81668" y="4081252"/>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626162" y="4910325"/>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318807" y="5071586"/>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956345" y="4622982"/>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285689" y="4359167"/>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956345" y="4010025"/>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969453" y="3788790"/>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2969453" y="4861024"/>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2284801" y="4808173"/>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34" idx="10"/>
            </p:cNvCxnSpPr>
            <p:nvPr/>
          </p:nvCxnSpPr>
          <p:spPr>
            <a:xfrm>
              <a:off x="2966139" y="4152480"/>
              <a:ext cx="278712" cy="0"/>
            </a:xfrm>
            <a:prstGeom prst="straightConnector1">
              <a:avLst/>
            </a:prstGeom>
            <a:ln w="38100">
              <a:solidFill>
                <a:schemeClr val="accent6">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16-Point Star 33"/>
            <p:cNvSpPr/>
            <p:nvPr/>
          </p:nvSpPr>
          <p:spPr>
            <a:xfrm>
              <a:off x="3244851" y="4081252"/>
              <a:ext cx="136948" cy="142454"/>
            </a:xfrm>
            <a:prstGeom prst="star16">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rot="16200000">
              <a:off x="3198218" y="3869773"/>
              <a:ext cx="1295884" cy="369332"/>
            </a:xfrm>
            <a:prstGeom prst="rect">
              <a:avLst/>
            </a:prstGeom>
            <a:solidFill>
              <a:schemeClr val="accent4">
                <a:lumMod val="60000"/>
                <a:lumOff val="40000"/>
              </a:schemeClr>
            </a:solidFill>
            <a:ln>
              <a:solidFill>
                <a:schemeClr val="tx1"/>
              </a:solidFill>
            </a:ln>
          </p:spPr>
          <p:txBody>
            <a:bodyPr wrap="square" rtlCol="0">
              <a:spAutoFit/>
            </a:bodyPr>
            <a:lstStyle/>
            <a:p>
              <a:endParaRPr lang="en-US" b="1" dirty="0">
                <a:solidFill>
                  <a:schemeClr val="bg1"/>
                </a:solidFill>
              </a:endParaRPr>
            </a:p>
          </p:txBody>
        </p:sp>
        <p:cxnSp>
          <p:nvCxnSpPr>
            <p:cNvPr id="36" name="Straight Arrow Connector 35"/>
            <p:cNvCxnSpPr/>
            <p:nvPr/>
          </p:nvCxnSpPr>
          <p:spPr>
            <a:xfrm>
              <a:off x="3626162" y="4953293"/>
              <a:ext cx="674677" cy="0"/>
            </a:xfrm>
            <a:prstGeom prst="straightConnector1">
              <a:avLst/>
            </a:prstGeom>
            <a:ln w="38100">
              <a:solidFill>
                <a:srgbClr val="92D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2294776" y="5037623"/>
              <a:ext cx="674677" cy="0"/>
            </a:xfrm>
            <a:prstGeom prst="straightConnector1">
              <a:avLst/>
            </a:prstGeom>
            <a:ln w="38100">
              <a:solidFill>
                <a:srgbClr val="33CC3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2966139" y="4996784"/>
              <a:ext cx="674677" cy="0"/>
            </a:xfrm>
            <a:prstGeom prst="straightConnector1">
              <a:avLst/>
            </a:prstGeom>
            <a:ln w="38100">
              <a:solidFill>
                <a:srgbClr val="33CC3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294776" y="4569599"/>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294776" y="3633277"/>
              <a:ext cx="336307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4990169" y="5071586"/>
              <a:ext cx="66768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3644633" y="4861024"/>
              <a:ext cx="175240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333128" y="3633277"/>
              <a:ext cx="0" cy="1227747"/>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5333128" y="5083736"/>
              <a:ext cx="0" cy="210562"/>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5466290" y="3633277"/>
              <a:ext cx="0" cy="1438309"/>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333128" y="4861024"/>
              <a:ext cx="0" cy="6968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159585" y="4827608"/>
              <a:ext cx="321054" cy="210015"/>
            </a:xfrm>
            <a:prstGeom prst="rect">
              <a:avLst/>
            </a:prstGeom>
            <a:noFill/>
          </p:spPr>
          <p:txBody>
            <a:bodyPr wrap="none" rtlCol="0">
              <a:spAutoFit/>
            </a:bodyPr>
            <a:lstStyle/>
            <a:p>
              <a:r>
                <a:rPr lang="en-US" b="1" dirty="0" err="1">
                  <a:solidFill>
                    <a:srgbClr val="33CC33"/>
                  </a:solidFill>
                </a:rPr>
                <a:t>ack</a:t>
              </a:r>
              <a:endParaRPr lang="en-US" b="1" dirty="0">
                <a:solidFill>
                  <a:srgbClr val="33CC33"/>
                </a:solidFill>
              </a:endParaRPr>
            </a:p>
          </p:txBody>
        </p:sp>
        <p:sp>
          <p:nvSpPr>
            <p:cNvPr id="51" name="Oval Callout 50"/>
            <p:cNvSpPr/>
            <p:nvPr/>
          </p:nvSpPr>
          <p:spPr>
            <a:xfrm>
              <a:off x="1725065" y="3756995"/>
              <a:ext cx="465761" cy="257213"/>
            </a:xfrm>
            <a:prstGeom prst="wedgeEllipseCallout">
              <a:avLst>
                <a:gd name="adj1" fmla="val -70217"/>
                <a:gd name="adj2" fmla="val -9510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Callout 51"/>
            <p:cNvSpPr/>
            <p:nvPr/>
          </p:nvSpPr>
          <p:spPr>
            <a:xfrm>
              <a:off x="1751085" y="4996784"/>
              <a:ext cx="465761" cy="257213"/>
            </a:xfrm>
            <a:prstGeom prst="wedgeEllipseCallout">
              <a:avLst>
                <a:gd name="adj1" fmla="val 206764"/>
                <a:gd name="adj2" fmla="val -119093"/>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Callout 52"/>
            <p:cNvSpPr/>
            <p:nvPr/>
          </p:nvSpPr>
          <p:spPr>
            <a:xfrm>
              <a:off x="4419951" y="3885602"/>
              <a:ext cx="465761" cy="257213"/>
            </a:xfrm>
            <a:prstGeom prst="wedgeEllipseCallout">
              <a:avLst>
                <a:gd name="adj1" fmla="val -216108"/>
                <a:gd name="adj2" fmla="val 346881"/>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Callout 53"/>
            <p:cNvSpPr/>
            <p:nvPr/>
          </p:nvSpPr>
          <p:spPr>
            <a:xfrm>
              <a:off x="4396433" y="4494376"/>
              <a:ext cx="465761" cy="257213"/>
            </a:xfrm>
            <a:prstGeom prst="wedgeEllipseCallout">
              <a:avLst>
                <a:gd name="adj1" fmla="val 73560"/>
                <a:gd name="adj2" fmla="val 17214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1" name="TextBox 60"/>
          <p:cNvSpPr txBox="1"/>
          <p:nvPr/>
        </p:nvSpPr>
        <p:spPr>
          <a:xfrm>
            <a:off x="5565089" y="2708920"/>
            <a:ext cx="3478367" cy="3416320"/>
          </a:xfrm>
          <a:prstGeom prst="rect">
            <a:avLst/>
          </a:prstGeom>
          <a:noFill/>
        </p:spPr>
        <p:txBody>
          <a:bodyPr wrap="square" rtlCol="0">
            <a:spAutoFit/>
          </a:bodyPr>
          <a:lstStyle/>
          <a:p>
            <a:pPr marL="342900" indent="-342900">
              <a:buFont typeface="Arial" panose="020B0604020202020204" pitchFamily="34" charset="0"/>
              <a:buChar char="•"/>
            </a:pPr>
            <a:r>
              <a:rPr lang="en-US" sz="2400" b="1" dirty="0"/>
              <a:t>Synchronization of sender and receiver clocks required.</a:t>
            </a:r>
          </a:p>
          <a:p>
            <a:pPr marL="342900" indent="-342900">
              <a:buFont typeface="Arial" panose="020B0604020202020204" pitchFamily="34" charset="0"/>
              <a:buChar char="•"/>
            </a:pPr>
            <a:r>
              <a:rPr lang="en-US" sz="2400" b="1" dirty="0"/>
              <a:t>Can be used in simulated systems (COOJA) in which all mote’s clocks stay synchronized </a:t>
            </a:r>
          </a:p>
          <a:p>
            <a:pPr marL="342900" indent="-342900">
              <a:buFont typeface="Arial" panose="020B0604020202020204" pitchFamily="34" charset="0"/>
              <a:buChar char="•"/>
            </a:pPr>
            <a:r>
              <a:rPr lang="en-US" sz="2400" b="1" dirty="0"/>
              <a:t>(no clock drift)</a:t>
            </a:r>
          </a:p>
        </p:txBody>
      </p:sp>
    </p:spTree>
    <p:extLst>
      <p:ext uri="{BB962C8B-B14F-4D97-AF65-F5344CB8AC3E}">
        <p14:creationId xmlns:p14="http://schemas.microsoft.com/office/powerpoint/2010/main" val="2461195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1842" y="661495"/>
            <a:ext cx="6912004" cy="729545"/>
          </a:xfrm>
        </p:spPr>
        <p:txBody>
          <a:bodyPr/>
          <a:lstStyle/>
          <a:p>
            <a:r>
              <a:rPr lang="en-US" dirty="0"/>
              <a:t>Latency measurements</a:t>
            </a:r>
          </a:p>
        </p:txBody>
      </p:sp>
      <p:sp>
        <p:nvSpPr>
          <p:cNvPr id="5" name="TextBox 4"/>
          <p:cNvSpPr txBox="1"/>
          <p:nvPr/>
        </p:nvSpPr>
        <p:spPr>
          <a:xfrm>
            <a:off x="1155132" y="1601449"/>
            <a:ext cx="6751015" cy="830997"/>
          </a:xfrm>
          <a:prstGeom prst="rect">
            <a:avLst/>
          </a:prstGeom>
          <a:noFill/>
        </p:spPr>
        <p:txBody>
          <a:bodyPr wrap="none" rtlCol="0">
            <a:spAutoFit/>
          </a:bodyPr>
          <a:lstStyle/>
          <a:p>
            <a:r>
              <a:rPr lang="en-US" sz="2400" b="1" dirty="0">
                <a:solidFill>
                  <a:srgbClr val="FF0000"/>
                </a:solidFill>
              </a:rPr>
              <a:t>Begin and end of Sender latency </a:t>
            </a:r>
            <a:r>
              <a:rPr lang="en-US" sz="2400" b="1" dirty="0"/>
              <a:t> included in packet</a:t>
            </a:r>
          </a:p>
          <a:p>
            <a:r>
              <a:rPr lang="en-US" sz="2400" b="1" dirty="0">
                <a:solidFill>
                  <a:srgbClr val="0070C0"/>
                </a:solidFill>
              </a:rPr>
              <a:t>Receiver latency </a:t>
            </a:r>
            <a:r>
              <a:rPr lang="en-US" sz="2400" b="1" dirty="0"/>
              <a:t>computed in receiver</a:t>
            </a:r>
          </a:p>
        </p:txBody>
      </p:sp>
      <p:sp>
        <p:nvSpPr>
          <p:cNvPr id="57" name="Rounded Rectangle 56"/>
          <p:cNvSpPr/>
          <p:nvPr/>
        </p:nvSpPr>
        <p:spPr>
          <a:xfrm>
            <a:off x="1096194" y="2846786"/>
            <a:ext cx="4672014" cy="315753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flipV="1">
            <a:off x="1368085" y="2923949"/>
            <a:ext cx="15918" cy="2786412"/>
          </a:xfrm>
          <a:prstGeom prst="straightConnector1">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28917" y="3188703"/>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303594" y="3188703"/>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978271" y="3188703"/>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652948" y="3188703"/>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002301" y="3188703"/>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Cloud 19"/>
          <p:cNvSpPr/>
          <p:nvPr/>
        </p:nvSpPr>
        <p:spPr>
          <a:xfrm>
            <a:off x="3155201" y="3056932"/>
            <a:ext cx="327446" cy="2638968"/>
          </a:xfrm>
          <a:prstGeom prst="cloud">
            <a:avLst/>
          </a:prstGeom>
          <a:solidFill>
            <a:schemeClr val="accent1">
              <a:lumMod val="20000"/>
              <a:lumOff val="80000"/>
            </a:schemeClr>
          </a:solid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p:cNvCxnSpPr/>
          <p:nvPr/>
        </p:nvCxnSpPr>
        <p:spPr>
          <a:xfrm>
            <a:off x="1658759" y="3771338"/>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296933" y="4067637"/>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303595" y="3866067"/>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93800" y="4219313"/>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638294" y="5048386"/>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330939" y="5209647"/>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968477" y="4761043"/>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333436" y="4497228"/>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968477" y="4148086"/>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981585" y="3926851"/>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2981585" y="4999085"/>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2296933" y="4946234"/>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34" idx="10"/>
          </p:cNvCxnSpPr>
          <p:nvPr/>
        </p:nvCxnSpPr>
        <p:spPr>
          <a:xfrm>
            <a:off x="2978271" y="4290541"/>
            <a:ext cx="278712" cy="0"/>
          </a:xfrm>
          <a:prstGeom prst="straightConnector1">
            <a:avLst/>
          </a:prstGeom>
          <a:ln w="38100">
            <a:solidFill>
              <a:schemeClr val="accent6">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16-Point Star 33"/>
          <p:cNvSpPr/>
          <p:nvPr/>
        </p:nvSpPr>
        <p:spPr>
          <a:xfrm>
            <a:off x="3256983" y="4219313"/>
            <a:ext cx="136948" cy="142454"/>
          </a:xfrm>
          <a:prstGeom prst="star16">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rot="16200000">
            <a:off x="3210350" y="4007834"/>
            <a:ext cx="1295884" cy="369332"/>
          </a:xfrm>
          <a:prstGeom prst="rect">
            <a:avLst/>
          </a:prstGeom>
          <a:solidFill>
            <a:schemeClr val="accent4">
              <a:lumMod val="60000"/>
              <a:lumOff val="40000"/>
            </a:schemeClr>
          </a:solidFill>
          <a:ln>
            <a:solidFill>
              <a:schemeClr val="tx1"/>
            </a:solidFill>
          </a:ln>
        </p:spPr>
        <p:txBody>
          <a:bodyPr wrap="square" rtlCol="0">
            <a:spAutoFit/>
          </a:bodyPr>
          <a:lstStyle/>
          <a:p>
            <a:endParaRPr lang="en-US" b="1" dirty="0">
              <a:solidFill>
                <a:schemeClr val="bg1"/>
              </a:solidFill>
            </a:endParaRPr>
          </a:p>
        </p:txBody>
      </p:sp>
      <p:cxnSp>
        <p:nvCxnSpPr>
          <p:cNvPr id="36" name="Straight Arrow Connector 35"/>
          <p:cNvCxnSpPr/>
          <p:nvPr/>
        </p:nvCxnSpPr>
        <p:spPr>
          <a:xfrm>
            <a:off x="3638294" y="5091354"/>
            <a:ext cx="674677" cy="0"/>
          </a:xfrm>
          <a:prstGeom prst="straightConnector1">
            <a:avLst/>
          </a:prstGeom>
          <a:ln w="38100">
            <a:solidFill>
              <a:srgbClr val="92D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2306908" y="5175684"/>
            <a:ext cx="674677" cy="0"/>
          </a:xfrm>
          <a:prstGeom prst="straightConnector1">
            <a:avLst/>
          </a:prstGeom>
          <a:ln w="38100">
            <a:solidFill>
              <a:srgbClr val="33CC3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2978271" y="5134845"/>
            <a:ext cx="674677" cy="0"/>
          </a:xfrm>
          <a:prstGeom prst="straightConnector1">
            <a:avLst/>
          </a:prstGeom>
          <a:ln w="38100">
            <a:solidFill>
              <a:srgbClr val="33CC3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333436" y="4700364"/>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306908" y="3771338"/>
            <a:ext cx="336307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002301" y="5209647"/>
            <a:ext cx="66768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3656765" y="4999085"/>
            <a:ext cx="175240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345260" y="3771338"/>
            <a:ext cx="0" cy="1227747"/>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5345260" y="5221797"/>
            <a:ext cx="0" cy="210562"/>
          </a:xfrm>
          <a:prstGeom prst="straightConnector1">
            <a:avLst/>
          </a:prstGeom>
          <a:ln>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5478422" y="3771338"/>
            <a:ext cx="0" cy="1438309"/>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345260" y="4999085"/>
            <a:ext cx="0" cy="6968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Oval Callout 50"/>
          <p:cNvSpPr/>
          <p:nvPr/>
        </p:nvSpPr>
        <p:spPr>
          <a:xfrm>
            <a:off x="1737197" y="3895056"/>
            <a:ext cx="465761" cy="257213"/>
          </a:xfrm>
          <a:prstGeom prst="wedgeEllipseCallout">
            <a:avLst>
              <a:gd name="adj1" fmla="val -70217"/>
              <a:gd name="adj2" fmla="val -9510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Callout 51"/>
          <p:cNvSpPr/>
          <p:nvPr/>
        </p:nvSpPr>
        <p:spPr>
          <a:xfrm>
            <a:off x="1763217" y="5134845"/>
            <a:ext cx="465761" cy="257213"/>
          </a:xfrm>
          <a:prstGeom prst="wedgeEllipseCallout">
            <a:avLst>
              <a:gd name="adj1" fmla="val 206764"/>
              <a:gd name="adj2" fmla="val -106728"/>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Callout 53"/>
          <p:cNvSpPr/>
          <p:nvPr/>
        </p:nvSpPr>
        <p:spPr>
          <a:xfrm>
            <a:off x="4408565" y="4632437"/>
            <a:ext cx="465761" cy="257213"/>
          </a:xfrm>
          <a:prstGeom prst="wedgeEllipseCallout">
            <a:avLst>
              <a:gd name="adj1" fmla="val 73560"/>
              <a:gd name="adj2" fmla="val 17214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6" name="Straight Connector 45"/>
          <p:cNvCxnSpPr/>
          <p:nvPr/>
        </p:nvCxnSpPr>
        <p:spPr>
          <a:xfrm>
            <a:off x="4333195" y="3199967"/>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3" name="Oval Callout 52"/>
          <p:cNvSpPr/>
          <p:nvPr/>
        </p:nvSpPr>
        <p:spPr>
          <a:xfrm>
            <a:off x="4432083" y="4023663"/>
            <a:ext cx="465761" cy="257213"/>
          </a:xfrm>
          <a:prstGeom prst="wedgeEllipseCallout">
            <a:avLst>
              <a:gd name="adj1" fmla="val -216108"/>
              <a:gd name="adj2" fmla="val 346881"/>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5937788" y="3324459"/>
            <a:ext cx="2806493" cy="1938992"/>
          </a:xfrm>
          <a:prstGeom prst="rect">
            <a:avLst/>
          </a:prstGeom>
          <a:noFill/>
        </p:spPr>
        <p:txBody>
          <a:bodyPr wrap="square" rtlCol="0">
            <a:spAutoFit/>
          </a:bodyPr>
          <a:lstStyle/>
          <a:p>
            <a:pPr marL="342900" indent="-342900">
              <a:buFont typeface="Arial" panose="020B0604020202020204" pitchFamily="34" charset="0"/>
              <a:buChar char="•"/>
            </a:pPr>
            <a:r>
              <a:rPr lang="en-US" sz="2400" b="1" dirty="0"/>
              <a:t>No need for clock synchronization.</a:t>
            </a:r>
          </a:p>
          <a:p>
            <a:pPr marL="342900" indent="-342900">
              <a:buFont typeface="Arial" panose="020B0604020202020204" pitchFamily="34" charset="0"/>
              <a:buChar char="•"/>
            </a:pPr>
            <a:r>
              <a:rPr lang="en-US" sz="2400" b="1" dirty="0"/>
              <a:t>Incompatible with application level checksums</a:t>
            </a:r>
          </a:p>
        </p:txBody>
      </p:sp>
    </p:spTree>
    <p:extLst>
      <p:ext uri="{BB962C8B-B14F-4D97-AF65-F5344CB8AC3E}">
        <p14:creationId xmlns:p14="http://schemas.microsoft.com/office/powerpoint/2010/main" val="1183620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0444" y="515206"/>
            <a:ext cx="6912004" cy="729545"/>
          </a:xfrm>
        </p:spPr>
        <p:txBody>
          <a:bodyPr/>
          <a:lstStyle/>
          <a:p>
            <a:r>
              <a:rPr lang="en-US" dirty="0"/>
              <a:t>Latency measurements</a:t>
            </a:r>
          </a:p>
        </p:txBody>
      </p:sp>
      <p:sp>
        <p:nvSpPr>
          <p:cNvPr id="5" name="TextBox 4"/>
          <p:cNvSpPr txBox="1"/>
          <p:nvPr/>
        </p:nvSpPr>
        <p:spPr>
          <a:xfrm>
            <a:off x="1143000" y="1900841"/>
            <a:ext cx="3236014" cy="523220"/>
          </a:xfrm>
          <a:prstGeom prst="rect">
            <a:avLst/>
          </a:prstGeom>
          <a:noFill/>
        </p:spPr>
        <p:txBody>
          <a:bodyPr wrap="none" rtlCol="0">
            <a:spAutoFit/>
          </a:bodyPr>
          <a:lstStyle/>
          <a:p>
            <a:r>
              <a:rPr lang="en-US" sz="2800" dirty="0"/>
              <a:t>External data logging</a:t>
            </a:r>
          </a:p>
        </p:txBody>
      </p:sp>
      <p:sp>
        <p:nvSpPr>
          <p:cNvPr id="57" name="Rounded Rectangle 56"/>
          <p:cNvSpPr/>
          <p:nvPr/>
        </p:nvSpPr>
        <p:spPr>
          <a:xfrm>
            <a:off x="1143000" y="2424061"/>
            <a:ext cx="4672014" cy="315753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flipV="1">
            <a:off x="1355953" y="2609624"/>
            <a:ext cx="15918" cy="2786412"/>
          </a:xfrm>
          <a:prstGeom prst="straightConnector1">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16785" y="2874378"/>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291462" y="2874378"/>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966139" y="2874378"/>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640816" y="2874378"/>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990169" y="2874378"/>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Cloud 19"/>
          <p:cNvSpPr/>
          <p:nvPr/>
        </p:nvSpPr>
        <p:spPr>
          <a:xfrm>
            <a:off x="3143069" y="2742607"/>
            <a:ext cx="327446" cy="2638968"/>
          </a:xfrm>
          <a:prstGeom prst="cloud">
            <a:avLst/>
          </a:prstGeom>
          <a:solidFill>
            <a:schemeClr val="accent1">
              <a:lumMod val="20000"/>
              <a:lumOff val="80000"/>
            </a:schemeClr>
          </a:solidFill>
          <a:ln w="95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p:cNvCxnSpPr/>
          <p:nvPr/>
        </p:nvCxnSpPr>
        <p:spPr>
          <a:xfrm>
            <a:off x="1646627" y="3457013"/>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284801" y="3753312"/>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291463" y="3551742"/>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81668" y="3904988"/>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626162" y="4734061"/>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318807" y="4895322"/>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956345" y="4446718"/>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2285689" y="4182903"/>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956345" y="3833761"/>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969453" y="3612526"/>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2969453" y="4684760"/>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2284801" y="4631909"/>
            <a:ext cx="674677" cy="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34" idx="10"/>
          </p:cNvCxnSpPr>
          <p:nvPr/>
        </p:nvCxnSpPr>
        <p:spPr>
          <a:xfrm>
            <a:off x="2966139" y="3976216"/>
            <a:ext cx="278712" cy="0"/>
          </a:xfrm>
          <a:prstGeom prst="straightConnector1">
            <a:avLst/>
          </a:prstGeom>
          <a:ln w="38100">
            <a:solidFill>
              <a:schemeClr val="accent6">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16-Point Star 33"/>
          <p:cNvSpPr/>
          <p:nvPr/>
        </p:nvSpPr>
        <p:spPr>
          <a:xfrm>
            <a:off x="3244851" y="3904988"/>
            <a:ext cx="136948" cy="142454"/>
          </a:xfrm>
          <a:prstGeom prst="star16">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rot="16200000">
            <a:off x="3198218" y="3693509"/>
            <a:ext cx="1295884" cy="369332"/>
          </a:xfrm>
          <a:prstGeom prst="rect">
            <a:avLst/>
          </a:prstGeom>
          <a:solidFill>
            <a:schemeClr val="accent4">
              <a:lumMod val="60000"/>
              <a:lumOff val="40000"/>
            </a:schemeClr>
          </a:solidFill>
          <a:ln>
            <a:solidFill>
              <a:schemeClr val="tx1"/>
            </a:solidFill>
          </a:ln>
        </p:spPr>
        <p:txBody>
          <a:bodyPr wrap="square" rtlCol="0">
            <a:spAutoFit/>
          </a:bodyPr>
          <a:lstStyle/>
          <a:p>
            <a:endParaRPr lang="en-US" b="1" dirty="0">
              <a:solidFill>
                <a:schemeClr val="bg1"/>
              </a:solidFill>
            </a:endParaRPr>
          </a:p>
        </p:txBody>
      </p:sp>
      <p:cxnSp>
        <p:nvCxnSpPr>
          <p:cNvPr id="36" name="Straight Arrow Connector 35"/>
          <p:cNvCxnSpPr/>
          <p:nvPr/>
        </p:nvCxnSpPr>
        <p:spPr>
          <a:xfrm>
            <a:off x="3626162" y="4777029"/>
            <a:ext cx="674677" cy="0"/>
          </a:xfrm>
          <a:prstGeom prst="straightConnector1">
            <a:avLst/>
          </a:prstGeom>
          <a:ln w="38100">
            <a:solidFill>
              <a:srgbClr val="92D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2294776" y="4861359"/>
            <a:ext cx="674677" cy="0"/>
          </a:xfrm>
          <a:prstGeom prst="straightConnector1">
            <a:avLst/>
          </a:prstGeom>
          <a:ln w="38100">
            <a:solidFill>
              <a:srgbClr val="33CC3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2966139" y="4820520"/>
            <a:ext cx="674677" cy="0"/>
          </a:xfrm>
          <a:prstGeom prst="straightConnector1">
            <a:avLst/>
          </a:prstGeom>
          <a:ln w="38100">
            <a:solidFill>
              <a:srgbClr val="33CC3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294776" y="4393335"/>
            <a:ext cx="674677" cy="0"/>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294776" y="3457013"/>
            <a:ext cx="336307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4990169" y="4895322"/>
            <a:ext cx="66768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3644633" y="4684760"/>
            <a:ext cx="175240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333128" y="3457013"/>
            <a:ext cx="0" cy="1227747"/>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5333128" y="4907472"/>
            <a:ext cx="0" cy="210562"/>
          </a:xfrm>
          <a:prstGeom prst="straightConnector1">
            <a:avLst/>
          </a:prstGeom>
          <a:ln>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5466290" y="3457013"/>
            <a:ext cx="0" cy="1438309"/>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333128" y="4684760"/>
            <a:ext cx="0" cy="6968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Oval Callout 50"/>
          <p:cNvSpPr/>
          <p:nvPr/>
        </p:nvSpPr>
        <p:spPr>
          <a:xfrm>
            <a:off x="1725065" y="3580731"/>
            <a:ext cx="465761" cy="257213"/>
          </a:xfrm>
          <a:prstGeom prst="wedgeEllipseCallout">
            <a:avLst>
              <a:gd name="adj1" fmla="val -70217"/>
              <a:gd name="adj2" fmla="val -95109"/>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Callout 51"/>
          <p:cNvSpPr/>
          <p:nvPr/>
        </p:nvSpPr>
        <p:spPr>
          <a:xfrm>
            <a:off x="1887953" y="4769468"/>
            <a:ext cx="465761" cy="257213"/>
          </a:xfrm>
          <a:prstGeom prst="wedgeEllipseCallout">
            <a:avLst>
              <a:gd name="adj1" fmla="val 206764"/>
              <a:gd name="adj2" fmla="val -119093"/>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Callout 53"/>
          <p:cNvSpPr/>
          <p:nvPr/>
        </p:nvSpPr>
        <p:spPr>
          <a:xfrm>
            <a:off x="4396433" y="4318112"/>
            <a:ext cx="465761" cy="257213"/>
          </a:xfrm>
          <a:prstGeom prst="wedgeEllipseCallout">
            <a:avLst>
              <a:gd name="adj1" fmla="val 73560"/>
              <a:gd name="adj2" fmla="val 17214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0" name="Straight Connector 79"/>
          <p:cNvCxnSpPr/>
          <p:nvPr/>
        </p:nvCxnSpPr>
        <p:spPr>
          <a:xfrm>
            <a:off x="4324833" y="2874377"/>
            <a:ext cx="0" cy="224365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3" name="Oval Callout 52"/>
          <p:cNvSpPr/>
          <p:nvPr/>
        </p:nvSpPr>
        <p:spPr>
          <a:xfrm>
            <a:off x="4419951" y="3709338"/>
            <a:ext cx="465761" cy="257213"/>
          </a:xfrm>
          <a:prstGeom prst="wedgeEllipseCallout">
            <a:avLst>
              <a:gd name="adj1" fmla="val -216108"/>
              <a:gd name="adj2" fmla="val 346881"/>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p:cNvSpPr txBox="1"/>
          <p:nvPr/>
        </p:nvSpPr>
        <p:spPr>
          <a:xfrm>
            <a:off x="5973269" y="2343444"/>
            <a:ext cx="3082919" cy="3046988"/>
          </a:xfrm>
          <a:prstGeom prst="rect">
            <a:avLst/>
          </a:prstGeom>
          <a:noFill/>
        </p:spPr>
        <p:txBody>
          <a:bodyPr wrap="square" rtlCol="0">
            <a:spAutoFit/>
          </a:bodyPr>
          <a:lstStyle/>
          <a:p>
            <a:r>
              <a:rPr lang="en-US" sz="2400" b="1" dirty="0"/>
              <a:t>The application layer software generates a pulse on an I/O port.</a:t>
            </a:r>
            <a:br>
              <a:rPr lang="en-US" sz="2400" b="1" dirty="0"/>
            </a:br>
            <a:r>
              <a:rPr lang="en-US" sz="2400" b="1" dirty="0"/>
              <a:t>An external data-logger records these pulses. </a:t>
            </a:r>
          </a:p>
          <a:p>
            <a:r>
              <a:rPr lang="en-US" sz="2400" b="1" dirty="0">
                <a:solidFill>
                  <a:srgbClr val="FF0000"/>
                </a:solidFill>
              </a:rPr>
              <a:t>Lost and duplicated packets cause errors</a:t>
            </a:r>
          </a:p>
        </p:txBody>
      </p:sp>
      <p:grpSp>
        <p:nvGrpSpPr>
          <p:cNvPr id="73" name="Group 72"/>
          <p:cNvGrpSpPr/>
          <p:nvPr/>
        </p:nvGrpSpPr>
        <p:grpSpPr>
          <a:xfrm>
            <a:off x="1883320" y="3639012"/>
            <a:ext cx="171450" cy="114300"/>
            <a:chOff x="7172325" y="1943100"/>
            <a:chExt cx="647699" cy="590550"/>
          </a:xfrm>
        </p:grpSpPr>
        <p:cxnSp>
          <p:nvCxnSpPr>
            <p:cNvPr id="63" name="Straight Connector 62"/>
            <p:cNvCxnSpPr/>
            <p:nvPr/>
          </p:nvCxnSpPr>
          <p:spPr>
            <a:xfrm>
              <a:off x="7172325" y="2524125"/>
              <a:ext cx="152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V="1">
              <a:off x="7324725" y="1943101"/>
              <a:ext cx="1" cy="58102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7324725" y="1943100"/>
              <a:ext cx="3429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7667624" y="1943101"/>
              <a:ext cx="1" cy="58102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7667624" y="2533650"/>
              <a:ext cx="152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4" name="Group 73"/>
          <p:cNvGrpSpPr/>
          <p:nvPr/>
        </p:nvGrpSpPr>
        <p:grpSpPr>
          <a:xfrm>
            <a:off x="4559159" y="4381895"/>
            <a:ext cx="171450" cy="114300"/>
            <a:chOff x="7172325" y="1943100"/>
            <a:chExt cx="647699" cy="590550"/>
          </a:xfrm>
        </p:grpSpPr>
        <p:cxnSp>
          <p:nvCxnSpPr>
            <p:cNvPr id="75" name="Straight Connector 74"/>
            <p:cNvCxnSpPr/>
            <p:nvPr/>
          </p:nvCxnSpPr>
          <p:spPr>
            <a:xfrm>
              <a:off x="7172325" y="2524125"/>
              <a:ext cx="152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7324725" y="1943101"/>
              <a:ext cx="1" cy="58102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7324725" y="1943100"/>
              <a:ext cx="3429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7667624" y="1943101"/>
              <a:ext cx="1" cy="58102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7667624" y="2533650"/>
              <a:ext cx="152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6259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E0112-3800-4EBE-BA6B-5C1150F99D4F}"/>
              </a:ext>
            </a:extLst>
          </p:cNvPr>
          <p:cNvSpPr>
            <a:spLocks noGrp="1"/>
          </p:cNvSpPr>
          <p:nvPr>
            <p:ph type="title"/>
          </p:nvPr>
        </p:nvSpPr>
        <p:spPr>
          <a:xfrm>
            <a:off x="638396" y="279833"/>
            <a:ext cx="7886700" cy="994172"/>
          </a:xfrm>
        </p:spPr>
        <p:txBody>
          <a:bodyPr>
            <a:normAutofit/>
          </a:bodyPr>
          <a:lstStyle/>
          <a:p>
            <a:pPr algn="ctr"/>
            <a:r>
              <a:rPr lang="en-US" sz="2700" b="1" dirty="0"/>
              <a:t>Dual Mote end to end Latency Measurements</a:t>
            </a:r>
            <a:endParaRPr lang="en-GB" sz="2700" b="1" dirty="0"/>
          </a:p>
        </p:txBody>
      </p:sp>
      <p:pic>
        <p:nvPicPr>
          <p:cNvPr id="3" name="Picture">
            <a:extLst>
              <a:ext uri="{FF2B5EF4-FFF2-40B4-BE49-F238E27FC236}">
                <a16:creationId xmlns:a16="http://schemas.microsoft.com/office/drawing/2014/main" id="{2493BD56-FCAD-4242-B402-0BE408AC83B4}"/>
              </a:ext>
            </a:extLst>
          </p:cNvPr>
          <p:cNvPicPr/>
          <p:nvPr/>
        </p:nvPicPr>
        <p:blipFill>
          <a:blip r:embed="rId3"/>
          <a:stretch>
            <a:fillRect/>
          </a:stretch>
        </p:blipFill>
        <p:spPr bwMode="auto">
          <a:xfrm>
            <a:off x="0" y="908721"/>
            <a:ext cx="8820472" cy="5669446"/>
          </a:xfrm>
          <a:prstGeom prst="rect">
            <a:avLst/>
          </a:prstGeom>
          <a:noFill/>
          <a:ln w="9525">
            <a:noFill/>
            <a:miter lim="800000"/>
            <a:headEnd/>
            <a:tailEnd/>
          </a:ln>
        </p:spPr>
      </p:pic>
    </p:spTree>
    <p:extLst>
      <p:ext uri="{BB962C8B-B14F-4D97-AF65-F5344CB8AC3E}">
        <p14:creationId xmlns:p14="http://schemas.microsoft.com/office/powerpoint/2010/main" val="2545075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998" y="791730"/>
            <a:ext cx="6912004" cy="1312922"/>
          </a:xfrm>
        </p:spPr>
        <p:txBody>
          <a:bodyPr/>
          <a:lstStyle/>
          <a:p>
            <a:r>
              <a:rPr lang="en-US" dirty="0"/>
              <a:t>Power Measurements</a:t>
            </a:r>
          </a:p>
        </p:txBody>
      </p:sp>
      <p:sp>
        <p:nvSpPr>
          <p:cNvPr id="3" name="Text Placeholder 2"/>
          <p:cNvSpPr>
            <a:spLocks noGrp="1"/>
          </p:cNvSpPr>
          <p:nvPr>
            <p:ph type="body" sz="quarter" idx="4294967295"/>
          </p:nvPr>
        </p:nvSpPr>
        <p:spPr>
          <a:xfrm>
            <a:off x="914757" y="2101516"/>
            <a:ext cx="8229243" cy="3964754"/>
          </a:xfrm>
        </p:spPr>
        <p:txBody>
          <a:bodyPr>
            <a:normAutofit fontScale="92500" lnSpcReduction="10000"/>
          </a:bodyPr>
          <a:lstStyle/>
          <a:p>
            <a:r>
              <a:rPr lang="en-US" dirty="0"/>
              <a:t>By software</a:t>
            </a:r>
          </a:p>
          <a:p>
            <a:pPr lvl="1"/>
            <a:r>
              <a:rPr lang="en-US" dirty="0" err="1">
                <a:solidFill>
                  <a:schemeClr val="accent6"/>
                </a:solidFill>
              </a:rPr>
              <a:t>Contiki</a:t>
            </a:r>
            <a:r>
              <a:rPr lang="en-US" dirty="0">
                <a:solidFill>
                  <a:schemeClr val="accent6"/>
                </a:solidFill>
              </a:rPr>
              <a:t> records the time the sender, the receiver and the CPU is active. Multiplying these figures by the power consumption of these devices gives the power used. </a:t>
            </a:r>
          </a:p>
          <a:p>
            <a:pPr lvl="1"/>
            <a:r>
              <a:rPr lang="en-US" dirty="0">
                <a:solidFill>
                  <a:srgbClr val="FF0000"/>
                </a:solidFill>
              </a:rPr>
              <a:t>But, power consumption figures inaccurate</a:t>
            </a:r>
          </a:p>
          <a:p>
            <a:pPr lvl="1"/>
            <a:r>
              <a:rPr lang="en-US" dirty="0"/>
              <a:t>To be used in simulations for comparison purposes.</a:t>
            </a:r>
          </a:p>
          <a:p>
            <a:r>
              <a:rPr lang="en-US" dirty="0"/>
              <a:t>By hardware</a:t>
            </a:r>
          </a:p>
          <a:p>
            <a:pPr lvl="1"/>
            <a:r>
              <a:rPr lang="en-US" dirty="0"/>
              <a:t>With external data logger recording mote current</a:t>
            </a:r>
          </a:p>
        </p:txBody>
      </p:sp>
    </p:spTree>
    <p:extLst>
      <p:ext uri="{BB962C8B-B14F-4D97-AF65-F5344CB8AC3E}">
        <p14:creationId xmlns:p14="http://schemas.microsoft.com/office/powerpoint/2010/main" val="10012784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911" y="658116"/>
            <a:ext cx="6912004" cy="759624"/>
          </a:xfrm>
        </p:spPr>
        <p:txBody>
          <a:bodyPr/>
          <a:lstStyle/>
          <a:p>
            <a:r>
              <a:rPr lang="en-US" dirty="0"/>
              <a:t>Experimental setup</a:t>
            </a:r>
          </a:p>
        </p:txBody>
      </p:sp>
      <p:grpSp>
        <p:nvGrpSpPr>
          <p:cNvPr id="70" name="Group 69"/>
          <p:cNvGrpSpPr/>
          <p:nvPr/>
        </p:nvGrpSpPr>
        <p:grpSpPr>
          <a:xfrm>
            <a:off x="882316" y="1781934"/>
            <a:ext cx="8149389" cy="4343400"/>
            <a:chOff x="185980" y="1143000"/>
            <a:chExt cx="8834034" cy="5598763"/>
          </a:xfrm>
        </p:grpSpPr>
        <p:sp>
          <p:nvSpPr>
            <p:cNvPr id="71" name="Rounded Rectangle 70"/>
            <p:cNvSpPr/>
            <p:nvPr/>
          </p:nvSpPr>
          <p:spPr>
            <a:xfrm>
              <a:off x="185980" y="1143000"/>
              <a:ext cx="8834034" cy="55987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72" name="Group 71"/>
            <p:cNvGrpSpPr/>
            <p:nvPr/>
          </p:nvGrpSpPr>
          <p:grpSpPr>
            <a:xfrm>
              <a:off x="410207" y="1386611"/>
              <a:ext cx="8438425" cy="5198565"/>
              <a:chOff x="374679" y="649479"/>
              <a:chExt cx="8634237" cy="5352440"/>
            </a:xfrm>
          </p:grpSpPr>
          <p:grpSp>
            <p:nvGrpSpPr>
              <p:cNvPr id="73" name="Group 72"/>
              <p:cNvGrpSpPr/>
              <p:nvPr/>
            </p:nvGrpSpPr>
            <p:grpSpPr>
              <a:xfrm>
                <a:off x="5080301" y="1042885"/>
                <a:ext cx="453485" cy="1496290"/>
                <a:chOff x="4155078" y="895654"/>
                <a:chExt cx="453485" cy="1496290"/>
              </a:xfrm>
            </p:grpSpPr>
            <p:sp>
              <p:nvSpPr>
                <p:cNvPr id="136" name="Rounded Rectangle 135"/>
                <p:cNvSpPr/>
                <p:nvPr/>
              </p:nvSpPr>
              <p:spPr>
                <a:xfrm>
                  <a:off x="4155078" y="1387779"/>
                  <a:ext cx="453485" cy="10041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cxnSp>
              <p:nvCxnSpPr>
                <p:cNvPr id="137" name="Straight Connector 136"/>
                <p:cNvCxnSpPr>
                  <a:stCxn id="136" idx="0"/>
                </p:cNvCxnSpPr>
                <p:nvPr/>
              </p:nvCxnSpPr>
              <p:spPr>
                <a:xfrm flipH="1" flipV="1">
                  <a:off x="4278679" y="895654"/>
                  <a:ext cx="103143" cy="492124"/>
                </a:xfrm>
                <a:prstGeom prst="line">
                  <a:avLst/>
                </a:prstGeom>
                <a:ln w="28575"/>
              </p:spPr>
              <p:style>
                <a:lnRef idx="1">
                  <a:schemeClr val="accent1"/>
                </a:lnRef>
                <a:fillRef idx="0">
                  <a:schemeClr val="accent1"/>
                </a:fillRef>
                <a:effectRef idx="0">
                  <a:schemeClr val="accent1"/>
                </a:effectRef>
                <a:fontRef idx="minor">
                  <a:schemeClr val="tx1"/>
                </a:fontRef>
              </p:style>
            </p:cxnSp>
          </p:grpSp>
          <p:pic>
            <p:nvPicPr>
              <p:cNvPr id="74" name="Picture 29" descr="grey_lap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4049" y="649479"/>
                <a:ext cx="1552209" cy="1397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 name="Rounded Rectangle 74"/>
              <p:cNvSpPr/>
              <p:nvPr/>
            </p:nvSpPr>
            <p:spPr>
              <a:xfrm>
                <a:off x="374679" y="878620"/>
                <a:ext cx="1368147" cy="9717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Data Logger</a:t>
                </a:r>
              </a:p>
              <a:p>
                <a:pPr algn="ctr"/>
                <a:r>
                  <a:rPr lang="en-US" sz="1400" b="1" dirty="0"/>
                  <a:t>100 Hz</a:t>
                </a:r>
              </a:p>
              <a:p>
                <a:pPr algn="ctr"/>
                <a:r>
                  <a:rPr lang="en-US" sz="1400" b="1" dirty="0"/>
                  <a:t>4 channels</a:t>
                </a:r>
              </a:p>
            </p:txBody>
          </p:sp>
          <p:cxnSp>
            <p:nvCxnSpPr>
              <p:cNvPr id="76" name="Straight Connector 75"/>
              <p:cNvCxnSpPr/>
              <p:nvPr/>
            </p:nvCxnSpPr>
            <p:spPr>
              <a:xfrm flipH="1">
                <a:off x="950993" y="5745983"/>
                <a:ext cx="445408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956903" y="1844772"/>
                <a:ext cx="5863" cy="17090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97" idx="1"/>
              </p:cNvCxnSpPr>
              <p:nvPr/>
            </p:nvCxnSpPr>
            <p:spPr>
              <a:xfrm flipH="1">
                <a:off x="962766" y="3563851"/>
                <a:ext cx="40171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H="1">
                <a:off x="2813106" y="3563852"/>
                <a:ext cx="1911295" cy="0"/>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80" name="Group 79"/>
              <p:cNvGrpSpPr/>
              <p:nvPr/>
            </p:nvGrpSpPr>
            <p:grpSpPr>
              <a:xfrm flipV="1">
                <a:off x="800749" y="5462892"/>
                <a:ext cx="324033" cy="77206"/>
                <a:chOff x="745629" y="5592577"/>
                <a:chExt cx="324033" cy="77206"/>
              </a:xfrm>
            </p:grpSpPr>
            <p:cxnSp>
              <p:nvCxnSpPr>
                <p:cNvPr id="134" name="Straight Connector 133"/>
                <p:cNvCxnSpPr/>
                <p:nvPr/>
              </p:nvCxnSpPr>
              <p:spPr>
                <a:xfrm flipH="1">
                  <a:off x="806514" y="5592577"/>
                  <a:ext cx="20226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745629" y="5669783"/>
                  <a:ext cx="32403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81" name="Straight Connector 80"/>
              <p:cNvCxnSpPr/>
              <p:nvPr/>
            </p:nvCxnSpPr>
            <p:spPr>
              <a:xfrm flipH="1">
                <a:off x="4724400" y="1962122"/>
                <a:ext cx="34093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959834" y="5540098"/>
                <a:ext cx="2932" cy="2058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H="1">
                <a:off x="6696993" y="2391944"/>
                <a:ext cx="6138" cy="1625899"/>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6252715" y="4017843"/>
                <a:ext cx="4442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742826" y="1688282"/>
                <a:ext cx="871093" cy="0"/>
              </a:xfrm>
              <a:prstGeom prst="line">
                <a:avLst/>
              </a:prstGeom>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742825" y="1165063"/>
                <a:ext cx="830833" cy="592835"/>
              </a:xfrm>
              <a:prstGeom prst="rect">
                <a:avLst/>
              </a:prstGeom>
              <a:noFill/>
            </p:spPr>
            <p:txBody>
              <a:bodyPr wrap="none" rtlCol="0">
                <a:spAutoFit/>
              </a:bodyPr>
              <a:lstStyle/>
              <a:p>
                <a:r>
                  <a:rPr lang="en-US" sz="2400" b="1" dirty="0"/>
                  <a:t>USB</a:t>
                </a:r>
              </a:p>
            </p:txBody>
          </p:sp>
          <p:sp>
            <p:nvSpPr>
              <p:cNvPr id="87" name="TextBox 86"/>
              <p:cNvSpPr txBox="1"/>
              <p:nvPr/>
            </p:nvSpPr>
            <p:spPr>
              <a:xfrm>
                <a:off x="2533426" y="2023758"/>
                <a:ext cx="1898583" cy="592835"/>
              </a:xfrm>
              <a:prstGeom prst="rect">
                <a:avLst/>
              </a:prstGeom>
              <a:noFill/>
            </p:spPr>
            <p:txBody>
              <a:bodyPr wrap="none" rtlCol="0">
                <a:spAutoFit/>
              </a:bodyPr>
              <a:lstStyle/>
              <a:p>
                <a:r>
                  <a:rPr lang="en-US" sz="2400" b="1" dirty="0"/>
                  <a:t>Windows 7</a:t>
                </a:r>
              </a:p>
            </p:txBody>
          </p:sp>
          <p:pic>
            <p:nvPicPr>
              <p:cNvPr id="88" name="Picture 8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75845" y="1364483"/>
                <a:ext cx="2933071" cy="4381500"/>
              </a:xfrm>
              <a:prstGeom prst="rect">
                <a:avLst/>
              </a:prstGeom>
            </p:spPr>
          </p:pic>
          <p:cxnSp>
            <p:nvCxnSpPr>
              <p:cNvPr id="89" name="Straight Connector 88"/>
              <p:cNvCxnSpPr/>
              <p:nvPr/>
            </p:nvCxnSpPr>
            <p:spPr>
              <a:xfrm flipH="1">
                <a:off x="720392" y="1844772"/>
                <a:ext cx="5910" cy="2691984"/>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90" name="Group 89"/>
              <p:cNvGrpSpPr/>
              <p:nvPr/>
            </p:nvGrpSpPr>
            <p:grpSpPr>
              <a:xfrm>
                <a:off x="1143000" y="1844772"/>
                <a:ext cx="221478" cy="234700"/>
                <a:chOff x="1156403" y="1844772"/>
                <a:chExt cx="208074" cy="326928"/>
              </a:xfrm>
            </p:grpSpPr>
            <p:cxnSp>
              <p:nvCxnSpPr>
                <p:cNvPr id="132" name="Straight Connector 131"/>
                <p:cNvCxnSpPr/>
                <p:nvPr/>
              </p:nvCxnSpPr>
              <p:spPr>
                <a:xfrm>
                  <a:off x="1364477" y="1844772"/>
                  <a:ext cx="0" cy="32692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1156403" y="1844772"/>
                  <a:ext cx="2" cy="326928"/>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91" name="Straight Arrow Connector 90"/>
              <p:cNvCxnSpPr>
                <a:stCxn id="136" idx="3"/>
              </p:cNvCxnSpPr>
              <p:nvPr/>
            </p:nvCxnSpPr>
            <p:spPr>
              <a:xfrm>
                <a:off x="5533785" y="2037092"/>
                <a:ext cx="1695015" cy="963284"/>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92" name="Rounded Rectangle 91"/>
              <p:cNvSpPr/>
              <p:nvPr/>
            </p:nvSpPr>
            <p:spPr>
              <a:xfrm>
                <a:off x="422762" y="2721212"/>
                <a:ext cx="5416063" cy="3280707"/>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93" name="Straight Arrow Connector 92"/>
              <p:cNvCxnSpPr>
                <a:stCxn id="92" idx="3"/>
              </p:cNvCxnSpPr>
              <p:nvPr/>
            </p:nvCxnSpPr>
            <p:spPr>
              <a:xfrm>
                <a:off x="5838825" y="4361566"/>
                <a:ext cx="1542376" cy="116353"/>
              </a:xfrm>
              <a:prstGeom prst="straightConnector1">
                <a:avLst/>
              </a:prstGeom>
              <a:ln w="5715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956902" y="2023729"/>
                <a:ext cx="1021969" cy="1067103"/>
              </a:xfrm>
              <a:prstGeom prst="rect">
                <a:avLst/>
              </a:prstGeom>
              <a:noFill/>
            </p:spPr>
            <p:txBody>
              <a:bodyPr wrap="square" rtlCol="0">
                <a:spAutoFit/>
              </a:bodyPr>
              <a:lstStyle/>
              <a:p>
                <a:r>
                  <a:rPr lang="en-US" sz="1600" dirty="0"/>
                  <a:t>To other mote</a:t>
                </a:r>
              </a:p>
            </p:txBody>
          </p:sp>
          <p:cxnSp>
            <p:nvCxnSpPr>
              <p:cNvPr id="95" name="Straight Connector 94"/>
              <p:cNvCxnSpPr/>
              <p:nvPr/>
            </p:nvCxnSpPr>
            <p:spPr>
              <a:xfrm flipH="1">
                <a:off x="5402122" y="2539174"/>
                <a:ext cx="2956" cy="320680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5192870" y="2547692"/>
                <a:ext cx="5909" cy="175288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1364478" y="3212926"/>
                <a:ext cx="1464447" cy="7018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Pulse shaper</a:t>
                </a:r>
              </a:p>
              <a:p>
                <a:pPr algn="ctr"/>
                <a:r>
                  <a:rPr lang="en-US" sz="1600" dirty="0"/>
                  <a:t>(12 ms)</a:t>
                </a:r>
              </a:p>
            </p:txBody>
          </p:sp>
          <p:cxnSp>
            <p:nvCxnSpPr>
              <p:cNvPr id="98" name="Straight Connector 97"/>
              <p:cNvCxnSpPr/>
              <p:nvPr/>
            </p:nvCxnSpPr>
            <p:spPr>
              <a:xfrm flipV="1">
                <a:off x="4724400" y="1962122"/>
                <a:ext cx="1" cy="160172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950994" y="5212583"/>
                <a:ext cx="423030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959834" y="5212583"/>
                <a:ext cx="649" cy="25030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1882789" y="4616450"/>
                <a:ext cx="0" cy="59613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1063896" y="5337737"/>
                <a:ext cx="662473" cy="434745"/>
              </a:xfrm>
              <a:prstGeom prst="rect">
                <a:avLst/>
              </a:prstGeom>
              <a:noFill/>
            </p:spPr>
            <p:txBody>
              <a:bodyPr wrap="none" rtlCol="0">
                <a:spAutoFit/>
              </a:bodyPr>
              <a:lstStyle/>
              <a:p>
                <a:r>
                  <a:rPr lang="en-US" sz="1600" dirty="0"/>
                  <a:t>4.5V</a:t>
                </a:r>
              </a:p>
            </p:txBody>
          </p:sp>
          <p:cxnSp>
            <p:nvCxnSpPr>
              <p:cNvPr id="103" name="Straight Connector 102"/>
              <p:cNvCxnSpPr/>
              <p:nvPr/>
            </p:nvCxnSpPr>
            <p:spPr>
              <a:xfrm>
                <a:off x="1742826" y="4616450"/>
                <a:ext cx="0" cy="54229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1741146" y="5337737"/>
                <a:ext cx="1680" cy="40824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5" name="Isosceles Triangle 104"/>
              <p:cNvSpPr/>
              <p:nvPr/>
            </p:nvSpPr>
            <p:spPr>
              <a:xfrm rot="16200000">
                <a:off x="2237311" y="3845587"/>
                <a:ext cx="1101119" cy="1382339"/>
              </a:xfrm>
              <a:prstGeom prst="triangle">
                <a:avLst>
                  <a:gd name="adj" fmla="val 5179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06" name="TextBox 105"/>
              <p:cNvSpPr txBox="1"/>
              <p:nvPr/>
            </p:nvSpPr>
            <p:spPr>
              <a:xfrm>
                <a:off x="2345466" y="4284515"/>
                <a:ext cx="1214394" cy="671879"/>
              </a:xfrm>
              <a:prstGeom prst="rect">
                <a:avLst/>
              </a:prstGeom>
              <a:noFill/>
            </p:spPr>
            <p:txBody>
              <a:bodyPr wrap="none" rtlCol="0">
                <a:spAutoFit/>
              </a:bodyPr>
              <a:lstStyle/>
              <a:p>
                <a:pPr algn="r"/>
                <a:r>
                  <a:rPr lang="en-US" sz="1400" b="1" dirty="0">
                    <a:solidFill>
                      <a:schemeClr val="bg1"/>
                    </a:solidFill>
                  </a:rPr>
                  <a:t>Differential</a:t>
                </a:r>
              </a:p>
              <a:p>
                <a:pPr algn="r"/>
                <a:r>
                  <a:rPr lang="en-US" sz="1400" b="1" dirty="0">
                    <a:solidFill>
                      <a:schemeClr val="bg1"/>
                    </a:solidFill>
                  </a:rPr>
                  <a:t>amplifier</a:t>
                </a:r>
              </a:p>
            </p:txBody>
          </p:sp>
          <p:cxnSp>
            <p:nvCxnSpPr>
              <p:cNvPr id="107" name="Straight Connector 106"/>
              <p:cNvCxnSpPr/>
              <p:nvPr/>
            </p:nvCxnSpPr>
            <p:spPr>
              <a:xfrm>
                <a:off x="1742826" y="3914775"/>
                <a:ext cx="0" cy="54229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H="1">
                <a:off x="1882789" y="3914775"/>
                <a:ext cx="649" cy="54229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720392" y="4536756"/>
                <a:ext cx="1376309" cy="0"/>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rot="16200000">
                <a:off x="4929060" y="4391672"/>
                <a:ext cx="504478" cy="290169"/>
              </a:xfrm>
              <a:prstGeom prst="rect">
                <a:avLst/>
              </a:prstGeom>
              <a:solidFill>
                <a:srgbClr val="7030A0"/>
              </a:solidFill>
            </p:spPr>
            <p:txBody>
              <a:bodyPr wrap="square" rtlCol="0">
                <a:spAutoFit/>
              </a:bodyPr>
              <a:lstStyle/>
              <a:p>
                <a:pPr algn="ctr"/>
                <a:r>
                  <a:rPr lang="en-US" sz="1050" b="1" dirty="0">
                    <a:solidFill>
                      <a:schemeClr val="bg1"/>
                    </a:solidFill>
                  </a:rPr>
                  <a:t>2 </a:t>
                </a:r>
                <a:r>
                  <a:rPr lang="el-GR" sz="1100" b="1" dirty="0">
                    <a:solidFill>
                      <a:schemeClr val="bg1"/>
                    </a:solidFill>
                  </a:rPr>
                  <a:t>Ω</a:t>
                </a:r>
                <a:endParaRPr lang="en-US" sz="1100" b="1" dirty="0">
                  <a:solidFill>
                    <a:schemeClr val="bg1"/>
                  </a:solidFill>
                </a:endParaRPr>
              </a:p>
            </p:txBody>
          </p:sp>
          <p:cxnSp>
            <p:nvCxnSpPr>
              <p:cNvPr id="111" name="Straight Connector 110"/>
              <p:cNvCxnSpPr/>
              <p:nvPr/>
            </p:nvCxnSpPr>
            <p:spPr>
              <a:xfrm flipH="1">
                <a:off x="3479042" y="4185920"/>
                <a:ext cx="1716782" cy="0"/>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3487120" y="4887595"/>
                <a:ext cx="1694180" cy="0"/>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10" idx="1"/>
              </p:cNvCxnSpPr>
              <p:nvPr/>
            </p:nvCxnSpPr>
            <p:spPr>
              <a:xfrm>
                <a:off x="5181299" y="4788995"/>
                <a:ext cx="1" cy="42358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2551561" y="4596993"/>
                <a:ext cx="0" cy="59613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a:off x="2411598" y="4596993"/>
                <a:ext cx="0" cy="54229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2409918" y="5318280"/>
                <a:ext cx="1680" cy="408246"/>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117" name="Group 116"/>
              <p:cNvGrpSpPr/>
              <p:nvPr/>
            </p:nvGrpSpPr>
            <p:grpSpPr>
              <a:xfrm rot="5400000">
                <a:off x="5145027" y="3774492"/>
                <a:ext cx="324033" cy="91336"/>
                <a:chOff x="3397844" y="3113557"/>
                <a:chExt cx="324033" cy="91336"/>
              </a:xfrm>
            </p:grpSpPr>
            <p:grpSp>
              <p:nvGrpSpPr>
                <p:cNvPr id="127" name="Group 126"/>
                <p:cNvGrpSpPr/>
                <p:nvPr/>
              </p:nvGrpSpPr>
              <p:grpSpPr>
                <a:xfrm flipV="1">
                  <a:off x="3397844" y="3113558"/>
                  <a:ext cx="324033" cy="77206"/>
                  <a:chOff x="745629" y="5592577"/>
                  <a:chExt cx="324033" cy="77206"/>
                </a:xfrm>
              </p:grpSpPr>
              <p:cxnSp>
                <p:nvCxnSpPr>
                  <p:cNvPr id="130" name="Straight Connector 129"/>
                  <p:cNvCxnSpPr/>
                  <p:nvPr/>
                </p:nvCxnSpPr>
                <p:spPr>
                  <a:xfrm flipH="1">
                    <a:off x="806514" y="5592577"/>
                    <a:ext cx="20226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745629" y="5669783"/>
                    <a:ext cx="32403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28" name="Straight Connector 127"/>
                <p:cNvCxnSpPr/>
                <p:nvPr/>
              </p:nvCxnSpPr>
              <p:spPr>
                <a:xfrm>
                  <a:off x="3397844" y="3113558"/>
                  <a:ext cx="0" cy="913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3720629" y="3113557"/>
                  <a:ext cx="0" cy="9133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18" name="Straight Connector 117"/>
              <p:cNvCxnSpPr/>
              <p:nvPr/>
            </p:nvCxnSpPr>
            <p:spPr>
              <a:xfrm>
                <a:off x="5192870" y="3820160"/>
                <a:ext cx="685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5352710" y="3820160"/>
                <a:ext cx="49412" cy="0"/>
              </a:xfrm>
              <a:prstGeom prst="line">
                <a:avLst/>
              </a:prstGeom>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4331330" y="3635494"/>
                <a:ext cx="953795" cy="434745"/>
              </a:xfrm>
              <a:prstGeom prst="rect">
                <a:avLst/>
              </a:prstGeom>
              <a:noFill/>
            </p:spPr>
            <p:txBody>
              <a:bodyPr wrap="none" rtlCol="0">
                <a:spAutoFit/>
              </a:bodyPr>
              <a:lstStyle/>
              <a:p>
                <a:r>
                  <a:rPr lang="en-US" sz="1600" dirty="0"/>
                  <a:t>1000</a:t>
                </a:r>
                <a:r>
                  <a:rPr lang="el-GR" sz="1600" dirty="0"/>
                  <a:t>μ</a:t>
                </a:r>
                <a:r>
                  <a:rPr lang="fr-BE" sz="1600" dirty="0"/>
                  <a:t>F</a:t>
                </a:r>
                <a:endParaRPr lang="en-US" sz="1600" dirty="0"/>
              </a:p>
            </p:txBody>
          </p:sp>
          <p:grpSp>
            <p:nvGrpSpPr>
              <p:cNvPr id="121" name="Group 120"/>
              <p:cNvGrpSpPr/>
              <p:nvPr/>
            </p:nvGrpSpPr>
            <p:grpSpPr>
              <a:xfrm>
                <a:off x="4781468" y="5127589"/>
                <a:ext cx="148664" cy="204123"/>
                <a:chOff x="4339814" y="5318280"/>
                <a:chExt cx="148664" cy="204123"/>
              </a:xfrm>
            </p:grpSpPr>
            <p:sp>
              <p:nvSpPr>
                <p:cNvPr id="125" name="Isosceles Triangle 124"/>
                <p:cNvSpPr/>
                <p:nvPr/>
              </p:nvSpPr>
              <p:spPr>
                <a:xfrm rot="5400000">
                  <a:off x="4337433" y="5337737"/>
                  <a:ext cx="153426" cy="148663"/>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126" name="Straight Connector 125"/>
                <p:cNvCxnSpPr/>
                <p:nvPr/>
              </p:nvCxnSpPr>
              <p:spPr>
                <a:xfrm>
                  <a:off x="4488478" y="5318280"/>
                  <a:ext cx="0" cy="20412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22" name="Group 121"/>
              <p:cNvGrpSpPr/>
              <p:nvPr/>
            </p:nvGrpSpPr>
            <p:grpSpPr>
              <a:xfrm flipH="1">
                <a:off x="4791686" y="5643921"/>
                <a:ext cx="148664" cy="204123"/>
                <a:chOff x="4339814" y="5318280"/>
                <a:chExt cx="148664" cy="204123"/>
              </a:xfrm>
            </p:grpSpPr>
            <p:sp>
              <p:nvSpPr>
                <p:cNvPr id="123" name="Isosceles Triangle 122"/>
                <p:cNvSpPr/>
                <p:nvPr/>
              </p:nvSpPr>
              <p:spPr>
                <a:xfrm rot="5400000">
                  <a:off x="4337433" y="5337737"/>
                  <a:ext cx="153426" cy="148663"/>
                </a:xfrm>
                <a:prstGeom prst="triangl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124" name="Straight Connector 123"/>
                <p:cNvCxnSpPr/>
                <p:nvPr/>
              </p:nvCxnSpPr>
              <p:spPr>
                <a:xfrm>
                  <a:off x="4488478" y="5318280"/>
                  <a:ext cx="0" cy="20412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14203687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3106" y="626326"/>
            <a:ext cx="7494798" cy="711498"/>
          </a:xfrm>
        </p:spPr>
        <p:txBody>
          <a:bodyPr/>
          <a:lstStyle/>
          <a:p>
            <a:r>
              <a:rPr lang="en-US" dirty="0"/>
              <a:t>The influence of RDC and traffic</a:t>
            </a:r>
          </a:p>
        </p:txBody>
      </p:sp>
      <p:grpSp>
        <p:nvGrpSpPr>
          <p:cNvPr id="5" name="Group 4"/>
          <p:cNvGrpSpPr/>
          <p:nvPr/>
        </p:nvGrpSpPr>
        <p:grpSpPr>
          <a:xfrm>
            <a:off x="1054765" y="1764632"/>
            <a:ext cx="7913652" cy="4379494"/>
            <a:chOff x="139485" y="887169"/>
            <a:chExt cx="8865030" cy="5864826"/>
          </a:xfrm>
        </p:grpSpPr>
        <p:sp>
          <p:nvSpPr>
            <p:cNvPr id="6" name="Rounded Rectangle 5"/>
            <p:cNvSpPr/>
            <p:nvPr/>
          </p:nvSpPr>
          <p:spPr>
            <a:xfrm>
              <a:off x="139485" y="887169"/>
              <a:ext cx="8865030" cy="586482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7" name="Group 6"/>
            <p:cNvGrpSpPr/>
            <p:nvPr/>
          </p:nvGrpSpPr>
          <p:grpSpPr>
            <a:xfrm>
              <a:off x="577700" y="1208256"/>
              <a:ext cx="7988600" cy="5415589"/>
              <a:chOff x="231732" y="579297"/>
              <a:chExt cx="8393619" cy="5682356"/>
            </a:xfrm>
          </p:grpSpPr>
          <p:grpSp>
            <p:nvGrpSpPr>
              <p:cNvPr id="9" name="Group 8"/>
              <p:cNvGrpSpPr/>
              <p:nvPr/>
            </p:nvGrpSpPr>
            <p:grpSpPr>
              <a:xfrm>
                <a:off x="4155079" y="895652"/>
                <a:ext cx="247196" cy="992191"/>
                <a:chOff x="5298510" y="864296"/>
                <a:chExt cx="438411" cy="1565753"/>
              </a:xfrm>
            </p:grpSpPr>
            <p:sp>
              <p:nvSpPr>
                <p:cNvPr id="55" name="Rounded Rectangle 54"/>
                <p:cNvSpPr/>
                <p:nvPr/>
              </p:nvSpPr>
              <p:spPr>
                <a:xfrm>
                  <a:off x="5298510" y="1640910"/>
                  <a:ext cx="438411" cy="7891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M4</a:t>
                  </a:r>
                </a:p>
              </p:txBody>
            </p:sp>
            <p:cxnSp>
              <p:nvCxnSpPr>
                <p:cNvPr id="56" name="Straight Connector 55"/>
                <p:cNvCxnSpPr>
                  <a:stCxn id="55" idx="0"/>
                </p:cNvCxnSpPr>
                <p:nvPr/>
              </p:nvCxnSpPr>
              <p:spPr>
                <a:xfrm flipH="1" flipV="1">
                  <a:off x="5517715" y="864296"/>
                  <a:ext cx="1" cy="776614"/>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0" name="Group 9"/>
              <p:cNvGrpSpPr/>
              <p:nvPr/>
            </p:nvGrpSpPr>
            <p:grpSpPr>
              <a:xfrm>
                <a:off x="231732" y="579297"/>
                <a:ext cx="247196" cy="992191"/>
                <a:chOff x="5298510" y="864296"/>
                <a:chExt cx="438411" cy="1565753"/>
              </a:xfrm>
            </p:grpSpPr>
            <p:sp>
              <p:nvSpPr>
                <p:cNvPr id="53" name="Rounded Rectangle 52"/>
                <p:cNvSpPr/>
                <p:nvPr/>
              </p:nvSpPr>
              <p:spPr>
                <a:xfrm>
                  <a:off x="5298510" y="1640910"/>
                  <a:ext cx="438411" cy="7891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M1</a:t>
                  </a:r>
                </a:p>
              </p:txBody>
            </p:sp>
            <p:cxnSp>
              <p:nvCxnSpPr>
                <p:cNvPr id="54" name="Straight Connector 53"/>
                <p:cNvCxnSpPr>
                  <a:stCxn id="53" idx="0"/>
                </p:cNvCxnSpPr>
                <p:nvPr/>
              </p:nvCxnSpPr>
              <p:spPr>
                <a:xfrm flipH="1" flipV="1">
                  <a:off x="5517715" y="864296"/>
                  <a:ext cx="1" cy="776614"/>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231732" y="5024595"/>
                <a:ext cx="247196" cy="992191"/>
                <a:chOff x="5298510" y="864296"/>
                <a:chExt cx="438411" cy="1565753"/>
              </a:xfrm>
            </p:grpSpPr>
            <p:sp>
              <p:nvSpPr>
                <p:cNvPr id="51" name="Rounded Rectangle 50"/>
                <p:cNvSpPr/>
                <p:nvPr/>
              </p:nvSpPr>
              <p:spPr>
                <a:xfrm>
                  <a:off x="5298510" y="1640910"/>
                  <a:ext cx="438411" cy="7891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M3</a:t>
                  </a:r>
                </a:p>
              </p:txBody>
            </p:sp>
            <p:cxnSp>
              <p:nvCxnSpPr>
                <p:cNvPr id="52" name="Straight Connector 51"/>
                <p:cNvCxnSpPr>
                  <a:stCxn id="51" idx="0"/>
                </p:cNvCxnSpPr>
                <p:nvPr/>
              </p:nvCxnSpPr>
              <p:spPr>
                <a:xfrm flipH="1" flipV="1">
                  <a:off x="5517715" y="864296"/>
                  <a:ext cx="1" cy="776614"/>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2" name="Rounded Rectangle 11"/>
              <p:cNvSpPr/>
              <p:nvPr/>
            </p:nvSpPr>
            <p:spPr>
              <a:xfrm>
                <a:off x="231732" y="1674015"/>
                <a:ext cx="240133" cy="4921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nvGrpSpPr>
              <p:cNvPr id="13" name="Group 12"/>
              <p:cNvGrpSpPr/>
              <p:nvPr/>
            </p:nvGrpSpPr>
            <p:grpSpPr>
              <a:xfrm>
                <a:off x="4155080" y="4406128"/>
                <a:ext cx="247197" cy="1610657"/>
                <a:chOff x="2558440" y="2550187"/>
                <a:chExt cx="219206" cy="1401080"/>
              </a:xfrm>
            </p:grpSpPr>
            <p:grpSp>
              <p:nvGrpSpPr>
                <p:cNvPr id="47" name="Group 46"/>
                <p:cNvGrpSpPr/>
                <p:nvPr/>
              </p:nvGrpSpPr>
              <p:grpSpPr>
                <a:xfrm>
                  <a:off x="2558440" y="2550187"/>
                  <a:ext cx="219205" cy="863088"/>
                  <a:chOff x="5298510" y="864296"/>
                  <a:chExt cx="438411" cy="1565753"/>
                </a:xfrm>
              </p:grpSpPr>
              <p:sp>
                <p:nvSpPr>
                  <p:cNvPr id="49" name="Rounded Rectangle 48"/>
                  <p:cNvSpPr/>
                  <p:nvPr/>
                </p:nvSpPr>
                <p:spPr>
                  <a:xfrm>
                    <a:off x="5298510" y="1640910"/>
                    <a:ext cx="438411" cy="7891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M2</a:t>
                    </a:r>
                  </a:p>
                </p:txBody>
              </p:sp>
              <p:cxnSp>
                <p:nvCxnSpPr>
                  <p:cNvPr id="50" name="Straight Connector 49"/>
                  <p:cNvCxnSpPr>
                    <a:stCxn id="49" idx="0"/>
                  </p:cNvCxnSpPr>
                  <p:nvPr/>
                </p:nvCxnSpPr>
                <p:spPr>
                  <a:xfrm flipH="1" flipV="1">
                    <a:off x="5517715" y="864296"/>
                    <a:ext cx="1" cy="776614"/>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8" name="Rounded Rectangle 47"/>
                <p:cNvSpPr/>
                <p:nvPr/>
              </p:nvSpPr>
              <p:spPr>
                <a:xfrm>
                  <a:off x="2564704" y="3523176"/>
                  <a:ext cx="212942" cy="4280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cxnSp>
            <p:nvCxnSpPr>
              <p:cNvPr id="14" name="Straight Arrow Connector 13"/>
              <p:cNvCxnSpPr/>
              <p:nvPr/>
            </p:nvCxnSpPr>
            <p:spPr>
              <a:xfrm>
                <a:off x="351799" y="579297"/>
                <a:ext cx="3926879" cy="3826831"/>
              </a:xfrm>
              <a:prstGeom prst="straightConnector1">
                <a:avLst/>
              </a:prstGeom>
              <a:ln w="57150">
                <a:solidFill>
                  <a:srgbClr val="4A7EBB">
                    <a:alpha val="49020"/>
                  </a:srgb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51798" y="895653"/>
                <a:ext cx="3930412" cy="4128942"/>
              </a:xfrm>
              <a:prstGeom prst="straightConnector1">
                <a:avLst/>
              </a:prstGeom>
              <a:ln w="57150">
                <a:solidFill>
                  <a:srgbClr val="4A7EBB">
                    <a:alpha val="49020"/>
                  </a:srgbClr>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6" name="Picture 29" descr="grey_lap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3142" y="1226882"/>
                <a:ext cx="1552209" cy="1397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29" descr="grey_lap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8333" y="4017843"/>
                <a:ext cx="1552209" cy="1397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ounded Rectangle 17"/>
              <p:cNvSpPr/>
              <p:nvPr/>
            </p:nvSpPr>
            <p:spPr>
              <a:xfrm>
                <a:off x="5083830" y="3434401"/>
                <a:ext cx="1368147" cy="9717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Data Logger</a:t>
                </a:r>
              </a:p>
            </p:txBody>
          </p:sp>
          <p:cxnSp>
            <p:nvCxnSpPr>
              <p:cNvPr id="19" name="Straight Connector 18"/>
              <p:cNvCxnSpPr/>
              <p:nvPr/>
            </p:nvCxnSpPr>
            <p:spPr>
              <a:xfrm>
                <a:off x="357707" y="2166141"/>
                <a:ext cx="0" cy="1676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357707" y="3842647"/>
                <a:ext cx="47285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4756268" y="4017843"/>
                <a:ext cx="3240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756838" y="4017843"/>
                <a:ext cx="5909" cy="17528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48" idx="3"/>
              </p:cNvCxnSpPr>
              <p:nvPr/>
            </p:nvCxnSpPr>
            <p:spPr>
              <a:xfrm flipH="1">
                <a:off x="4402276" y="5770723"/>
                <a:ext cx="360471"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5080301" y="2517335"/>
                <a:ext cx="1394553" cy="63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Sniffer</a:t>
                </a:r>
              </a:p>
            </p:txBody>
          </p:sp>
          <p:cxnSp>
            <p:nvCxnSpPr>
              <p:cNvPr id="25" name="Straight Connector 24"/>
              <p:cNvCxnSpPr/>
              <p:nvPr/>
            </p:nvCxnSpPr>
            <p:spPr>
              <a:xfrm flipH="1">
                <a:off x="320050" y="3917552"/>
                <a:ext cx="49380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20050" y="2182197"/>
                <a:ext cx="0" cy="17353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36946" y="4096466"/>
                <a:ext cx="5909" cy="17528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4836946" y="4096465"/>
                <a:ext cx="3240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4380182" y="5855522"/>
                <a:ext cx="4567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49" idx="2"/>
                <a:endCxn id="48" idx="0"/>
              </p:cNvCxnSpPr>
              <p:nvPr/>
            </p:nvCxnSpPr>
            <p:spPr>
              <a:xfrm>
                <a:off x="4278678" y="5398320"/>
                <a:ext cx="3532" cy="12634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53" idx="2"/>
                <a:endCxn id="12" idx="0"/>
              </p:cNvCxnSpPr>
              <p:nvPr/>
            </p:nvCxnSpPr>
            <p:spPr>
              <a:xfrm flipH="1">
                <a:off x="351798" y="1571488"/>
                <a:ext cx="3532" cy="102527"/>
              </a:xfrm>
              <a:prstGeom prst="line">
                <a:avLst/>
              </a:prstGeom>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5447823" y="1801162"/>
                <a:ext cx="444430" cy="716173"/>
                <a:chOff x="5805814" y="1637615"/>
                <a:chExt cx="394106" cy="622985"/>
              </a:xfrm>
            </p:grpSpPr>
            <p:cxnSp>
              <p:nvCxnSpPr>
                <p:cNvPr id="44" name="Straight Connector 43"/>
                <p:cNvCxnSpPr/>
                <p:nvPr/>
              </p:nvCxnSpPr>
              <p:spPr>
                <a:xfrm>
                  <a:off x="6002867" y="1637615"/>
                  <a:ext cx="0" cy="6229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flipV="1">
                  <a:off x="5805814" y="1682208"/>
                  <a:ext cx="197053" cy="26689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6002867" y="1682208"/>
                  <a:ext cx="197053" cy="266899"/>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a:xfrm flipH="1">
                <a:off x="6696993" y="2391944"/>
                <a:ext cx="6138" cy="162589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24" idx="3"/>
              </p:cNvCxnSpPr>
              <p:nvPr/>
            </p:nvCxnSpPr>
            <p:spPr>
              <a:xfrm>
                <a:off x="6474854" y="2835367"/>
                <a:ext cx="2221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6252715" y="4017843"/>
                <a:ext cx="4442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703130" y="2397375"/>
                <a:ext cx="730404"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451977" y="1952781"/>
                <a:ext cx="726779" cy="562203"/>
              </a:xfrm>
              <a:prstGeom prst="rect">
                <a:avLst/>
              </a:prstGeom>
              <a:noFill/>
            </p:spPr>
            <p:txBody>
              <a:bodyPr wrap="none" rtlCol="0">
                <a:spAutoFit/>
              </a:bodyPr>
              <a:lstStyle/>
              <a:p>
                <a:r>
                  <a:rPr lang="en-US" sz="2000" b="1" dirty="0"/>
                  <a:t>USB</a:t>
                </a:r>
              </a:p>
            </p:txBody>
          </p:sp>
          <p:sp>
            <p:nvSpPr>
              <p:cNvPr id="38" name="TextBox 37"/>
              <p:cNvSpPr txBox="1"/>
              <p:nvPr/>
            </p:nvSpPr>
            <p:spPr>
              <a:xfrm>
                <a:off x="478927" y="579297"/>
                <a:ext cx="1496086" cy="994666"/>
              </a:xfrm>
              <a:prstGeom prst="rect">
                <a:avLst/>
              </a:prstGeom>
              <a:noFill/>
            </p:spPr>
            <p:txBody>
              <a:bodyPr wrap="square" rtlCol="0">
                <a:spAutoFit/>
              </a:bodyPr>
              <a:lstStyle/>
              <a:p>
                <a:pPr algn="r"/>
                <a:r>
                  <a:rPr lang="en-US" sz="2000" b="1" dirty="0"/>
                  <a:t>Tested link</a:t>
                </a:r>
              </a:p>
            </p:txBody>
          </p:sp>
          <p:sp>
            <p:nvSpPr>
              <p:cNvPr id="39" name="TextBox 38"/>
              <p:cNvSpPr txBox="1"/>
              <p:nvPr/>
            </p:nvSpPr>
            <p:spPr>
              <a:xfrm>
                <a:off x="636751" y="5024595"/>
                <a:ext cx="1949237" cy="994666"/>
              </a:xfrm>
              <a:prstGeom prst="rect">
                <a:avLst/>
              </a:prstGeom>
              <a:noFill/>
            </p:spPr>
            <p:txBody>
              <a:bodyPr wrap="square" rtlCol="0">
                <a:spAutoFit/>
              </a:bodyPr>
              <a:lstStyle/>
              <a:p>
                <a:r>
                  <a:rPr lang="en-US" sz="2000" b="1" dirty="0"/>
                  <a:t>Perturbing link</a:t>
                </a:r>
              </a:p>
            </p:txBody>
          </p:sp>
          <p:sp>
            <p:nvSpPr>
              <p:cNvPr id="40" name="TextBox 39"/>
              <p:cNvSpPr txBox="1"/>
              <p:nvPr/>
            </p:nvSpPr>
            <p:spPr>
              <a:xfrm>
                <a:off x="7466738" y="5592207"/>
                <a:ext cx="883380" cy="562203"/>
              </a:xfrm>
              <a:prstGeom prst="rect">
                <a:avLst/>
              </a:prstGeom>
              <a:noFill/>
            </p:spPr>
            <p:txBody>
              <a:bodyPr wrap="none" rtlCol="0">
                <a:spAutoFit/>
              </a:bodyPr>
              <a:lstStyle/>
              <a:p>
                <a:r>
                  <a:rPr lang="en-US" sz="2000" b="1" dirty="0"/>
                  <a:t>Linux</a:t>
                </a:r>
              </a:p>
            </p:txBody>
          </p:sp>
          <p:cxnSp>
            <p:nvCxnSpPr>
              <p:cNvPr id="41" name="Straight Connector 40"/>
              <p:cNvCxnSpPr>
                <a:stCxn id="49" idx="3"/>
              </p:cNvCxnSpPr>
              <p:nvPr/>
            </p:nvCxnSpPr>
            <p:spPr>
              <a:xfrm>
                <a:off x="4402276" y="5148288"/>
                <a:ext cx="303125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446240" y="4670621"/>
                <a:ext cx="726779" cy="562203"/>
              </a:xfrm>
              <a:prstGeom prst="rect">
                <a:avLst/>
              </a:prstGeom>
              <a:noFill/>
            </p:spPr>
            <p:txBody>
              <a:bodyPr wrap="none" rtlCol="0">
                <a:spAutoFit/>
              </a:bodyPr>
              <a:lstStyle/>
              <a:p>
                <a:r>
                  <a:rPr lang="en-US" sz="2000" b="1" dirty="0"/>
                  <a:t>USB</a:t>
                </a:r>
              </a:p>
            </p:txBody>
          </p:sp>
          <p:sp>
            <p:nvSpPr>
              <p:cNvPr id="43" name="TextBox 42"/>
              <p:cNvSpPr txBox="1"/>
              <p:nvPr/>
            </p:nvSpPr>
            <p:spPr>
              <a:xfrm>
                <a:off x="5152517" y="5094001"/>
                <a:ext cx="1784042" cy="1167652"/>
              </a:xfrm>
              <a:prstGeom prst="rect">
                <a:avLst/>
              </a:prstGeom>
              <a:noFill/>
            </p:spPr>
            <p:txBody>
              <a:bodyPr wrap="none" rtlCol="0">
                <a:spAutoFit/>
              </a:bodyPr>
              <a:lstStyle/>
              <a:p>
                <a:pPr algn="ctr"/>
                <a:r>
                  <a:rPr lang="en-US" sz="1600" b="1" dirty="0"/>
                  <a:t>(Disconnected</a:t>
                </a:r>
              </a:p>
              <a:p>
                <a:pPr algn="ctr"/>
                <a:r>
                  <a:rPr lang="en-US" sz="1600" b="1" dirty="0"/>
                  <a:t>For power</a:t>
                </a:r>
              </a:p>
              <a:p>
                <a:pPr algn="ctr"/>
                <a:r>
                  <a:rPr lang="en-US" sz="1600" b="1" dirty="0"/>
                  <a:t>measurements)</a:t>
                </a:r>
              </a:p>
            </p:txBody>
          </p:sp>
        </p:grpSp>
        <p:sp>
          <p:nvSpPr>
            <p:cNvPr id="8" name="TextBox 7"/>
            <p:cNvSpPr txBox="1"/>
            <p:nvPr/>
          </p:nvSpPr>
          <p:spPr>
            <a:xfrm>
              <a:off x="7115931" y="3114066"/>
              <a:ext cx="1326819" cy="535810"/>
            </a:xfrm>
            <a:prstGeom prst="rect">
              <a:avLst/>
            </a:prstGeom>
            <a:noFill/>
          </p:spPr>
          <p:txBody>
            <a:bodyPr wrap="none" rtlCol="0">
              <a:spAutoFit/>
            </a:bodyPr>
            <a:lstStyle/>
            <a:p>
              <a:r>
                <a:rPr lang="en-US" sz="2000" b="1" dirty="0"/>
                <a:t>Windows</a:t>
              </a:r>
            </a:p>
          </p:txBody>
        </p:sp>
      </p:grpSp>
    </p:spTree>
    <p:extLst>
      <p:ext uri="{BB962C8B-B14F-4D97-AF65-F5344CB8AC3E}">
        <p14:creationId xmlns:p14="http://schemas.microsoft.com/office/powerpoint/2010/main" val="2879519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989" y="534589"/>
            <a:ext cx="6912004" cy="775666"/>
          </a:xfrm>
        </p:spPr>
        <p:txBody>
          <a:bodyPr/>
          <a:lstStyle/>
          <a:p>
            <a:pPr algn="ctr"/>
            <a:r>
              <a:rPr lang="en-US" dirty="0"/>
              <a:t>Latency vs. Power</a:t>
            </a:r>
          </a:p>
        </p:txBody>
      </p:sp>
      <p:sp>
        <p:nvSpPr>
          <p:cNvPr id="48" name="Rounded Rectangle 47"/>
          <p:cNvSpPr/>
          <p:nvPr/>
        </p:nvSpPr>
        <p:spPr>
          <a:xfrm>
            <a:off x="930442" y="1764632"/>
            <a:ext cx="7829688" cy="421907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6" name="Chart 65"/>
          <p:cNvGraphicFramePr>
            <a:graphicFrameLocks/>
          </p:cNvGraphicFramePr>
          <p:nvPr/>
        </p:nvGraphicFramePr>
        <p:xfrm>
          <a:off x="1138989" y="2057399"/>
          <a:ext cx="7443537" cy="3878179"/>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1547664" y="2807004"/>
            <a:ext cx="3510128" cy="369332"/>
          </a:xfrm>
          <a:prstGeom prst="rect">
            <a:avLst/>
          </a:prstGeom>
          <a:noFill/>
        </p:spPr>
        <p:txBody>
          <a:bodyPr wrap="none" rtlCol="0">
            <a:spAutoFit/>
          </a:bodyPr>
          <a:lstStyle/>
          <a:p>
            <a:r>
              <a:rPr lang="en-US" b="1" dirty="0"/>
              <a:t>Latencies in </a:t>
            </a:r>
            <a:r>
              <a:rPr lang="en-US" b="1" dirty="0" err="1"/>
              <a:t>ms</a:t>
            </a:r>
            <a:r>
              <a:rPr lang="en-US" b="1" dirty="0"/>
              <a:t>, Energies in </a:t>
            </a:r>
            <a:r>
              <a:rPr lang="en-US" b="1" dirty="0" err="1"/>
              <a:t>mJ</a:t>
            </a:r>
            <a:r>
              <a:rPr lang="en-US" b="1" dirty="0"/>
              <a:t>/</a:t>
            </a:r>
            <a:r>
              <a:rPr lang="en-US" b="1" dirty="0" err="1"/>
              <a:t>pkt</a:t>
            </a:r>
            <a:endParaRPr lang="en-US" b="1" dirty="0"/>
          </a:p>
        </p:txBody>
      </p:sp>
    </p:spTree>
    <p:extLst>
      <p:ext uri="{BB962C8B-B14F-4D97-AF65-F5344CB8AC3E}">
        <p14:creationId xmlns:p14="http://schemas.microsoft.com/office/powerpoint/2010/main" val="2839284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1697" y="551317"/>
            <a:ext cx="6912004" cy="775666"/>
          </a:xfrm>
        </p:spPr>
        <p:txBody>
          <a:bodyPr/>
          <a:lstStyle/>
          <a:p>
            <a:pPr algn="ctr"/>
            <a:r>
              <a:rPr lang="en-US" dirty="0"/>
              <a:t>Latency and Power</a:t>
            </a:r>
          </a:p>
        </p:txBody>
      </p:sp>
      <p:sp>
        <p:nvSpPr>
          <p:cNvPr id="24" name="Rounded Rectangle 23"/>
          <p:cNvSpPr/>
          <p:nvPr/>
        </p:nvSpPr>
        <p:spPr>
          <a:xfrm>
            <a:off x="919211" y="1858868"/>
            <a:ext cx="7834496" cy="425403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1662745" y="4600192"/>
            <a:ext cx="657421" cy="304518"/>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3612955" y="5639762"/>
            <a:ext cx="2002279" cy="369332"/>
          </a:xfrm>
          <a:prstGeom prst="rect">
            <a:avLst/>
          </a:prstGeom>
          <a:noFill/>
        </p:spPr>
        <p:txBody>
          <a:bodyPr wrap="none" rtlCol="0">
            <a:spAutoFit/>
          </a:bodyPr>
          <a:lstStyle/>
          <a:p>
            <a:r>
              <a:rPr lang="en-US" b="1" dirty="0">
                <a:solidFill>
                  <a:srgbClr val="FF0000"/>
                </a:solidFill>
              </a:rPr>
              <a:t>Wake-up = 67.5 </a:t>
            </a:r>
            <a:r>
              <a:rPr lang="en-US" b="1" dirty="0" err="1">
                <a:solidFill>
                  <a:srgbClr val="FF0000"/>
                </a:solidFill>
              </a:rPr>
              <a:t>ms</a:t>
            </a:r>
            <a:endParaRPr lang="en-US" b="1" dirty="0">
              <a:solidFill>
                <a:srgbClr val="FF0000"/>
              </a:solidFill>
            </a:endParaRPr>
          </a:p>
        </p:txBody>
      </p:sp>
      <p:graphicFrame>
        <p:nvGraphicFramePr>
          <p:cNvPr id="22" name="Chart 21"/>
          <p:cNvGraphicFramePr>
            <a:graphicFrameLocks/>
          </p:cNvGraphicFramePr>
          <p:nvPr>
            <p:extLst>
              <p:ext uri="{D42A27DB-BD31-4B8C-83A1-F6EECF244321}">
                <p14:modId xmlns:p14="http://schemas.microsoft.com/office/powerpoint/2010/main" val="1877900770"/>
              </p:ext>
            </p:extLst>
          </p:nvPr>
        </p:nvGraphicFramePr>
        <p:xfrm>
          <a:off x="1241697" y="2081103"/>
          <a:ext cx="7472362" cy="374332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5678355" y="2610462"/>
            <a:ext cx="700833" cy="369332"/>
          </a:xfrm>
          <a:prstGeom prst="rect">
            <a:avLst/>
          </a:prstGeom>
          <a:noFill/>
        </p:spPr>
        <p:txBody>
          <a:bodyPr wrap="none" rtlCol="0">
            <a:spAutoFit/>
          </a:bodyPr>
          <a:lstStyle/>
          <a:p>
            <a:r>
              <a:rPr lang="en-US" b="1" dirty="0"/>
              <a:t>In </a:t>
            </a:r>
            <a:r>
              <a:rPr lang="en-US" b="1" dirty="0" err="1"/>
              <a:t>ms</a:t>
            </a:r>
            <a:endParaRPr lang="en-US" b="1" dirty="0"/>
          </a:p>
        </p:txBody>
      </p:sp>
      <p:sp>
        <p:nvSpPr>
          <p:cNvPr id="43" name="TextBox 42"/>
          <p:cNvSpPr txBox="1"/>
          <p:nvPr/>
        </p:nvSpPr>
        <p:spPr>
          <a:xfrm>
            <a:off x="2320166" y="2610462"/>
            <a:ext cx="700833" cy="369332"/>
          </a:xfrm>
          <a:prstGeom prst="rect">
            <a:avLst/>
          </a:prstGeom>
          <a:noFill/>
        </p:spPr>
        <p:txBody>
          <a:bodyPr wrap="none" rtlCol="0">
            <a:spAutoFit/>
          </a:bodyPr>
          <a:lstStyle/>
          <a:p>
            <a:r>
              <a:rPr lang="en-US" b="1" dirty="0"/>
              <a:t>In </a:t>
            </a:r>
            <a:r>
              <a:rPr lang="en-US" b="1" dirty="0" err="1"/>
              <a:t>ms</a:t>
            </a:r>
            <a:endParaRPr lang="en-US" b="1" dirty="0"/>
          </a:p>
        </p:txBody>
      </p:sp>
      <p:sp>
        <p:nvSpPr>
          <p:cNvPr id="44" name="TextBox 43"/>
          <p:cNvSpPr txBox="1"/>
          <p:nvPr/>
        </p:nvSpPr>
        <p:spPr>
          <a:xfrm>
            <a:off x="7173621" y="3429000"/>
            <a:ext cx="1098827" cy="369332"/>
          </a:xfrm>
          <a:prstGeom prst="rect">
            <a:avLst/>
          </a:prstGeom>
          <a:noFill/>
        </p:spPr>
        <p:txBody>
          <a:bodyPr wrap="none" rtlCol="0">
            <a:spAutoFit/>
          </a:bodyPr>
          <a:lstStyle/>
          <a:p>
            <a:r>
              <a:rPr lang="en-US" b="1" dirty="0"/>
              <a:t>In </a:t>
            </a:r>
            <a:r>
              <a:rPr lang="en-US" b="1" dirty="0" err="1"/>
              <a:t>mJ</a:t>
            </a:r>
            <a:r>
              <a:rPr lang="en-US" b="1" dirty="0"/>
              <a:t>/</a:t>
            </a:r>
            <a:r>
              <a:rPr lang="en-US" b="1" dirty="0" err="1"/>
              <a:t>pkt</a:t>
            </a:r>
            <a:endParaRPr lang="en-US" b="1" dirty="0"/>
          </a:p>
        </p:txBody>
      </p:sp>
      <p:sp>
        <p:nvSpPr>
          <p:cNvPr id="45" name="TextBox 44"/>
          <p:cNvSpPr txBox="1"/>
          <p:nvPr/>
        </p:nvSpPr>
        <p:spPr>
          <a:xfrm>
            <a:off x="3879051" y="3801217"/>
            <a:ext cx="1098827" cy="369332"/>
          </a:xfrm>
          <a:prstGeom prst="rect">
            <a:avLst/>
          </a:prstGeom>
          <a:noFill/>
        </p:spPr>
        <p:txBody>
          <a:bodyPr wrap="none" rtlCol="0">
            <a:spAutoFit/>
          </a:bodyPr>
          <a:lstStyle/>
          <a:p>
            <a:r>
              <a:rPr lang="en-US" b="1" dirty="0"/>
              <a:t>In </a:t>
            </a:r>
            <a:r>
              <a:rPr lang="en-US" b="1" dirty="0" err="1"/>
              <a:t>mJ</a:t>
            </a:r>
            <a:r>
              <a:rPr lang="en-US" b="1" dirty="0"/>
              <a:t>/</a:t>
            </a:r>
            <a:r>
              <a:rPr lang="en-US" b="1" dirty="0" err="1"/>
              <a:t>pkt</a:t>
            </a:r>
            <a:endParaRPr lang="en-US" b="1" dirty="0"/>
          </a:p>
        </p:txBody>
      </p:sp>
      <p:cxnSp>
        <p:nvCxnSpPr>
          <p:cNvPr id="5" name="Straight Connector 4"/>
          <p:cNvCxnSpPr/>
          <p:nvPr/>
        </p:nvCxnSpPr>
        <p:spPr>
          <a:xfrm>
            <a:off x="1991455" y="3887409"/>
            <a:ext cx="1480408"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401405" y="3887409"/>
            <a:ext cx="1480408"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542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3" y="567928"/>
            <a:ext cx="8558212" cy="6418659"/>
          </a:xfrm>
          <a:prstGeom prst="rect">
            <a:avLst/>
          </a:prstGeom>
        </p:spPr>
      </p:pic>
      <p:sp>
        <p:nvSpPr>
          <p:cNvPr id="7" name="Titre 1"/>
          <p:cNvSpPr txBox="1">
            <a:spLocks/>
          </p:cNvSpPr>
          <p:nvPr/>
        </p:nvSpPr>
        <p:spPr>
          <a:xfrm>
            <a:off x="-22617" y="116632"/>
            <a:ext cx="9144000" cy="1078607"/>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3000" kern="1200" spc="-60" baseline="0">
                <a:solidFill>
                  <a:srgbClr val="FFFFFF"/>
                </a:solidFill>
                <a:latin typeface="+mj-lt"/>
                <a:ea typeface="+mj-ea"/>
                <a:cs typeface="+mj-cs"/>
              </a:defRPr>
            </a:lvl1pPr>
          </a:lstStyle>
          <a:p>
            <a:pPr algn="ctr"/>
            <a:r>
              <a:rPr lang="en-US" sz="3200" b="1" dirty="0">
                <a:solidFill>
                  <a:schemeClr val="tx2"/>
                </a:solidFill>
              </a:rPr>
              <a:t>Experimental Evaluation of the </a:t>
            </a:r>
            <a:br>
              <a:rPr lang="en-US" sz="3200" b="1" dirty="0">
                <a:solidFill>
                  <a:schemeClr val="tx2"/>
                </a:solidFill>
              </a:rPr>
            </a:br>
            <a:r>
              <a:rPr lang="en-US" sz="3200" b="1" dirty="0">
                <a:solidFill>
                  <a:schemeClr val="tx2"/>
                </a:solidFill>
              </a:rPr>
              <a:t>performance of a RPL network</a:t>
            </a:r>
          </a:p>
        </p:txBody>
      </p:sp>
      <p:sp>
        <p:nvSpPr>
          <p:cNvPr id="3" name="Espace réservé du numéro de diapositive 2"/>
          <p:cNvSpPr>
            <a:spLocks noGrp="1"/>
          </p:cNvSpPr>
          <p:nvPr>
            <p:ph type="sldNum" sz="quarter" idx="12"/>
          </p:nvPr>
        </p:nvSpPr>
        <p:spPr/>
        <p:style>
          <a:lnRef idx="2">
            <a:schemeClr val="accent1"/>
          </a:lnRef>
          <a:fillRef idx="1">
            <a:schemeClr val="lt1"/>
          </a:fillRef>
          <a:effectRef idx="0">
            <a:schemeClr val="accent1"/>
          </a:effectRef>
          <a:fontRef idx="minor">
            <a:schemeClr val="dk1"/>
          </a:fontRef>
        </p:style>
        <p:txBody>
          <a:bodyPr/>
          <a:lstStyle/>
          <a:p>
            <a:fld id="{541CFF1D-933E-4AFE-A68A-4D1940B9E620}" type="slidenum">
              <a:rPr lang="es-ES" sz="2000" smtClean="0"/>
              <a:t>47</a:t>
            </a:fld>
            <a:endParaRPr lang="es-ES" sz="2000" dirty="0"/>
          </a:p>
        </p:txBody>
      </p:sp>
    </p:spTree>
    <p:extLst>
      <p:ext uri="{BB962C8B-B14F-4D97-AF65-F5344CB8AC3E}">
        <p14:creationId xmlns:p14="http://schemas.microsoft.com/office/powerpoint/2010/main" val="35705477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dirty="0"/>
              <a:t>RPL networks</a:t>
            </a:r>
            <a:br>
              <a:rPr lang="en-US" dirty="0"/>
            </a:br>
            <a:r>
              <a:rPr lang="en-US" sz="2700" dirty="0"/>
              <a:t>tested with </a:t>
            </a:r>
            <a:r>
              <a:rPr lang="en-US" sz="2700" dirty="0" err="1"/>
              <a:t>CollectView</a:t>
            </a:r>
            <a:endParaRPr lang="en-US" dirty="0"/>
          </a:p>
        </p:txBody>
      </p:sp>
      <p:sp>
        <p:nvSpPr>
          <p:cNvPr id="3" name="Slide Number Placeholder 2"/>
          <p:cNvSpPr>
            <a:spLocks noGrp="1"/>
          </p:cNvSpPr>
          <p:nvPr>
            <p:ph type="sldNum" sz="quarter" idx="12"/>
          </p:nvPr>
        </p:nvSpPr>
        <p:spPr/>
        <p:txBody>
          <a:bodyPr/>
          <a:lstStyle/>
          <a:p>
            <a:fld id="{5889CBBA-8305-4466-BB85-F253002DC7EE}" type="slidenum">
              <a:rPr lang="en-US" smtClean="0"/>
              <a:t>48</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0532"/>
            <a:ext cx="9144000" cy="5231186"/>
          </a:xfrm>
          <a:prstGeom prst="rect">
            <a:avLst/>
          </a:prstGeom>
        </p:spPr>
      </p:pic>
    </p:spTree>
    <p:extLst>
      <p:ext uri="{BB962C8B-B14F-4D97-AF65-F5344CB8AC3E}">
        <p14:creationId xmlns:p14="http://schemas.microsoft.com/office/powerpoint/2010/main" val="1033089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31526</TotalTime>
  <Words>6419</Words>
  <Application>Microsoft Office PowerPoint</Application>
  <PresentationFormat>On-screen Show (4:3)</PresentationFormat>
  <Paragraphs>719</Paragraphs>
  <Slides>48</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Helvetica</vt:lpstr>
      <vt:lpstr>Liberation Sans</vt:lpstr>
      <vt:lpstr>Office Theme</vt:lpstr>
      <vt:lpstr>RDC  and Mac layers in Contiki </vt:lpstr>
      <vt:lpstr>Contiki Communication stack Conceptual view</vt:lpstr>
      <vt:lpstr>Zoul Radio Architecture</vt:lpstr>
      <vt:lpstr>Transmitter byte encoding </vt:lpstr>
      <vt:lpstr>IEEE 802.15.4 symbol-to-chip mapping</vt:lpstr>
      <vt:lpstr>Cross-correlation of binary sequences</vt:lpstr>
      <vt:lpstr>Receiver byte decoding </vt:lpstr>
      <vt:lpstr>CC2538 Radio</vt:lpstr>
      <vt:lpstr>CC2538 Radio</vt:lpstr>
      <vt:lpstr>Address Field Handling </vt:lpstr>
      <vt:lpstr>802-15-4  Frame Format </vt:lpstr>
      <vt:lpstr>Real World Verifications</vt:lpstr>
      <vt:lpstr>Antenna radiation patterns (patterns with former radio )</vt:lpstr>
      <vt:lpstr>Contiki RDC &amp; MAC protocols Previous versions of Contiki</vt:lpstr>
      <vt:lpstr>Contiki CSMA MAC driver (simplified) contiki-ng/os/net/mac/csma/csma.c</vt:lpstr>
      <vt:lpstr>Contiki NULLMAC driver contiki/core/net/mac/nullmac.c </vt:lpstr>
      <vt:lpstr>RDC : Low Power Probing contiki/core/net/mac/lpp.c</vt:lpstr>
      <vt:lpstr>RDC : LPP Broadcasting contiki/core/net/mac/lpp.c</vt:lpstr>
      <vt:lpstr>RDC : XMAC (simplified) contiki/core/net/mac/xmac.c</vt:lpstr>
      <vt:lpstr>PowerPoint Presentation</vt:lpstr>
      <vt:lpstr>RDC : ContikiMAC 1. Sending a frame with destination address</vt:lpstr>
      <vt:lpstr>PowerPoint Presentation</vt:lpstr>
      <vt:lpstr>RDC : ContikiMAC 3. Detecting frames by Clear Channel Assessments</vt:lpstr>
      <vt:lpstr>RDC : ContikiMAC 4. Timing requirements</vt:lpstr>
      <vt:lpstr>TI sniffer : CC2531</vt:lpstr>
      <vt:lpstr>PowerPoint Presentation</vt:lpstr>
      <vt:lpstr>PowerPoint Presentation</vt:lpstr>
      <vt:lpstr>RDC : ContikiMAC 6. Power savings</vt:lpstr>
      <vt:lpstr>RDC : ContikiMAC 7. Fast Sleep optimizations : too long frame</vt:lpstr>
      <vt:lpstr>RDC : ContikiMAC 8.Fast Sleep optimizations : too long silence</vt:lpstr>
      <vt:lpstr>RDC : ContikiMAC 9.Fast Sleep optimizations : no frame header</vt:lpstr>
      <vt:lpstr>RDC : ContikiMAC 7. Transmission Phase-Lock</vt:lpstr>
      <vt:lpstr>Dual Network</vt:lpstr>
      <vt:lpstr>Performance metrics</vt:lpstr>
      <vt:lpstr>Packet latency</vt:lpstr>
      <vt:lpstr>Latency Definition</vt:lpstr>
      <vt:lpstr>Random delay between packets</vt:lpstr>
      <vt:lpstr>Latency measurements</vt:lpstr>
      <vt:lpstr>Latency measurements</vt:lpstr>
      <vt:lpstr>Latency measurements</vt:lpstr>
      <vt:lpstr>Dual Mote end to end Latency Measurements</vt:lpstr>
      <vt:lpstr>Power Measurements</vt:lpstr>
      <vt:lpstr>Experimental setup</vt:lpstr>
      <vt:lpstr>The influence of RDC and traffic</vt:lpstr>
      <vt:lpstr>Latency vs. Power</vt:lpstr>
      <vt:lpstr>Latency and Power</vt:lpstr>
      <vt:lpstr>PowerPoint Presentation</vt:lpstr>
      <vt:lpstr>RPL networks tested with CollectView</vt:lpstr>
    </vt:vector>
  </TitlesOfParts>
  <Company>Etro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and Mac layers in Contiki with the Z1</dc:title>
  <dc:creator>localadmin</dc:creator>
  <cp:lastModifiedBy>Steenhaut, Kris</cp:lastModifiedBy>
  <cp:revision>307</cp:revision>
  <cp:lastPrinted>2021-03-25T16:03:16Z</cp:lastPrinted>
  <dcterms:created xsi:type="dcterms:W3CDTF">2012-12-10T22:25:58Z</dcterms:created>
  <dcterms:modified xsi:type="dcterms:W3CDTF">2023-03-01T14:52:11Z</dcterms:modified>
</cp:coreProperties>
</file>